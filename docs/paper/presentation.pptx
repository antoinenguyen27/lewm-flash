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profiles the inference latency of a world-model planner, identifies its bottlenecks from measured data, and evaluates a fused GPU implementation that removes them without retraining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study: reference latency 622 ms, final latency 46.5 ms, a 13.4-fold reduction, and no detectable change in task success. The following slides present the profile, the design derived from it, and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Closed-loop control requires planning latency below the control period. Larger world models require tens of seconds per plan; LeWM requires 622 ms on an H100, although its arithmetic content corresponds to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one per stage of the study. The object of study is an AI system; the method is an analytics pipeline over its measured behaviour: data collection and preparation, pattern discovery with a fitted latency model, and statistical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bodies of work are relevant: JEPA world models, in which planning latency has been reduced only by changing the model; sampling-based search, in which iCEM reduces sample counts but sample count does not determine latency; and GPU inference, in which megakernels have so far been applied only to language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Timings and outcomes are collected, prepared into tidy tables and analysed to locate the latency; the design follows from the analysis and is evaluated with the same instruments. Probes are configurations that differ from a system in one respect and isolate a single effect. Each design change was re-profiled before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profile. One third of the latency recomputes image embeddings that are constant within a plan. Most of the remainder is the search, at approximately 409 microseconds per layer evaluation against approximately 3 microseconds of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analysis. A linear model of latency against workload shows that the eager planner's cost is almost entirely fixed, consistent with several hundred kernel launches from Python per call. This also explains the absence of a gain from iCEM under eager execution: it reduces work that is not the dominant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design element addresses one finding: single encoding removes the redundant third; iCEM reduces work once fixed overhead is removed; the persistent kernel removes launches and CPU round trips; cluster-level parallelism and weight streaming minimise the latency of each step of the dependent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is reduced 13.4-fold relative to the reference and 3.9-fold relative to an optimised PyTorch implementation using compilation, CUDA Graphs and BF16. Latency variability is also reduced: the interquartile range is 0.7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detectable change in task success at the resolution of 300 paired episodes (approximately 6 percentage points at 80% power). Numerical error relative to FP32 is within the range of the accepted BF16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objectives were met. The latency reduction is large and reproducible; the task-success result is bounded by sample size; the measured values are specific to this model and GPU, while the identified mechanism is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directions: the latency-success trade-off of the search budget, further latency reduction, generalisation to other models and hardware, and higher-resolution and physical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914400"/>
            <a:ext cx="82296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Planning at the Speed of Control</a:t>
            </a:r>
            <a:endParaRPr lang="en-US" sz="3600" dirty="0"/>
          </a:p>
        </p:txBody>
      </p:sp>
      <p:sp>
        <p:nvSpPr>
          <p:cNvPr id="3" name="Text 1"/>
          <p:cNvSpPr txBox="1"/>
          <p:nvPr/>
        </p:nvSpPr>
        <p:spPr>
          <a:xfrm>
            <a:off x="457200" y="1828800"/>
            <a:ext cx="8229600" cy="73152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Profiling and fusing world-model robot planning into a single GPU kernel</a:t>
            </a:r>
            <a:endParaRPr lang="en-US" sz="1800" dirty="0"/>
          </a:p>
        </p:txBody>
      </p:sp>
      <p:sp>
        <p:nvSpPr>
          <p:cNvPr id="4" name="Text 2"/>
          <p:cNvSpPr txBox="1"/>
          <p:nvPr/>
        </p:nvSpPr>
        <p:spPr>
          <a:xfrm>
            <a:off x="457200" y="3566160"/>
            <a:ext cx="8229600" cy="914400"/>
          </a:xfrm>
          <a:prstGeom prst="rect">
            <a:avLst/>
          </a:prstGeom>
          <a:noFill/>
          <a:ln/>
        </p:spPr>
        <p:txBody>
          <a:bodyPr wrap="square" lIns="0" tIns="0" rIns="0" bIns="0"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Antoine Nguyen  ·  24433599</a:t>
            </a:r>
            <a:endParaRPr lang="en-US" sz="13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Project presentation  ·  [Faculty / School], University of Technology Sydney</a:t>
            </a:r>
            <a:endParaRPr lang="en-US" sz="13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Supervisor: [supervisor name]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Overview</a:t>
            </a:r>
            <a:endParaRPr lang="en-US" sz="2800" dirty="0"/>
          </a:p>
        </p:txBody>
      </p:sp>
      <p:sp>
        <p:nvSpPr>
          <p:cNvPr id="3" name="Text 1"/>
          <p:cNvSpPr txBox="1"/>
          <p:nvPr/>
        </p:nvSpPr>
        <p:spPr>
          <a:xfrm>
            <a:off x="457200" y="1051560"/>
            <a:ext cx="5120640" cy="35661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B1B1B"/>
                </a:solidFill>
                <a:latin typeface="Calibri" pitchFamily="34" charset="0"/>
                <a:ea typeface="Calibri" pitchFamily="34" charset="-122"/>
                <a:cs typeface="Calibri" pitchFamily="34" charset="-120"/>
              </a:rPr>
              <a:t>LeWM is a 15M-parameter world model that plans by evaluating thousands of predicted action outcomes. One plan takes 622 ms on an H100 GPU.</a:t>
            </a:r>
            <a:endParaRPr lang="en-US" sz="1400" dirty="0"/>
          </a:p>
          <a:p>
            <a:pPr marL="177800" indent="-177800">
              <a:spcAft>
                <a:spcPts val="700"/>
              </a:spcAft>
              <a:buSzPct val="100000"/>
              <a:buChar char="•"/>
            </a:pPr>
            <a:r>
              <a:rPr lang="en-US" sz="1400" dirty="0">
                <a:solidFill>
                  <a:srgbClr val="1B1B1B"/>
                </a:solidFill>
                <a:latin typeface="Calibri" pitchFamily="34" charset="0"/>
                <a:ea typeface="Calibri" pitchFamily="34" charset="-122"/>
                <a:cs typeface="Calibri" pitchFamily="34" charset="-120"/>
              </a:rPr>
              <a:t>Research question: where is the planning latency spent, and how much can be removed without retraining the model or reducing task success?</a:t>
            </a:r>
            <a:endParaRPr lang="en-US" sz="1400" dirty="0"/>
          </a:p>
          <a:p>
            <a:pPr marL="177800" indent="-177800">
              <a:spcAft>
                <a:spcPts val="700"/>
              </a:spcAft>
              <a:buSzPct val="100000"/>
              <a:buChar char="•"/>
            </a:pPr>
            <a:r>
              <a:rPr lang="en-US" sz="1400" dirty="0">
                <a:solidFill>
                  <a:srgbClr val="1B1B1B"/>
                </a:solidFill>
                <a:latin typeface="Calibri" pitchFamily="34" charset="0"/>
                <a:ea typeface="Calibri" pitchFamily="34" charset="-122"/>
                <a:cs typeface="Calibri" pitchFamily="34" charset="-120"/>
              </a:rPr>
              <a:t>Method: compute profiling of 11,942 timed calls, a fitted latency-scaling model, solution design, and paired statistical evaluation on 900 episode outcomes.</a:t>
            </a:r>
            <a:endParaRPr lang="en-US" sz="1400" dirty="0"/>
          </a:p>
          <a:p>
            <a:pPr marL="177800" indent="-177800">
              <a:spcAft>
                <a:spcPts val="700"/>
              </a:spcAft>
              <a:buSzPct val="100000"/>
              <a:buChar char="•"/>
            </a:pPr>
            <a:r>
              <a:rPr lang="en-US" sz="1400" dirty="0">
                <a:solidFill>
                  <a:srgbClr val="1B1B1B"/>
                </a:solidFill>
                <a:latin typeface="Calibri" pitchFamily="34" charset="0"/>
                <a:ea typeface="Calibri" pitchFamily="34" charset="-122"/>
                <a:cs typeface="Calibri" pitchFamily="34" charset="-120"/>
              </a:rPr>
              <a:t>Result: latency was dominated by execution overhead rather than computation. A single persistent GPU kernel per plan reduces latency to 46.5 ms with no detectable change in task success.</a:t>
            </a:r>
            <a:endParaRPr lang="en-US" sz="1400" dirty="0"/>
          </a:p>
        </p:txBody>
      </p:sp>
      <p:sp>
        <p:nvSpPr>
          <p:cNvPr id="4" name="Shape 2"/>
          <p:cNvSpPr/>
          <p:nvPr/>
        </p:nvSpPr>
        <p:spPr>
          <a:xfrm>
            <a:off x="5943600" y="1097280"/>
            <a:ext cx="1371600" cy="1051560"/>
          </a:xfrm>
          <a:prstGeom prst="roundRect">
            <a:avLst>
              <a:gd name="adj" fmla="val 6957"/>
            </a:avLst>
          </a:prstGeom>
          <a:solidFill>
            <a:srgbClr val="F3F4F6"/>
          </a:solidFill>
          <a:ln w="12700">
            <a:solidFill>
              <a:srgbClr val="F3F4F6"/>
            </a:solidFill>
            <a:prstDash val="solid"/>
          </a:ln>
        </p:spPr>
      </p:sp>
      <p:sp>
        <p:nvSpPr>
          <p:cNvPr id="5" name="Text 3"/>
          <p:cNvSpPr txBox="1"/>
          <p:nvPr/>
        </p:nvSpPr>
        <p:spPr>
          <a:xfrm>
            <a:off x="6080760" y="1188720"/>
            <a:ext cx="1097280" cy="578358"/>
          </a:xfrm>
          <a:prstGeom prst="rect">
            <a:avLst/>
          </a:prstGeom>
          <a:noFill/>
          <a:ln/>
        </p:spPr>
        <p:txBody>
          <a:bodyPr wrap="square" lIns="0" tIns="0" rIns="0" bIns="0" rtlCol="0" anchor="ctr"/>
          <a:lstStyle/>
          <a:p>
            <a:pPr algn="ctr" indent="0" marL="0">
              <a:buNone/>
            </a:pPr>
            <a:r>
              <a:rPr lang="en-US" sz="2400" b="1" dirty="0">
                <a:solidFill>
                  <a:srgbClr val="5A5A5A"/>
                </a:solidFill>
                <a:latin typeface="Cambria" pitchFamily="34" charset="0"/>
                <a:ea typeface="Cambria" pitchFamily="34" charset="-122"/>
                <a:cs typeface="Cambria" pitchFamily="34" charset="-120"/>
              </a:rPr>
              <a:t>622 ms</a:t>
            </a:r>
            <a:endParaRPr lang="en-US" sz="2400" dirty="0"/>
          </a:p>
        </p:txBody>
      </p:sp>
      <p:sp>
        <p:nvSpPr>
          <p:cNvPr id="6" name="Text 4"/>
          <p:cNvSpPr txBox="1"/>
          <p:nvPr/>
        </p:nvSpPr>
        <p:spPr>
          <a:xfrm>
            <a:off x="6080760" y="1728216"/>
            <a:ext cx="1097280" cy="399593"/>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reference planner</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(one robot, H100)</a:t>
            </a:r>
            <a:endParaRPr lang="en-US" sz="1000" dirty="0"/>
          </a:p>
        </p:txBody>
      </p:sp>
      <p:sp>
        <p:nvSpPr>
          <p:cNvPr id="7" name="Shape 5"/>
          <p:cNvSpPr/>
          <p:nvPr/>
        </p:nvSpPr>
        <p:spPr>
          <a:xfrm>
            <a:off x="7406640" y="1097280"/>
            <a:ext cx="1371600" cy="1051560"/>
          </a:xfrm>
          <a:prstGeom prst="roundRect">
            <a:avLst>
              <a:gd name="adj" fmla="val 6957"/>
            </a:avLst>
          </a:prstGeom>
          <a:solidFill>
            <a:srgbClr val="F3F4F6"/>
          </a:solidFill>
          <a:ln w="12700">
            <a:solidFill>
              <a:srgbClr val="F3F4F6"/>
            </a:solidFill>
            <a:prstDash val="solid"/>
          </a:ln>
        </p:spPr>
      </p:sp>
      <p:sp>
        <p:nvSpPr>
          <p:cNvPr id="8" name="Text 6"/>
          <p:cNvSpPr txBox="1"/>
          <p:nvPr/>
        </p:nvSpPr>
        <p:spPr>
          <a:xfrm>
            <a:off x="7543800" y="1188720"/>
            <a:ext cx="1097280" cy="578358"/>
          </a:xfrm>
          <a:prstGeom prst="rect">
            <a:avLst/>
          </a:prstGeom>
          <a:noFill/>
          <a:ln/>
        </p:spPr>
        <p:txBody>
          <a:bodyPr wrap="square" lIns="0" tIns="0" rIns="0" bIns="0" rtlCol="0" anchor="ctr"/>
          <a:lstStyle/>
          <a:p>
            <a:pPr algn="ctr" indent="0" marL="0">
              <a:buNone/>
            </a:pPr>
            <a:r>
              <a:rPr lang="en-US" sz="2400" b="1" dirty="0">
                <a:solidFill>
                  <a:srgbClr val="2A78D6"/>
                </a:solidFill>
                <a:latin typeface="Cambria" pitchFamily="34" charset="0"/>
                <a:ea typeface="Cambria" pitchFamily="34" charset="-122"/>
                <a:cs typeface="Cambria" pitchFamily="34" charset="-120"/>
              </a:rPr>
              <a:t>46.5 ms</a:t>
            </a:r>
            <a:endParaRPr lang="en-US" sz="2400" dirty="0"/>
          </a:p>
        </p:txBody>
      </p:sp>
      <p:sp>
        <p:nvSpPr>
          <p:cNvPr id="9" name="Text 7"/>
          <p:cNvSpPr txBox="1"/>
          <p:nvPr/>
        </p:nvSpPr>
        <p:spPr>
          <a:xfrm>
            <a:off x="7543800" y="1728216"/>
            <a:ext cx="1097280" cy="399593"/>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LeWM-MK,</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one GPU launch</a:t>
            </a:r>
            <a:endParaRPr lang="en-US" sz="1000" dirty="0"/>
          </a:p>
        </p:txBody>
      </p:sp>
      <p:sp>
        <p:nvSpPr>
          <p:cNvPr id="10" name="Shape 8"/>
          <p:cNvSpPr/>
          <p:nvPr/>
        </p:nvSpPr>
        <p:spPr>
          <a:xfrm>
            <a:off x="5943600" y="2331720"/>
            <a:ext cx="1371600" cy="1051560"/>
          </a:xfrm>
          <a:prstGeom prst="roundRect">
            <a:avLst>
              <a:gd name="adj" fmla="val 6957"/>
            </a:avLst>
          </a:prstGeom>
          <a:solidFill>
            <a:srgbClr val="F3F4F6"/>
          </a:solidFill>
          <a:ln w="12700">
            <a:solidFill>
              <a:srgbClr val="F3F4F6"/>
            </a:solidFill>
            <a:prstDash val="solid"/>
          </a:ln>
        </p:spPr>
      </p:sp>
      <p:sp>
        <p:nvSpPr>
          <p:cNvPr id="11" name="Text 9"/>
          <p:cNvSpPr txBox="1"/>
          <p:nvPr/>
        </p:nvSpPr>
        <p:spPr>
          <a:xfrm>
            <a:off x="6080760" y="2423160"/>
            <a:ext cx="1097280" cy="578358"/>
          </a:xfrm>
          <a:prstGeom prst="rect">
            <a:avLst/>
          </a:prstGeom>
          <a:noFill/>
          <a:ln/>
        </p:spPr>
        <p:txBody>
          <a:bodyPr wrap="square" lIns="0" tIns="0" rIns="0" bIns="0" rtlCol="0" anchor="ctr"/>
          <a:lstStyle/>
          <a:p>
            <a:pPr algn="ctr" indent="0" marL="0">
              <a:buNone/>
            </a:pPr>
            <a:r>
              <a:rPr lang="en-US" sz="2600" b="1" dirty="0">
                <a:solidFill>
                  <a:srgbClr val="2A78D6"/>
                </a:solidFill>
                <a:latin typeface="Cambria" pitchFamily="34" charset="0"/>
                <a:ea typeface="Cambria" pitchFamily="34" charset="-122"/>
                <a:cs typeface="Cambria" pitchFamily="34" charset="-120"/>
              </a:rPr>
              <a:t>13.4×</a:t>
            </a:r>
            <a:endParaRPr lang="en-US" sz="2600" dirty="0"/>
          </a:p>
        </p:txBody>
      </p:sp>
      <p:sp>
        <p:nvSpPr>
          <p:cNvPr id="12" name="Text 10"/>
          <p:cNvSpPr txBox="1"/>
          <p:nvPr/>
        </p:nvSpPr>
        <p:spPr>
          <a:xfrm>
            <a:off x="6080760" y="2962656"/>
            <a:ext cx="1097280" cy="399593"/>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faster than the</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reference</a:t>
            </a:r>
            <a:endParaRPr lang="en-US" sz="1000" dirty="0"/>
          </a:p>
        </p:txBody>
      </p:sp>
      <p:sp>
        <p:nvSpPr>
          <p:cNvPr id="13" name="Shape 11"/>
          <p:cNvSpPr/>
          <p:nvPr/>
        </p:nvSpPr>
        <p:spPr>
          <a:xfrm>
            <a:off x="7406640" y="2331720"/>
            <a:ext cx="1371600" cy="1051560"/>
          </a:xfrm>
          <a:prstGeom prst="roundRect">
            <a:avLst>
              <a:gd name="adj" fmla="val 6957"/>
            </a:avLst>
          </a:prstGeom>
          <a:solidFill>
            <a:srgbClr val="F3F4F6"/>
          </a:solidFill>
          <a:ln w="12700">
            <a:solidFill>
              <a:srgbClr val="F3F4F6"/>
            </a:solidFill>
            <a:prstDash val="solid"/>
          </a:ln>
        </p:spPr>
      </p:sp>
      <p:sp>
        <p:nvSpPr>
          <p:cNvPr id="14" name="Text 12"/>
          <p:cNvSpPr txBox="1"/>
          <p:nvPr/>
        </p:nvSpPr>
        <p:spPr>
          <a:xfrm>
            <a:off x="7543800" y="2423160"/>
            <a:ext cx="1097280" cy="578358"/>
          </a:xfrm>
          <a:prstGeom prst="rect">
            <a:avLst/>
          </a:prstGeom>
          <a:noFill/>
          <a:ln/>
        </p:spPr>
        <p:txBody>
          <a:bodyPr wrap="square" lIns="0" tIns="0" rIns="0" bIns="0" rtlCol="0" anchor="ctr"/>
          <a:lstStyle/>
          <a:p>
            <a:pPr algn="ctr" indent="0" marL="0">
              <a:buNone/>
            </a:pPr>
            <a:r>
              <a:rPr lang="en-US" sz="2200" b="1" dirty="0">
                <a:solidFill>
                  <a:srgbClr val="14213D"/>
                </a:solidFill>
                <a:latin typeface="Cambria" pitchFamily="34" charset="0"/>
                <a:ea typeface="Cambria" pitchFamily="34" charset="-122"/>
                <a:cs typeface="Cambria" pitchFamily="34" charset="-120"/>
              </a:rPr>
              <a:t>−0.3 pts</a:t>
            </a:r>
            <a:endParaRPr lang="en-US" sz="2200" dirty="0"/>
          </a:p>
        </p:txBody>
      </p:sp>
      <p:sp>
        <p:nvSpPr>
          <p:cNvPr id="15" name="Text 13"/>
          <p:cNvSpPr txBox="1"/>
          <p:nvPr/>
        </p:nvSpPr>
        <p:spPr>
          <a:xfrm>
            <a:off x="7543800" y="2962656"/>
            <a:ext cx="1097280" cy="399593"/>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success vs reference,</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300 paired episodes</a:t>
            </a:r>
            <a:endParaRPr lang="en-US" sz="1000" dirty="0"/>
          </a:p>
        </p:txBody>
      </p:sp>
      <p:sp>
        <p:nvSpPr>
          <p:cNvPr id="16" name="Text 14"/>
          <p:cNvSpPr txBox="1"/>
          <p:nvPr/>
        </p:nvSpPr>
        <p:spPr>
          <a:xfrm>
            <a:off x="5943600" y="3520440"/>
            <a:ext cx="2926080" cy="274320"/>
          </a:xfrm>
          <a:prstGeom prst="rect">
            <a:avLst/>
          </a:prstGeom>
          <a:noFill/>
          <a:ln/>
        </p:spPr>
        <p:txBody>
          <a:bodyPr wrap="square" lIns="0" tIns="0" rIns="0" bIns="0" rtlCol="0" anchor="ctr"/>
          <a:lstStyle/>
          <a:p>
            <a:pPr indent="0" marL="0">
              <a:buNone/>
            </a:pPr>
            <a:r>
              <a:rPr lang="en-US" sz="1000" i="1" dirty="0">
                <a:solidFill>
                  <a:srgbClr val="5A5A5A"/>
                </a:solidFill>
                <a:latin typeface="Calibri" pitchFamily="34" charset="0"/>
                <a:ea typeface="Calibri" pitchFamily="34" charset="-122"/>
                <a:cs typeface="Calibri" pitchFamily="34" charset="-120"/>
              </a:rPr>
              <a:t>Medians of end-to-end planning latency; 95% CI of the speed-up 13.0–13.5×</a:t>
            </a:r>
            <a:endParaRPr lang="en-US" sz="1000" dirty="0"/>
          </a:p>
        </p:txBody>
      </p:sp>
      <p:sp>
        <p:nvSpPr>
          <p:cNvPr id="18" name="Text 15"/>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Motivation</a:t>
            </a:r>
            <a:endParaRPr lang="en-US" sz="2800" dirty="0"/>
          </a:p>
        </p:txBody>
      </p:sp>
      <p:sp>
        <p:nvSpPr>
          <p:cNvPr id="3" name="Text 1"/>
          <p:cNvSpPr txBox="1"/>
          <p:nvPr/>
        </p:nvSpPr>
        <p:spPr>
          <a:xfrm>
            <a:off x="457200" y="1051560"/>
            <a:ext cx="4937760" cy="35661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B1B1B"/>
                </a:solidFill>
                <a:latin typeface="Calibri" pitchFamily="34" charset="0"/>
                <a:ea typeface="Calibri" pitchFamily="34" charset="-122"/>
                <a:cs typeface="Calibri" pitchFamily="34" charset="-120"/>
              </a:rPr>
              <a:t>A world model predicts future states; a planner evaluates many candidate action sequences with it and executes the best.</a:t>
            </a:r>
            <a:endParaRPr lang="en-US" sz="1400" dirty="0"/>
          </a:p>
          <a:p>
            <a:pPr marL="177800" indent="-177800">
              <a:spcAft>
                <a:spcPts val="700"/>
              </a:spcAft>
              <a:buSzPct val="100000"/>
              <a:buChar char="•"/>
            </a:pPr>
            <a:r>
              <a:rPr lang="en-US" sz="1400" dirty="0">
                <a:solidFill>
                  <a:srgbClr val="1B1B1B"/>
                </a:solidFill>
                <a:latin typeface="Calibri" pitchFamily="34" charset="0"/>
                <a:ea typeface="Calibri" pitchFamily="34" charset="-122"/>
                <a:cs typeface="Calibri" pitchFamily="34" charset="-120"/>
              </a:rPr>
              <a:t>A controller must finish each plan within its control period: 100 ms at 10 Hz, 50 ms at 20 Hz, for sensing, planning and acting together.</a:t>
            </a:r>
            <a:endParaRPr lang="en-US" sz="1400" dirty="0"/>
          </a:p>
          <a:p>
            <a:pPr marL="177800" indent="-177800">
              <a:spcAft>
                <a:spcPts val="700"/>
              </a:spcAft>
              <a:buSzPct val="100000"/>
              <a:buChar char="•"/>
            </a:pPr>
            <a:r>
              <a:rPr lang="en-US" sz="1400" dirty="0">
                <a:solidFill>
                  <a:srgbClr val="1B1B1B"/>
                </a:solidFill>
                <a:latin typeface="Calibri" pitchFamily="34" charset="0"/>
                <a:ea typeface="Calibri" pitchFamily="34" charset="-122"/>
                <a:cs typeface="Calibri" pitchFamily="34" charset="-120"/>
              </a:rPr>
              <a:t>LeWM made world-model planning cheap by shrinking the model to 15M parameters. Its released planner still takes 622 ms per plan.</a:t>
            </a:r>
            <a:endParaRPr lang="en-US" sz="1400" dirty="0"/>
          </a:p>
          <a:p>
            <a:pPr marL="177800" indent="-177800">
              <a:spcAft>
                <a:spcPts val="700"/>
              </a:spcAft>
              <a:buSzPct val="100000"/>
              <a:buChar char="•"/>
            </a:pPr>
            <a:r>
              <a:rPr lang="en-US" sz="1400" dirty="0">
                <a:solidFill>
                  <a:srgbClr val="1B1B1B"/>
                </a:solidFill>
                <a:latin typeface="Calibri" pitchFamily="34" charset="0"/>
                <a:ea typeface="Calibri" pitchFamily="34" charset="-122"/>
                <a:cs typeface="Calibri" pitchFamily="34" charset="-120"/>
              </a:rPr>
              <a:t>The arithmetic content of a plan corresponds to milliseconds of GPU time; the remaining latency is not attributable to computation.</a:t>
            </a:r>
            <a:endParaRPr lang="en-US" sz="1400" dirty="0"/>
          </a:p>
        </p:txBody>
      </p:sp>
      <p:sp>
        <p:nvSpPr>
          <p:cNvPr id="4" name="Shape 2"/>
          <p:cNvSpPr/>
          <p:nvPr/>
        </p:nvSpPr>
        <p:spPr>
          <a:xfrm>
            <a:off x="5760720" y="1097280"/>
            <a:ext cx="1417320" cy="1005840"/>
          </a:xfrm>
          <a:prstGeom prst="roundRect">
            <a:avLst>
              <a:gd name="adj" fmla="val 7273"/>
            </a:avLst>
          </a:prstGeom>
          <a:solidFill>
            <a:srgbClr val="F3F4F6"/>
          </a:solidFill>
          <a:ln w="12700">
            <a:solidFill>
              <a:srgbClr val="F3F4F6"/>
            </a:solidFill>
            <a:prstDash val="solid"/>
          </a:ln>
        </p:spPr>
      </p:sp>
      <p:sp>
        <p:nvSpPr>
          <p:cNvPr id="5" name="Text 3"/>
          <p:cNvSpPr txBox="1"/>
          <p:nvPr/>
        </p:nvSpPr>
        <p:spPr>
          <a:xfrm>
            <a:off x="5897880" y="1188720"/>
            <a:ext cx="1143000" cy="553212"/>
          </a:xfrm>
          <a:prstGeom prst="rect">
            <a:avLst/>
          </a:prstGeom>
          <a:noFill/>
          <a:ln/>
        </p:spPr>
        <p:txBody>
          <a:bodyPr wrap="square" lIns="0" tIns="0" rIns="0" bIns="0" rtlCol="0" anchor="ctr"/>
          <a:lstStyle/>
          <a:p>
            <a:pPr algn="ctr" indent="0" marL="0">
              <a:buNone/>
            </a:pPr>
            <a:r>
              <a:rPr lang="en-US" sz="3000" b="1" dirty="0">
                <a:solidFill>
                  <a:srgbClr val="14213D"/>
                </a:solidFill>
                <a:latin typeface="Cambria" pitchFamily="34" charset="0"/>
                <a:ea typeface="Cambria" pitchFamily="34" charset="-122"/>
                <a:cs typeface="Cambria" pitchFamily="34" charset="-120"/>
              </a:rPr>
              <a:t>15M</a:t>
            </a:r>
            <a:endParaRPr lang="en-US" sz="3000" dirty="0"/>
          </a:p>
        </p:txBody>
      </p:sp>
      <p:sp>
        <p:nvSpPr>
          <p:cNvPr id="6" name="Text 4"/>
          <p:cNvSpPr txBox="1"/>
          <p:nvPr/>
        </p:nvSpPr>
        <p:spPr>
          <a:xfrm>
            <a:off x="5897880" y="1700784"/>
            <a:ext cx="1143000" cy="382219"/>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parameters in</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the whole model</a:t>
            </a:r>
            <a:endParaRPr lang="en-US" sz="1000" dirty="0"/>
          </a:p>
        </p:txBody>
      </p:sp>
      <p:sp>
        <p:nvSpPr>
          <p:cNvPr id="7" name="Shape 5"/>
          <p:cNvSpPr/>
          <p:nvPr/>
        </p:nvSpPr>
        <p:spPr>
          <a:xfrm>
            <a:off x="7315200" y="1097280"/>
            <a:ext cx="1417320" cy="1005840"/>
          </a:xfrm>
          <a:prstGeom prst="roundRect">
            <a:avLst>
              <a:gd name="adj" fmla="val 7273"/>
            </a:avLst>
          </a:prstGeom>
          <a:solidFill>
            <a:srgbClr val="F3F4F6"/>
          </a:solidFill>
          <a:ln w="12700">
            <a:solidFill>
              <a:srgbClr val="F3F4F6"/>
            </a:solidFill>
            <a:prstDash val="solid"/>
          </a:ln>
        </p:spPr>
      </p:sp>
      <p:sp>
        <p:nvSpPr>
          <p:cNvPr id="8" name="Text 6"/>
          <p:cNvSpPr txBox="1"/>
          <p:nvPr/>
        </p:nvSpPr>
        <p:spPr>
          <a:xfrm>
            <a:off x="7452360" y="1188720"/>
            <a:ext cx="1143000" cy="553212"/>
          </a:xfrm>
          <a:prstGeom prst="rect">
            <a:avLst/>
          </a:prstGeom>
          <a:noFill/>
          <a:ln/>
        </p:spPr>
        <p:txBody>
          <a:bodyPr wrap="square" lIns="0" tIns="0" rIns="0" bIns="0" rtlCol="0" anchor="ctr"/>
          <a:lstStyle/>
          <a:p>
            <a:pPr algn="ctr" indent="0" marL="0">
              <a:buNone/>
            </a:pPr>
            <a:r>
              <a:rPr lang="en-US" sz="3000" b="1" dirty="0">
                <a:solidFill>
                  <a:srgbClr val="14213D"/>
                </a:solidFill>
                <a:latin typeface="Cambria" pitchFamily="34" charset="0"/>
                <a:ea typeface="Cambria" pitchFamily="34" charset="-122"/>
                <a:cs typeface="Cambria" pitchFamily="34" charset="-120"/>
              </a:rPr>
              <a:t>9,000</a:t>
            </a:r>
            <a:endParaRPr lang="en-US" sz="3000" dirty="0"/>
          </a:p>
        </p:txBody>
      </p:sp>
      <p:sp>
        <p:nvSpPr>
          <p:cNvPr id="9" name="Text 7"/>
          <p:cNvSpPr txBox="1"/>
          <p:nvPr/>
        </p:nvSpPr>
        <p:spPr>
          <a:xfrm>
            <a:off x="7452360" y="1700784"/>
            <a:ext cx="1143000" cy="382219"/>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rollouts per</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reference plan</a:t>
            </a:r>
            <a:endParaRPr lang="en-US" sz="1000" dirty="0"/>
          </a:p>
        </p:txBody>
      </p:sp>
      <p:sp>
        <p:nvSpPr>
          <p:cNvPr id="10" name="Shape 8"/>
          <p:cNvSpPr/>
          <p:nvPr/>
        </p:nvSpPr>
        <p:spPr>
          <a:xfrm>
            <a:off x="5760720" y="2286000"/>
            <a:ext cx="1417320" cy="1005840"/>
          </a:xfrm>
          <a:prstGeom prst="roundRect">
            <a:avLst>
              <a:gd name="adj" fmla="val 7273"/>
            </a:avLst>
          </a:prstGeom>
          <a:solidFill>
            <a:srgbClr val="F3F4F6"/>
          </a:solidFill>
          <a:ln w="12700">
            <a:solidFill>
              <a:srgbClr val="F3F4F6"/>
            </a:solidFill>
            <a:prstDash val="solid"/>
          </a:ln>
        </p:spPr>
      </p:sp>
      <p:sp>
        <p:nvSpPr>
          <p:cNvPr id="11" name="Text 9"/>
          <p:cNvSpPr txBox="1"/>
          <p:nvPr/>
        </p:nvSpPr>
        <p:spPr>
          <a:xfrm>
            <a:off x="5897880" y="2377440"/>
            <a:ext cx="1143000" cy="553212"/>
          </a:xfrm>
          <a:prstGeom prst="rect">
            <a:avLst/>
          </a:prstGeom>
          <a:noFill/>
          <a:ln/>
        </p:spPr>
        <p:txBody>
          <a:bodyPr wrap="square" lIns="0" tIns="0" rIns="0" bIns="0" rtlCol="0" anchor="ctr"/>
          <a:lstStyle/>
          <a:p>
            <a:pPr algn="ctr" indent="0" marL="0">
              <a:buNone/>
            </a:pPr>
            <a:r>
              <a:rPr lang="en-US" sz="3000" b="1" dirty="0">
                <a:solidFill>
                  <a:srgbClr val="14213D"/>
                </a:solidFill>
                <a:latin typeface="Cambria" pitchFamily="34" charset="0"/>
                <a:ea typeface="Cambria" pitchFamily="34" charset="-122"/>
                <a:cs typeface="Cambria" pitchFamily="34" charset="-120"/>
              </a:rPr>
              <a:t>900</a:t>
            </a:r>
            <a:endParaRPr lang="en-US" sz="3000" dirty="0"/>
          </a:p>
        </p:txBody>
      </p:sp>
      <p:sp>
        <p:nvSpPr>
          <p:cNvPr id="12" name="Text 10"/>
          <p:cNvSpPr txBox="1"/>
          <p:nvPr/>
        </p:nvSpPr>
        <p:spPr>
          <a:xfrm>
            <a:off x="5897880" y="2889504"/>
            <a:ext cx="1143000" cy="382219"/>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dependent layer</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evaluations per plan</a:t>
            </a:r>
            <a:endParaRPr lang="en-US" sz="1000" dirty="0"/>
          </a:p>
        </p:txBody>
      </p:sp>
      <p:sp>
        <p:nvSpPr>
          <p:cNvPr id="13" name="Shape 11"/>
          <p:cNvSpPr/>
          <p:nvPr/>
        </p:nvSpPr>
        <p:spPr>
          <a:xfrm>
            <a:off x="7315200" y="2286000"/>
            <a:ext cx="1417320" cy="1005840"/>
          </a:xfrm>
          <a:prstGeom prst="roundRect">
            <a:avLst>
              <a:gd name="adj" fmla="val 7273"/>
            </a:avLst>
          </a:prstGeom>
          <a:solidFill>
            <a:srgbClr val="F3F4F6"/>
          </a:solidFill>
          <a:ln w="12700">
            <a:solidFill>
              <a:srgbClr val="F3F4F6"/>
            </a:solidFill>
            <a:prstDash val="solid"/>
          </a:ln>
        </p:spPr>
      </p:sp>
      <p:sp>
        <p:nvSpPr>
          <p:cNvPr id="14" name="Text 12"/>
          <p:cNvSpPr txBox="1"/>
          <p:nvPr/>
        </p:nvSpPr>
        <p:spPr>
          <a:xfrm>
            <a:off x="7452360" y="2377440"/>
            <a:ext cx="1143000" cy="553212"/>
          </a:xfrm>
          <a:prstGeom prst="rect">
            <a:avLst/>
          </a:prstGeom>
          <a:noFill/>
          <a:ln/>
        </p:spPr>
        <p:txBody>
          <a:bodyPr wrap="square" lIns="0" tIns="0" rIns="0" bIns="0" rtlCol="0" anchor="ctr"/>
          <a:lstStyle/>
          <a:p>
            <a:pPr algn="ctr" indent="0" marL="0">
              <a:buNone/>
            </a:pPr>
            <a:r>
              <a:rPr lang="en-US" sz="2400" b="1" dirty="0">
                <a:solidFill>
                  <a:srgbClr val="14213D"/>
                </a:solidFill>
                <a:latin typeface="Cambria" pitchFamily="34" charset="0"/>
                <a:ea typeface="Cambria" pitchFamily="34" charset="-122"/>
                <a:cs typeface="Cambria" pitchFamily="34" charset="-120"/>
              </a:rPr>
              <a:t>16–53 s</a:t>
            </a:r>
            <a:endParaRPr lang="en-US" sz="2400" dirty="0"/>
          </a:p>
        </p:txBody>
      </p:sp>
      <p:sp>
        <p:nvSpPr>
          <p:cNvPr id="15" name="Text 13"/>
          <p:cNvSpPr txBox="1"/>
          <p:nvPr/>
        </p:nvSpPr>
        <p:spPr>
          <a:xfrm>
            <a:off x="7452360" y="2889504"/>
            <a:ext cx="1143000" cy="382219"/>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per plan for larger</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world models</a:t>
            </a:r>
            <a:endParaRPr lang="en-US" sz="1000" dirty="0"/>
          </a:p>
        </p:txBody>
      </p:sp>
      <p:sp>
        <p:nvSpPr>
          <p:cNvPr id="17" name="Text 14"/>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Aim and objectives</a:t>
            </a:r>
            <a:endParaRPr lang="en-US" sz="2800" dirty="0"/>
          </a:p>
        </p:txBody>
      </p:sp>
      <p:sp>
        <p:nvSpPr>
          <p:cNvPr id="3" name="Shape 1"/>
          <p:cNvSpPr/>
          <p:nvPr/>
        </p:nvSpPr>
        <p:spPr>
          <a:xfrm>
            <a:off x="457200" y="1051560"/>
            <a:ext cx="822960" cy="594360"/>
          </a:xfrm>
          <a:prstGeom prst="roundRect">
            <a:avLst>
              <a:gd name="adj" fmla="val 12308"/>
            </a:avLst>
          </a:prstGeom>
          <a:solidFill>
            <a:srgbClr val="14213D"/>
          </a:solidFill>
          <a:ln w="12700">
            <a:solidFill>
              <a:srgbClr val="14213D"/>
            </a:solidFill>
            <a:prstDash val="solid"/>
          </a:ln>
        </p:spPr>
      </p:sp>
      <p:sp>
        <p:nvSpPr>
          <p:cNvPr id="4" name="Text 2"/>
          <p:cNvSpPr txBox="1"/>
          <p:nvPr/>
        </p:nvSpPr>
        <p:spPr>
          <a:xfrm>
            <a:off x="457200" y="1051560"/>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O1</a:t>
            </a:r>
            <a:endParaRPr lang="en-US" sz="1600" dirty="0"/>
          </a:p>
        </p:txBody>
      </p:sp>
      <p:sp>
        <p:nvSpPr>
          <p:cNvPr id="5" name="Text 3"/>
          <p:cNvSpPr txBox="1"/>
          <p:nvPr/>
        </p:nvSpPr>
        <p:spPr>
          <a:xfrm>
            <a:off x="1463040" y="1051560"/>
            <a:ext cx="7223760" cy="594360"/>
          </a:xfrm>
          <a:prstGeom prst="rect">
            <a:avLst/>
          </a:prstGeom>
          <a:noFill/>
          <a:ln/>
        </p:spPr>
        <p:txBody>
          <a:bodyPr wrap="square" lIns="0" tIns="0" rIns="0" bIns="0" rtlCol="0" anchor="ctr"/>
          <a:lstStyle/>
          <a:p>
            <a:pPr indent="0" marL="0">
              <a:buNone/>
            </a:pPr>
            <a:r>
              <a:rPr lang="en-US" sz="1350" dirty="0">
                <a:solidFill>
                  <a:srgbClr val="1B1B1B"/>
                </a:solidFill>
                <a:latin typeface="Calibri" pitchFamily="34" charset="0"/>
                <a:ea typeface="Calibri" pitchFamily="34" charset="-122"/>
                <a:cs typeface="Calibri" pitchFamily="34" charset="-120"/>
              </a:rPr>
              <a:t>Profile: build a stage-by-stage compute profile of the reference planner from measured data, and identify the bottleneck.</a:t>
            </a:r>
            <a:endParaRPr lang="en-US" sz="1350" dirty="0"/>
          </a:p>
        </p:txBody>
      </p:sp>
      <p:sp>
        <p:nvSpPr>
          <p:cNvPr id="6" name="Shape 4"/>
          <p:cNvSpPr/>
          <p:nvPr/>
        </p:nvSpPr>
        <p:spPr>
          <a:xfrm>
            <a:off x="457200" y="1828800"/>
            <a:ext cx="822960" cy="594360"/>
          </a:xfrm>
          <a:prstGeom prst="roundRect">
            <a:avLst>
              <a:gd name="adj" fmla="val 12308"/>
            </a:avLst>
          </a:prstGeom>
          <a:solidFill>
            <a:srgbClr val="14213D"/>
          </a:solidFill>
          <a:ln w="12700">
            <a:solidFill>
              <a:srgbClr val="14213D"/>
            </a:solidFill>
            <a:prstDash val="solid"/>
          </a:ln>
        </p:spPr>
      </p:sp>
      <p:sp>
        <p:nvSpPr>
          <p:cNvPr id="7" name="Text 5"/>
          <p:cNvSpPr txBox="1"/>
          <p:nvPr/>
        </p:nvSpPr>
        <p:spPr>
          <a:xfrm>
            <a:off x="457200" y="1828800"/>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O2</a:t>
            </a:r>
            <a:endParaRPr lang="en-US" sz="1600" dirty="0"/>
          </a:p>
        </p:txBody>
      </p:sp>
      <p:sp>
        <p:nvSpPr>
          <p:cNvPr id="8" name="Text 6"/>
          <p:cNvSpPr txBox="1"/>
          <p:nvPr/>
        </p:nvSpPr>
        <p:spPr>
          <a:xfrm>
            <a:off x="1463040" y="1828800"/>
            <a:ext cx="7223760" cy="594360"/>
          </a:xfrm>
          <a:prstGeom prst="rect">
            <a:avLst/>
          </a:prstGeom>
          <a:noFill/>
          <a:ln/>
        </p:spPr>
        <p:txBody>
          <a:bodyPr wrap="square" lIns="0" tIns="0" rIns="0" bIns="0" rtlCol="0" anchor="ctr"/>
          <a:lstStyle/>
          <a:p>
            <a:pPr indent="0" marL="0">
              <a:buNone/>
            </a:pPr>
            <a:r>
              <a:rPr lang="en-US" sz="1350" dirty="0">
                <a:solidFill>
                  <a:srgbClr val="1B1B1B"/>
                </a:solidFill>
                <a:latin typeface="Calibri" pitchFamily="34" charset="0"/>
                <a:ea typeface="Calibri" pitchFamily="34" charset="-122"/>
                <a:cs typeface="Calibri" pitchFamily="34" charset="-120"/>
              </a:rPr>
              <a:t>Design and implement: remove the bottlenecks without retraining the model or shrinking the planner's search budget.</a:t>
            </a:r>
            <a:endParaRPr lang="en-US" sz="1350" dirty="0"/>
          </a:p>
        </p:txBody>
      </p:sp>
      <p:sp>
        <p:nvSpPr>
          <p:cNvPr id="9" name="Shape 7"/>
          <p:cNvSpPr/>
          <p:nvPr/>
        </p:nvSpPr>
        <p:spPr>
          <a:xfrm>
            <a:off x="457200" y="2606040"/>
            <a:ext cx="822960" cy="594360"/>
          </a:xfrm>
          <a:prstGeom prst="roundRect">
            <a:avLst>
              <a:gd name="adj" fmla="val 12308"/>
            </a:avLst>
          </a:prstGeom>
          <a:solidFill>
            <a:srgbClr val="14213D"/>
          </a:solidFill>
          <a:ln w="12700">
            <a:solidFill>
              <a:srgbClr val="14213D"/>
            </a:solidFill>
            <a:prstDash val="solid"/>
          </a:ln>
        </p:spPr>
      </p:sp>
      <p:sp>
        <p:nvSpPr>
          <p:cNvPr id="10" name="Text 8"/>
          <p:cNvSpPr txBox="1"/>
          <p:nvPr/>
        </p:nvSpPr>
        <p:spPr>
          <a:xfrm>
            <a:off x="457200" y="2606040"/>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O3</a:t>
            </a:r>
            <a:endParaRPr lang="en-US" sz="1600" dirty="0"/>
          </a:p>
        </p:txBody>
      </p:sp>
      <p:sp>
        <p:nvSpPr>
          <p:cNvPr id="11" name="Text 9"/>
          <p:cNvSpPr txBox="1"/>
          <p:nvPr/>
        </p:nvSpPr>
        <p:spPr>
          <a:xfrm>
            <a:off x="1463040" y="2606040"/>
            <a:ext cx="7223760" cy="594360"/>
          </a:xfrm>
          <a:prstGeom prst="rect">
            <a:avLst/>
          </a:prstGeom>
          <a:noFill/>
          <a:ln/>
        </p:spPr>
        <p:txBody>
          <a:bodyPr wrap="square" lIns="0" tIns="0" rIns="0" bIns="0" rtlCol="0" anchor="ctr"/>
          <a:lstStyle/>
          <a:p>
            <a:pPr indent="0" marL="0">
              <a:buNone/>
            </a:pPr>
            <a:r>
              <a:rPr lang="en-US" sz="1350" dirty="0">
                <a:solidFill>
                  <a:srgbClr val="1B1B1B"/>
                </a:solidFill>
                <a:latin typeface="Calibri" pitchFamily="34" charset="0"/>
                <a:ea typeface="Calibri" pitchFamily="34" charset="-122"/>
                <a:cs typeface="Calibri" pitchFamily="34" charset="-120"/>
              </a:rPr>
              <a:t>Evaluate: latency and task success against the reference and a strong optimised baseline, on the same GPU, with paired tests.</a:t>
            </a:r>
            <a:endParaRPr lang="en-US" sz="1350" dirty="0"/>
          </a:p>
        </p:txBody>
      </p:sp>
      <p:sp>
        <p:nvSpPr>
          <p:cNvPr id="12" name="Shape 10"/>
          <p:cNvSpPr/>
          <p:nvPr/>
        </p:nvSpPr>
        <p:spPr>
          <a:xfrm>
            <a:off x="457200" y="3383280"/>
            <a:ext cx="822960" cy="594360"/>
          </a:xfrm>
          <a:prstGeom prst="roundRect">
            <a:avLst>
              <a:gd name="adj" fmla="val 12308"/>
            </a:avLst>
          </a:prstGeom>
          <a:solidFill>
            <a:srgbClr val="14213D"/>
          </a:solidFill>
          <a:ln w="12700">
            <a:solidFill>
              <a:srgbClr val="14213D"/>
            </a:solidFill>
            <a:prstDash val="solid"/>
          </a:ln>
        </p:spPr>
      </p:sp>
      <p:sp>
        <p:nvSpPr>
          <p:cNvPr id="13" name="Text 11"/>
          <p:cNvSpPr txBox="1"/>
          <p:nvPr/>
        </p:nvSpPr>
        <p:spPr>
          <a:xfrm>
            <a:off x="457200" y="3383280"/>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O4</a:t>
            </a:r>
            <a:endParaRPr lang="en-US" sz="1600" dirty="0"/>
          </a:p>
        </p:txBody>
      </p:sp>
      <p:sp>
        <p:nvSpPr>
          <p:cNvPr id="14" name="Text 12"/>
          <p:cNvSpPr txBox="1"/>
          <p:nvPr/>
        </p:nvSpPr>
        <p:spPr>
          <a:xfrm>
            <a:off x="1463040" y="3383280"/>
            <a:ext cx="7223760" cy="594360"/>
          </a:xfrm>
          <a:prstGeom prst="rect">
            <a:avLst/>
          </a:prstGeom>
          <a:noFill/>
          <a:ln/>
        </p:spPr>
        <p:txBody>
          <a:bodyPr wrap="square" lIns="0" tIns="0" rIns="0" bIns="0" rtlCol="0" anchor="ctr"/>
          <a:lstStyle/>
          <a:p>
            <a:pPr indent="0" marL="0">
              <a:buNone/>
            </a:pPr>
            <a:r>
              <a:rPr lang="en-US" sz="1350" dirty="0">
                <a:solidFill>
                  <a:srgbClr val="1B1B1B"/>
                </a:solidFill>
                <a:latin typeface="Calibri" pitchFamily="34" charset="0"/>
                <a:ea typeface="Calibri" pitchFamily="34" charset="-122"/>
                <a:cs typeface="Calibri" pitchFamily="34" charset="-120"/>
              </a:rPr>
              <a:t>Deploy: a planner that plugs into the existing harness, and one program that regenerates every result from the data.</a:t>
            </a:r>
            <a:endParaRPr lang="en-US" sz="1350" dirty="0"/>
          </a:p>
        </p:txBody>
      </p:sp>
      <p:sp>
        <p:nvSpPr>
          <p:cNvPr id="15" name="Text 13"/>
          <p:cNvSpPr txBox="1"/>
          <p:nvPr/>
        </p:nvSpPr>
        <p:spPr>
          <a:xfrm>
            <a:off x="457200" y="4206240"/>
            <a:ext cx="8229600" cy="64008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Data analytics and AI. </a:t>
            </a:r>
            <a:pPr indent="0" marL="0">
              <a:buNone/>
            </a:pPr>
            <a:r>
              <a:rPr lang="en-US" sz="1150" dirty="0">
                <a:solidFill>
                  <a:srgbClr val="1B1B1B"/>
                </a:solidFill>
                <a:latin typeface="Calibri" pitchFamily="34" charset="0"/>
                <a:ea typeface="Calibri" pitchFamily="34" charset="-122"/>
                <a:cs typeface="Calibri" pitchFamily="34" charset="-120"/>
              </a:rPr>
              <a:t>The object is an AI system (a self-supervised world model and its search algorithm); the method is an analytics pipeline over its measured behaviour: collection, preparation, pattern discovery with a fitted latency model, statistical evaluation and deployment.</a:t>
            </a:r>
            <a:endParaRPr lang="en-US" sz="1150" dirty="0"/>
          </a:p>
        </p:txBody>
      </p:sp>
      <p:sp>
        <p:nvSpPr>
          <p:cNvPr id="17" name="Text 14"/>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Background and research gap</a:t>
            </a:r>
            <a:endParaRPr lang="en-US" sz="2800" dirty="0"/>
          </a:p>
        </p:txBody>
      </p:sp>
      <p:sp>
        <p:nvSpPr>
          <p:cNvPr id="3" name="Shape 1"/>
          <p:cNvSpPr/>
          <p:nvPr/>
        </p:nvSpPr>
        <p:spPr>
          <a:xfrm>
            <a:off x="457200" y="1051560"/>
            <a:ext cx="2651760" cy="2606040"/>
          </a:xfrm>
          <a:prstGeom prst="roundRect">
            <a:avLst>
              <a:gd name="adj" fmla="val 2807"/>
            </a:avLst>
          </a:prstGeom>
          <a:solidFill>
            <a:srgbClr val="F3F4F6"/>
          </a:solidFill>
          <a:ln w="12700">
            <a:solidFill>
              <a:srgbClr val="F3F4F6"/>
            </a:solidFill>
            <a:prstDash val="solid"/>
          </a:ln>
        </p:spPr>
      </p:sp>
      <p:sp>
        <p:nvSpPr>
          <p:cNvPr id="4" name="Text 2"/>
          <p:cNvSpPr txBox="1"/>
          <p:nvPr/>
        </p:nvSpPr>
        <p:spPr>
          <a:xfrm>
            <a:off x="621792" y="1161288"/>
            <a:ext cx="2331720" cy="384048"/>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World models that plan</a:t>
            </a:r>
            <a:endParaRPr lang="en-US" sz="1500" dirty="0"/>
          </a:p>
        </p:txBody>
      </p:sp>
      <p:sp>
        <p:nvSpPr>
          <p:cNvPr id="5" name="Text 3"/>
          <p:cNvSpPr txBox="1"/>
          <p:nvPr/>
        </p:nvSpPr>
        <p:spPr>
          <a:xfrm>
            <a:off x="621792" y="1581912"/>
            <a:ext cx="2331720" cy="1965960"/>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JEPA models (I-JEPA, DINO-WM, V-JEPA 2, LeWM) predict in a learned representation and plan by search. Planning time is reported coarsely and only ever cut by changing the model.</a:t>
            </a:r>
            <a:endParaRPr lang="en-US" sz="1150" dirty="0"/>
          </a:p>
        </p:txBody>
      </p:sp>
      <p:sp>
        <p:nvSpPr>
          <p:cNvPr id="6" name="Shape 4"/>
          <p:cNvSpPr/>
          <p:nvPr/>
        </p:nvSpPr>
        <p:spPr>
          <a:xfrm>
            <a:off x="3291840" y="1051560"/>
            <a:ext cx="2651760" cy="2606040"/>
          </a:xfrm>
          <a:prstGeom prst="roundRect">
            <a:avLst>
              <a:gd name="adj" fmla="val 2807"/>
            </a:avLst>
          </a:prstGeom>
          <a:solidFill>
            <a:srgbClr val="F3F4F6"/>
          </a:solidFill>
          <a:ln w="12700">
            <a:solidFill>
              <a:srgbClr val="F3F4F6"/>
            </a:solidFill>
            <a:prstDash val="solid"/>
          </a:ln>
        </p:spPr>
      </p:sp>
      <p:sp>
        <p:nvSpPr>
          <p:cNvPr id="7" name="Text 5"/>
          <p:cNvSpPr txBox="1"/>
          <p:nvPr/>
        </p:nvSpPr>
        <p:spPr>
          <a:xfrm>
            <a:off x="3456432" y="1161288"/>
            <a:ext cx="2331720" cy="384048"/>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Sampling-based search</a:t>
            </a:r>
            <a:endParaRPr lang="en-US" sz="1500" dirty="0"/>
          </a:p>
        </p:txBody>
      </p:sp>
      <p:sp>
        <p:nvSpPr>
          <p:cNvPr id="8" name="Text 6"/>
          <p:cNvSpPr txBox="1"/>
          <p:nvPr/>
        </p:nvSpPr>
        <p:spPr>
          <a:xfrm>
            <a:off x="3456432" y="1581912"/>
            <a:ext cx="2331720" cy="1965960"/>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CEM samples, keeps the best, refits, repeats. iCEM shrinks the population and reuses the best: 2.7–22× fewer samples. But fewer samples need not mean less time (CEM-GD).</a:t>
            </a:r>
            <a:endParaRPr lang="en-US" sz="1150" dirty="0"/>
          </a:p>
        </p:txBody>
      </p:sp>
      <p:sp>
        <p:nvSpPr>
          <p:cNvPr id="9" name="Shape 7"/>
          <p:cNvSpPr/>
          <p:nvPr/>
        </p:nvSpPr>
        <p:spPr>
          <a:xfrm>
            <a:off x="6126480" y="1051560"/>
            <a:ext cx="2651760" cy="2606040"/>
          </a:xfrm>
          <a:prstGeom prst="roundRect">
            <a:avLst>
              <a:gd name="adj" fmla="val 2807"/>
            </a:avLst>
          </a:prstGeom>
          <a:solidFill>
            <a:srgbClr val="F3F4F6"/>
          </a:solidFill>
          <a:ln w="12700">
            <a:solidFill>
              <a:srgbClr val="F3F4F6"/>
            </a:solidFill>
            <a:prstDash val="solid"/>
          </a:ln>
        </p:spPr>
      </p:sp>
      <p:sp>
        <p:nvSpPr>
          <p:cNvPr id="10" name="Text 8"/>
          <p:cNvSpPr txBox="1"/>
          <p:nvPr/>
        </p:nvSpPr>
        <p:spPr>
          <a:xfrm>
            <a:off x="6291072" y="1161288"/>
            <a:ext cx="2331720" cy="384048"/>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Fast GPU inference</a:t>
            </a:r>
            <a:endParaRPr lang="en-US" sz="1500" dirty="0"/>
          </a:p>
        </p:txBody>
      </p:sp>
      <p:sp>
        <p:nvSpPr>
          <p:cNvPr id="11" name="Text 9"/>
          <p:cNvSpPr txBox="1"/>
          <p:nvPr/>
        </p:nvSpPr>
        <p:spPr>
          <a:xfrm>
            <a:off x="6291072" y="1581912"/>
            <a:ext cx="2331720" cy="1965960"/>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Small models at batch 1 are bound by launch overhead and data movement. Remedies: CUDA Graphs, compilers, FlashAttention, and megakernels: one GPU program for a whole computation.</a:t>
            </a:r>
            <a:endParaRPr lang="en-US" sz="1150" dirty="0"/>
          </a:p>
        </p:txBody>
      </p:sp>
      <p:sp>
        <p:nvSpPr>
          <p:cNvPr id="12" name="Text 10"/>
          <p:cNvSpPr txBox="1"/>
          <p:nvPr/>
        </p:nvSpPr>
        <p:spPr>
          <a:xfrm>
            <a:off x="457200" y="3840480"/>
            <a:ext cx="8229600" cy="91440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Research gap. </a:t>
            </a:r>
            <a:pPr indent="0" marL="0">
              <a:buNone/>
            </a:pPr>
            <a:r>
              <a:rPr lang="en-US" sz="1200" dirty="0">
                <a:solidFill>
                  <a:srgbClr val="1B1B1B"/>
                </a:solidFill>
                <a:latin typeface="Calibri" pitchFamily="34" charset="0"/>
                <a:ea typeface="Calibri" pitchFamily="34" charset="-122"/>
                <a:cs typeface="Calibri" pitchFamily="34" charset="-120"/>
              </a:rPr>
              <a:t>No prior work has profiled where a world-model planner's latency is spent, measured whether sample-efficient search saves time in practice, or fused a whole planning loop, with a neural encoder, rollouts, scoring and elite selection, into one GPU program.</a:t>
            </a:r>
            <a:endParaRPr lang="en-US" sz="1200" dirty="0"/>
          </a:p>
        </p:txBody>
      </p:sp>
      <p:sp>
        <p:nvSpPr>
          <p:cNvPr id="14" name="Text 11"/>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Methodology</a:t>
            </a:r>
            <a:endParaRPr lang="en-US" sz="2800" dirty="0"/>
          </a:p>
        </p:txBody>
      </p:sp>
      <p:pic>
        <p:nvPicPr>
          <p:cNvPr id="3" name="Image 0" descr="preencoded.png">    </p:cNvPr>
          <p:cNvPicPr>
            <a:picLocks noChangeAspect="1"/>
          </p:cNvPicPr>
          <p:nvPr/>
        </p:nvPicPr>
        <p:blipFill>
          <a:blip r:embed="rId1"/>
          <a:stretch>
            <a:fillRect/>
          </a:stretch>
        </p:blipFill>
        <p:spPr>
          <a:xfrm>
            <a:off x="1902372" y="960120"/>
            <a:ext cx="5339255" cy="1828800"/>
          </a:xfrm>
          <a:prstGeom prst="rect">
            <a:avLst/>
          </a:prstGeom>
        </p:spPr>
      </p:pic>
      <p:sp>
        <p:nvSpPr>
          <p:cNvPr id="4" name="Shape 1"/>
          <p:cNvSpPr/>
          <p:nvPr/>
        </p:nvSpPr>
        <p:spPr>
          <a:xfrm>
            <a:off x="457200" y="2926080"/>
            <a:ext cx="2651760" cy="1783080"/>
          </a:xfrm>
          <a:prstGeom prst="roundRect">
            <a:avLst>
              <a:gd name="adj" fmla="val 4103"/>
            </a:avLst>
          </a:prstGeom>
          <a:solidFill>
            <a:srgbClr val="E9F1FC"/>
          </a:solidFill>
          <a:ln w="12700">
            <a:solidFill>
              <a:srgbClr val="E9F1FC"/>
            </a:solidFill>
            <a:prstDash val="solid"/>
          </a:ln>
        </p:spPr>
      </p:sp>
      <p:sp>
        <p:nvSpPr>
          <p:cNvPr id="5" name="Text 2"/>
          <p:cNvSpPr txBox="1"/>
          <p:nvPr/>
        </p:nvSpPr>
        <p:spPr>
          <a:xfrm>
            <a:off x="621792" y="3035808"/>
            <a:ext cx="2331720" cy="384048"/>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Data</a:t>
            </a:r>
            <a:endParaRPr lang="en-US" sz="1500" dirty="0"/>
          </a:p>
        </p:txBody>
      </p:sp>
      <p:sp>
        <p:nvSpPr>
          <p:cNvPr id="6" name="Text 3"/>
          <p:cNvSpPr txBox="1"/>
          <p:nvPr/>
        </p:nvSpPr>
        <p:spPr>
          <a:xfrm>
            <a:off x="621792" y="3456432"/>
            <a:ext cx="2331720" cy="1143000"/>
          </a:xfrm>
          <a:prstGeom prst="rect">
            <a:avLst/>
          </a:prstGeom>
          <a:noFill/>
          <a:ln/>
        </p:spPr>
        <p:txBody>
          <a:bodyPr wrap="square" lIns="0" tIns="0" rIns="0" bIns="0" rtlCol="0" anchor="t"/>
          <a:lstStyle/>
          <a:p>
            <a:pPr indent="0" marL="0">
              <a:buNone/>
            </a:pPr>
            <a:r>
              <a:rPr lang="en-US" sz="1050" dirty="0">
                <a:solidFill>
                  <a:srgbClr val="1B1B1B"/>
                </a:solidFill>
                <a:latin typeface="Calibri" pitchFamily="34" charset="0"/>
                <a:ea typeface="Calibri" pitchFamily="34" charset="-122"/>
                <a:cs typeface="Calibri" pitchFamily="34" charset="-120"/>
              </a:rPr>
              <a:t>11,942 timed policy calls (61 one-robot episodes × 3 systems + 4 probes), 900 episode outcomes, telemetry, component timings.</a:t>
            </a:r>
            <a:endParaRPr lang="en-US" sz="1050" dirty="0"/>
          </a:p>
        </p:txBody>
      </p:sp>
      <p:sp>
        <p:nvSpPr>
          <p:cNvPr id="7" name="Shape 4"/>
          <p:cNvSpPr/>
          <p:nvPr/>
        </p:nvSpPr>
        <p:spPr>
          <a:xfrm>
            <a:off x="3291840" y="2926080"/>
            <a:ext cx="2651760" cy="1783080"/>
          </a:xfrm>
          <a:prstGeom prst="roundRect">
            <a:avLst>
              <a:gd name="adj" fmla="val 4103"/>
            </a:avLst>
          </a:prstGeom>
          <a:solidFill>
            <a:srgbClr val="E9F1FC"/>
          </a:solidFill>
          <a:ln w="12700">
            <a:solidFill>
              <a:srgbClr val="E9F1FC"/>
            </a:solidFill>
            <a:prstDash val="solid"/>
          </a:ln>
        </p:spPr>
      </p:sp>
      <p:sp>
        <p:nvSpPr>
          <p:cNvPr id="8" name="Text 5"/>
          <p:cNvSpPr txBox="1"/>
          <p:nvPr/>
        </p:nvSpPr>
        <p:spPr>
          <a:xfrm>
            <a:off x="3456432" y="3035808"/>
            <a:ext cx="2331720" cy="384048"/>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Analysis</a:t>
            </a:r>
            <a:endParaRPr lang="en-US" sz="1500" dirty="0"/>
          </a:p>
        </p:txBody>
      </p:sp>
      <p:sp>
        <p:nvSpPr>
          <p:cNvPr id="9" name="Text 6"/>
          <p:cNvSpPr txBox="1"/>
          <p:nvPr/>
        </p:nvSpPr>
        <p:spPr>
          <a:xfrm>
            <a:off x="3456432" y="3456432"/>
            <a:ext cx="2331720" cy="1143000"/>
          </a:xfrm>
          <a:prstGeom prst="rect">
            <a:avLst/>
          </a:prstGeom>
          <a:noFill/>
          <a:ln/>
        </p:spPr>
        <p:txBody>
          <a:bodyPr wrap="square" lIns="0" tIns="0" rIns="0" bIns="0" rtlCol="0" anchor="t"/>
          <a:lstStyle/>
          <a:p>
            <a:pPr indent="0" marL="0">
              <a:buNone/>
            </a:pPr>
            <a:r>
              <a:rPr lang="en-US" sz="1050" dirty="0">
                <a:solidFill>
                  <a:srgbClr val="1B1B1B"/>
                </a:solidFill>
                <a:latin typeface="Calibri" pitchFamily="34" charset="0"/>
                <a:ea typeface="Calibri" pitchFamily="34" charset="-122"/>
                <a:cs typeface="Calibri" pitchFamily="34" charset="-120"/>
              </a:rPr>
              <a:t>Warm-up removal and outlier flags; stage decomposition; a fitted model latency = a + b·N separating fixed overhead from work.</a:t>
            </a:r>
            <a:endParaRPr lang="en-US" sz="1050" dirty="0"/>
          </a:p>
        </p:txBody>
      </p:sp>
      <p:sp>
        <p:nvSpPr>
          <p:cNvPr id="10" name="Shape 7"/>
          <p:cNvSpPr/>
          <p:nvPr/>
        </p:nvSpPr>
        <p:spPr>
          <a:xfrm>
            <a:off x="6126480" y="2926080"/>
            <a:ext cx="2651760" cy="1783080"/>
          </a:xfrm>
          <a:prstGeom prst="roundRect">
            <a:avLst>
              <a:gd name="adj" fmla="val 4103"/>
            </a:avLst>
          </a:prstGeom>
          <a:solidFill>
            <a:srgbClr val="E9F1FC"/>
          </a:solidFill>
          <a:ln w="12700">
            <a:solidFill>
              <a:srgbClr val="E9F1FC"/>
            </a:solidFill>
            <a:prstDash val="solid"/>
          </a:ln>
        </p:spPr>
      </p:sp>
      <p:sp>
        <p:nvSpPr>
          <p:cNvPr id="11" name="Text 8"/>
          <p:cNvSpPr txBox="1"/>
          <p:nvPr/>
        </p:nvSpPr>
        <p:spPr>
          <a:xfrm>
            <a:off x="6291072" y="3035808"/>
            <a:ext cx="2331720" cy="384048"/>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Evaluation</a:t>
            </a:r>
            <a:endParaRPr lang="en-US" sz="1500" dirty="0"/>
          </a:p>
        </p:txBody>
      </p:sp>
      <p:sp>
        <p:nvSpPr>
          <p:cNvPr id="12" name="Text 9"/>
          <p:cNvSpPr txBox="1"/>
          <p:nvPr/>
        </p:nvSpPr>
        <p:spPr>
          <a:xfrm>
            <a:off x="6291072" y="3456432"/>
            <a:ext cx="2331720" cy="1143000"/>
          </a:xfrm>
          <a:prstGeom prst="rect">
            <a:avLst/>
          </a:prstGeom>
          <a:noFill/>
          <a:ln/>
        </p:spPr>
        <p:txBody>
          <a:bodyPr wrap="square" lIns="0" tIns="0" rIns="0" bIns="0" rtlCol="0" anchor="t"/>
          <a:lstStyle/>
          <a:p>
            <a:pPr indent="0" marL="0">
              <a:buNone/>
            </a:pPr>
            <a:r>
              <a:rPr lang="en-US" sz="1050" dirty="0">
                <a:solidFill>
                  <a:srgbClr val="1B1B1B"/>
                </a:solidFill>
                <a:latin typeface="Calibri" pitchFamily="34" charset="0"/>
                <a:ea typeface="Calibri" pitchFamily="34" charset="-122"/>
                <a:cs typeface="Calibri" pitchFamily="34" charset="-120"/>
              </a:rPr>
              <a:t>Medians with bootstrap CIs; 300 paired episodes, McNemar and paired bootstrap; numerical error against FP32.</a:t>
            </a:r>
            <a:endParaRPr lang="en-US" sz="1050" dirty="0"/>
          </a:p>
        </p:txBody>
      </p:sp>
      <p:sp>
        <p:nvSpPr>
          <p:cNvPr id="14" name="Text 10"/>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Compute profile of the reference planner</a:t>
            </a:r>
            <a:endParaRPr lang="en-US" sz="2800" dirty="0"/>
          </a:p>
        </p:txBody>
      </p:sp>
      <p:pic>
        <p:nvPicPr>
          <p:cNvPr id="3" name="Image 0" descr="preencoded.png">    </p:cNvPr>
          <p:cNvPicPr>
            <a:picLocks noChangeAspect="1"/>
          </p:cNvPicPr>
          <p:nvPr/>
        </p:nvPicPr>
        <p:blipFill>
          <a:blip r:embed="rId1"/>
          <a:stretch>
            <a:fillRect/>
          </a:stretch>
        </p:blipFill>
        <p:spPr>
          <a:xfrm>
            <a:off x="797742" y="960120"/>
            <a:ext cx="4805316" cy="2286000"/>
          </a:xfrm>
          <a:prstGeom prst="rect">
            <a:avLst/>
          </a:prstGeom>
        </p:spPr>
      </p:pic>
      <p:sp>
        <p:nvSpPr>
          <p:cNvPr id="4" name="Text 1"/>
          <p:cNvSpPr txBox="1"/>
          <p:nvPr/>
        </p:nvSpPr>
        <p:spPr>
          <a:xfrm>
            <a:off x="6126480" y="1051560"/>
            <a:ext cx="2651760" cy="356616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33%: re-encoding the same two images 60 times per plan (telemetry: 60 encoder calls, 2 distinct images).</a:t>
            </a:r>
            <a:endParaRPr lang="en-US" sz="1150" dirty="0"/>
          </a:p>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59%: the search, 12.3 ms per iteration, 409 µs per layer for about 3 µs of arithmetic.</a:t>
            </a:r>
            <a:endParaRPr lang="en-US" sz="1150" dirty="0"/>
          </a:p>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7%: CPU synchronisation between iterations.</a:t>
            </a:r>
            <a:endParaRPr lang="en-US" sz="1150" dirty="0"/>
          </a:p>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Under 1%: the policy code around the planner.</a:t>
            </a:r>
            <a:endParaRPr lang="en-US" sz="1150" dirty="0"/>
          </a:p>
        </p:txBody>
      </p:sp>
      <p:sp>
        <p:nvSpPr>
          <p:cNvPr id="5" name="Text 2"/>
          <p:cNvSpPr txBox="1"/>
          <p:nvPr/>
        </p:nvSpPr>
        <p:spPr>
          <a:xfrm>
            <a:off x="457200" y="3429000"/>
            <a:ext cx="5486400" cy="274320"/>
          </a:xfrm>
          <a:prstGeom prst="rect">
            <a:avLst/>
          </a:prstGeom>
          <a:noFill/>
          <a:ln/>
        </p:spPr>
        <p:txBody>
          <a:bodyPr wrap="square" lIns="0" tIns="0" rIns="0" bIns="0" rtlCol="0" anchor="ctr"/>
          <a:lstStyle/>
          <a:p>
            <a:pPr indent="0" marL="0">
              <a:buNone/>
            </a:pPr>
            <a:r>
              <a:rPr lang="en-US" sz="1000" i="1" dirty="0">
                <a:solidFill>
                  <a:srgbClr val="5A5A5A"/>
                </a:solidFill>
                <a:latin typeface="Calibri" pitchFamily="34" charset="0"/>
                <a:ea typeface="Calibri" pitchFamily="34" charset="-122"/>
                <a:cs typeface="Calibri" pitchFamily="34" charset="-120"/>
              </a:rPr>
              <a:t>Top bar: reference planner, by stage. Bottom bar: LeWM-MK (Section 6). Stages without a direct measurement attributed by difference.</a:t>
            </a:r>
            <a:endParaRPr lang="en-US" sz="1000" dirty="0"/>
          </a:p>
        </p:txBody>
      </p:sp>
      <p:sp>
        <p:nvSpPr>
          <p:cNvPr id="7" name="Text 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Latency scaling analysis</a:t>
            </a:r>
            <a:endParaRPr lang="en-US" sz="2800" dirty="0"/>
          </a:p>
        </p:txBody>
      </p:sp>
      <p:pic>
        <p:nvPicPr>
          <p:cNvPr id="3" name="Image 0" descr="preencoded.png">    </p:cNvPr>
          <p:cNvPicPr>
            <a:picLocks noChangeAspect="1"/>
          </p:cNvPicPr>
          <p:nvPr/>
        </p:nvPicPr>
        <p:blipFill>
          <a:blip r:embed="rId1"/>
          <a:stretch>
            <a:fillRect/>
          </a:stretch>
        </p:blipFill>
        <p:spPr>
          <a:xfrm>
            <a:off x="606829" y="960120"/>
            <a:ext cx="5187142" cy="2377440"/>
          </a:xfrm>
          <a:prstGeom prst="rect">
            <a:avLst/>
          </a:prstGeom>
        </p:spPr>
      </p:pic>
      <p:sp>
        <p:nvSpPr>
          <p:cNvPr id="4" name="Shape 1"/>
          <p:cNvSpPr/>
          <p:nvPr/>
        </p:nvSpPr>
        <p:spPr>
          <a:xfrm>
            <a:off x="6217920" y="1051560"/>
            <a:ext cx="1234440" cy="1051560"/>
          </a:xfrm>
          <a:prstGeom prst="roundRect">
            <a:avLst>
              <a:gd name="adj" fmla="val 6957"/>
            </a:avLst>
          </a:prstGeom>
          <a:solidFill>
            <a:srgbClr val="F3F4F6"/>
          </a:solidFill>
          <a:ln w="12700">
            <a:solidFill>
              <a:srgbClr val="F3F4F6"/>
            </a:solidFill>
            <a:prstDash val="solid"/>
          </a:ln>
        </p:spPr>
      </p:sp>
      <p:sp>
        <p:nvSpPr>
          <p:cNvPr id="5" name="Text 2"/>
          <p:cNvSpPr txBox="1"/>
          <p:nvPr/>
        </p:nvSpPr>
        <p:spPr>
          <a:xfrm>
            <a:off x="6355080" y="1143000"/>
            <a:ext cx="960120" cy="578358"/>
          </a:xfrm>
          <a:prstGeom prst="rect">
            <a:avLst/>
          </a:prstGeom>
          <a:noFill/>
          <a:ln/>
        </p:spPr>
        <p:txBody>
          <a:bodyPr wrap="square" lIns="0" tIns="0" rIns="0" bIns="0" rtlCol="0" anchor="ctr"/>
          <a:lstStyle/>
          <a:p>
            <a:pPr algn="ctr" indent="0" marL="0">
              <a:buNone/>
            </a:pPr>
            <a:r>
              <a:rPr lang="en-US" sz="2600" b="1" dirty="0">
                <a:solidFill>
                  <a:srgbClr val="EB6834"/>
                </a:solidFill>
                <a:latin typeface="Cambria" pitchFamily="34" charset="0"/>
                <a:ea typeface="Cambria" pitchFamily="34" charset="-122"/>
                <a:cs typeface="Cambria" pitchFamily="34" charset="-120"/>
              </a:rPr>
              <a:t>99%</a:t>
            </a:r>
            <a:endParaRPr lang="en-US" sz="2600" dirty="0"/>
          </a:p>
        </p:txBody>
      </p:sp>
      <p:sp>
        <p:nvSpPr>
          <p:cNvPr id="6" name="Text 3"/>
          <p:cNvSpPr txBox="1"/>
          <p:nvPr/>
        </p:nvSpPr>
        <p:spPr>
          <a:xfrm>
            <a:off x="6355080" y="1682496"/>
            <a:ext cx="960120" cy="399593"/>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of an eager call</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is fixed cost</a:t>
            </a:r>
            <a:endParaRPr lang="en-US" sz="1000" dirty="0"/>
          </a:p>
        </p:txBody>
      </p:sp>
      <p:sp>
        <p:nvSpPr>
          <p:cNvPr id="7" name="Shape 4"/>
          <p:cNvSpPr/>
          <p:nvPr/>
        </p:nvSpPr>
        <p:spPr>
          <a:xfrm>
            <a:off x="7543800" y="1051560"/>
            <a:ext cx="1234440" cy="1051560"/>
          </a:xfrm>
          <a:prstGeom prst="roundRect">
            <a:avLst>
              <a:gd name="adj" fmla="val 6957"/>
            </a:avLst>
          </a:prstGeom>
          <a:solidFill>
            <a:srgbClr val="F3F4F6"/>
          </a:solidFill>
          <a:ln w="12700">
            <a:solidFill>
              <a:srgbClr val="F3F4F6"/>
            </a:solidFill>
            <a:prstDash val="solid"/>
          </a:ln>
        </p:spPr>
      </p:sp>
      <p:sp>
        <p:nvSpPr>
          <p:cNvPr id="8" name="Text 5"/>
          <p:cNvSpPr txBox="1"/>
          <p:nvPr/>
        </p:nvSpPr>
        <p:spPr>
          <a:xfrm>
            <a:off x="7680960" y="1143000"/>
            <a:ext cx="960120" cy="578358"/>
          </a:xfrm>
          <a:prstGeom prst="rect">
            <a:avLst/>
          </a:prstGeom>
          <a:noFill/>
          <a:ln/>
        </p:spPr>
        <p:txBody>
          <a:bodyPr wrap="square" lIns="0" tIns="0" rIns="0" bIns="0" rtlCol="0" anchor="ctr"/>
          <a:lstStyle/>
          <a:p>
            <a:pPr algn="ctr" indent="0" marL="0">
              <a:buNone/>
            </a:pPr>
            <a:r>
              <a:rPr lang="en-US" sz="2400" b="1" dirty="0">
                <a:solidFill>
                  <a:srgbClr val="EB6834"/>
                </a:solidFill>
                <a:latin typeface="Cambria" pitchFamily="34" charset="0"/>
                <a:ea typeface="Cambria" pitchFamily="34" charset="-122"/>
                <a:cs typeface="Cambria" pitchFamily="34" charset="-120"/>
              </a:rPr>
              <a:t>1.01×</a:t>
            </a:r>
            <a:endParaRPr lang="en-US" sz="2400" dirty="0"/>
          </a:p>
        </p:txBody>
      </p:sp>
      <p:sp>
        <p:nvSpPr>
          <p:cNvPr id="9" name="Text 6"/>
          <p:cNvSpPr txBox="1"/>
          <p:nvPr/>
        </p:nvSpPr>
        <p:spPr>
          <a:xfrm>
            <a:off x="7680960" y="1682496"/>
            <a:ext cx="960120" cy="399593"/>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predicted iCEM</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gain, eager</a:t>
            </a:r>
            <a:endParaRPr lang="en-US" sz="1000" dirty="0"/>
          </a:p>
        </p:txBody>
      </p:sp>
      <p:sp>
        <p:nvSpPr>
          <p:cNvPr id="10" name="Text 7"/>
          <p:cNvSpPr txBox="1"/>
          <p:nvPr/>
        </p:nvSpPr>
        <p:spPr>
          <a:xfrm>
            <a:off x="6217920" y="2286000"/>
            <a:ext cx="2560320" cy="237744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Fitted model: 20.0 ms fixed + 0.10 ms per 100 candidates. Latency is effectively independent of workload.</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Reducing the candidate count (iCEM) therefore yields no gain: predicted 1.01×, observed 0.92×.</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A gain requires an execution model with low fixed cost per call.</a:t>
            </a:r>
            <a:endParaRPr lang="en-US" sz="1100" dirty="0"/>
          </a:p>
        </p:txBody>
      </p:sp>
      <p:sp>
        <p:nvSpPr>
          <p:cNvPr id="11" name="Text 8"/>
          <p:cNvSpPr txBox="1"/>
          <p:nvPr/>
        </p:nvSpPr>
        <p:spPr>
          <a:xfrm>
            <a:off x="457200" y="3429000"/>
            <a:ext cx="5486400" cy="274320"/>
          </a:xfrm>
          <a:prstGeom prst="rect">
            <a:avLst/>
          </a:prstGeom>
          <a:noFill/>
          <a:ln/>
        </p:spPr>
        <p:txBody>
          <a:bodyPr wrap="square" lIns="0" tIns="0" rIns="0" bIns="0" rtlCol="0" anchor="ctr"/>
          <a:lstStyle/>
          <a:p>
            <a:pPr indent="0" marL="0">
              <a:buNone/>
            </a:pPr>
            <a:r>
              <a:rPr lang="en-US" sz="1000" i="1" dirty="0">
                <a:solidFill>
                  <a:srgbClr val="5A5A5A"/>
                </a:solidFill>
                <a:latin typeface="Calibri" pitchFamily="34" charset="0"/>
                <a:ea typeface="Calibri" pitchFamily="34" charset="-122"/>
                <a:cs typeface="Calibri" pitchFamily="34" charset="-120"/>
              </a:rPr>
              <a:t>Latency of one scoring call vs number of candidates, with fitted lines a + b·N.</a:t>
            </a:r>
            <a:endParaRPr lang="en-US" sz="1000" dirty="0"/>
          </a:p>
        </p:txBody>
      </p:sp>
      <p:sp>
        <p:nvSpPr>
          <p:cNvPr id="13" name="Text 9"/>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Solution design: LeWM-MK</a:t>
            </a:r>
            <a:endParaRPr lang="en-US" sz="2800" dirty="0"/>
          </a:p>
        </p:txBody>
      </p:sp>
      <p:pic>
        <p:nvPicPr>
          <p:cNvPr id="3" name="Image 0" descr="preencoded.png">    </p:cNvPr>
          <p:cNvPicPr>
            <a:picLocks noChangeAspect="1"/>
          </p:cNvPicPr>
          <p:nvPr/>
        </p:nvPicPr>
        <p:blipFill>
          <a:blip r:embed="rId1"/>
          <a:stretch>
            <a:fillRect/>
          </a:stretch>
        </p:blipFill>
        <p:spPr>
          <a:xfrm>
            <a:off x="457200" y="1341764"/>
            <a:ext cx="5394960" cy="2802873"/>
          </a:xfrm>
          <a:prstGeom prst="rect">
            <a:avLst/>
          </a:prstGeom>
        </p:spPr>
      </p:pic>
      <p:sp>
        <p:nvSpPr>
          <p:cNvPr id="4" name="Text 1"/>
          <p:cNvSpPr txBox="1"/>
          <p:nvPr/>
        </p:nvSpPr>
        <p:spPr>
          <a:xfrm>
            <a:off x="6035040" y="1051560"/>
            <a:ext cx="2743200" cy="365760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Encode each image once; cache the goal for the episode.</a:t>
            </a:r>
            <a:endParaRPr lang="en-US" sz="1150" dirty="0"/>
          </a:p>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iCEM search: 2,820 instead of 9,000 imagined futures.</a:t>
            </a:r>
            <a:endParaRPr lang="en-US" sz="1150" dirty="0"/>
          </a:p>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Whole plan in one persistent kernel: sampling, rollouts, scoring, elite selection, encoder; the CPU waits once.</a:t>
            </a:r>
            <a:endParaRPr lang="en-US" sz="1150" dirty="0"/>
          </a:p>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Small model spread across a 16-processor cluster; partial results exchanged on chip; barrier 3.6 → 0.65 µs.</a:t>
            </a:r>
            <a:endParaRPr lang="en-US" sz="1150" dirty="0"/>
          </a:p>
          <a:p>
            <a:pPr marL="177800" indent="-177800">
              <a:spcAft>
                <a:spcPts val="700"/>
              </a:spcAft>
              <a:buSzPct val="100000"/>
              <a:buChar char="•"/>
            </a:pPr>
            <a:r>
              <a:rPr lang="en-US" sz="1150" dirty="0">
                <a:solidFill>
                  <a:srgbClr val="1B1B1B"/>
                </a:solidFill>
                <a:latin typeface="Calibri" pitchFamily="34" charset="0"/>
                <a:ea typeface="Calibri" pitchFamily="34" charset="-122"/>
                <a:cs typeface="Calibri" pitchFamily="34" charset="-120"/>
              </a:rPr>
              <a:t>Weights streamed ahead of use; BF16 inputs, FP32 accumulation.</a:t>
            </a:r>
            <a:endParaRPr lang="en-US" sz="1150" dirty="0"/>
          </a:p>
        </p:txBody>
      </p:sp>
      <p:sp>
        <p:nvSpPr>
          <p:cNvPr id="6" name="Text 2"/>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Results: planning latency</a:t>
            </a:r>
            <a:endParaRPr lang="en-US" sz="2800" dirty="0"/>
          </a:p>
        </p:txBody>
      </p:sp>
      <p:pic>
        <p:nvPicPr>
          <p:cNvPr id="3" name="Image 0" descr="preencoded.png">    </p:cNvPr>
          <p:cNvPicPr>
            <a:picLocks noChangeAspect="1"/>
          </p:cNvPicPr>
          <p:nvPr/>
        </p:nvPicPr>
        <p:blipFill>
          <a:blip r:embed="rId1"/>
          <a:stretch>
            <a:fillRect/>
          </a:stretch>
        </p:blipFill>
        <p:spPr>
          <a:xfrm>
            <a:off x="457200" y="1237802"/>
            <a:ext cx="5669280" cy="1547756"/>
          </a:xfrm>
          <a:prstGeom prst="rect">
            <a:avLst/>
          </a:prstGeom>
        </p:spPr>
      </p:pic>
      <p:sp>
        <p:nvSpPr>
          <p:cNvPr id="4" name="Shape 1"/>
          <p:cNvSpPr/>
          <p:nvPr/>
        </p:nvSpPr>
        <p:spPr>
          <a:xfrm>
            <a:off x="6309360" y="1051560"/>
            <a:ext cx="1188720" cy="1005840"/>
          </a:xfrm>
          <a:prstGeom prst="roundRect">
            <a:avLst>
              <a:gd name="adj" fmla="val 7273"/>
            </a:avLst>
          </a:prstGeom>
          <a:solidFill>
            <a:srgbClr val="F3F4F6"/>
          </a:solidFill>
          <a:ln w="12700">
            <a:solidFill>
              <a:srgbClr val="F3F4F6"/>
            </a:solidFill>
            <a:prstDash val="solid"/>
          </a:ln>
        </p:spPr>
      </p:sp>
      <p:sp>
        <p:nvSpPr>
          <p:cNvPr id="5" name="Text 2"/>
          <p:cNvSpPr txBox="1"/>
          <p:nvPr/>
        </p:nvSpPr>
        <p:spPr>
          <a:xfrm>
            <a:off x="6446520" y="1143000"/>
            <a:ext cx="914400" cy="553212"/>
          </a:xfrm>
          <a:prstGeom prst="rect">
            <a:avLst/>
          </a:prstGeom>
          <a:noFill/>
          <a:ln/>
        </p:spPr>
        <p:txBody>
          <a:bodyPr wrap="square" lIns="0" tIns="0" rIns="0" bIns="0" rtlCol="0" anchor="ctr"/>
          <a:lstStyle/>
          <a:p>
            <a:pPr algn="ctr" indent="0" marL="0">
              <a:buNone/>
            </a:pPr>
            <a:r>
              <a:rPr lang="en-US" sz="2400" b="1" dirty="0">
                <a:solidFill>
                  <a:srgbClr val="2A78D6"/>
                </a:solidFill>
                <a:latin typeface="Cambria" pitchFamily="34" charset="0"/>
                <a:ea typeface="Cambria" pitchFamily="34" charset="-122"/>
                <a:cs typeface="Cambria" pitchFamily="34" charset="-120"/>
              </a:rPr>
              <a:t>13.4×</a:t>
            </a:r>
            <a:endParaRPr lang="en-US" sz="2400" dirty="0"/>
          </a:p>
        </p:txBody>
      </p:sp>
      <p:sp>
        <p:nvSpPr>
          <p:cNvPr id="6" name="Text 3"/>
          <p:cNvSpPr txBox="1"/>
          <p:nvPr/>
        </p:nvSpPr>
        <p:spPr>
          <a:xfrm>
            <a:off x="6446520" y="1655064"/>
            <a:ext cx="914400" cy="382219"/>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vs reference</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[13.0, 13.5]</a:t>
            </a:r>
            <a:endParaRPr lang="en-US" sz="1000" dirty="0"/>
          </a:p>
        </p:txBody>
      </p:sp>
      <p:sp>
        <p:nvSpPr>
          <p:cNvPr id="7" name="Shape 4"/>
          <p:cNvSpPr/>
          <p:nvPr/>
        </p:nvSpPr>
        <p:spPr>
          <a:xfrm>
            <a:off x="7589520" y="1051560"/>
            <a:ext cx="1188720" cy="1005840"/>
          </a:xfrm>
          <a:prstGeom prst="roundRect">
            <a:avLst>
              <a:gd name="adj" fmla="val 7273"/>
            </a:avLst>
          </a:prstGeom>
          <a:solidFill>
            <a:srgbClr val="F3F4F6"/>
          </a:solidFill>
          <a:ln w="12700">
            <a:solidFill>
              <a:srgbClr val="F3F4F6"/>
            </a:solidFill>
            <a:prstDash val="solid"/>
          </a:ln>
        </p:spPr>
      </p:sp>
      <p:sp>
        <p:nvSpPr>
          <p:cNvPr id="8" name="Text 5"/>
          <p:cNvSpPr txBox="1"/>
          <p:nvPr/>
        </p:nvSpPr>
        <p:spPr>
          <a:xfrm>
            <a:off x="7726680" y="1143000"/>
            <a:ext cx="914400" cy="553212"/>
          </a:xfrm>
          <a:prstGeom prst="rect">
            <a:avLst/>
          </a:prstGeom>
          <a:noFill/>
          <a:ln/>
        </p:spPr>
        <p:txBody>
          <a:bodyPr wrap="square" lIns="0" tIns="0" rIns="0" bIns="0" rtlCol="0" anchor="ctr"/>
          <a:lstStyle/>
          <a:p>
            <a:pPr algn="ctr" indent="0" marL="0">
              <a:buNone/>
            </a:pPr>
            <a:r>
              <a:rPr lang="en-US" sz="2400" b="1" dirty="0">
                <a:solidFill>
                  <a:srgbClr val="2A78D6"/>
                </a:solidFill>
                <a:latin typeface="Cambria" pitchFamily="34" charset="0"/>
                <a:ea typeface="Cambria" pitchFamily="34" charset="-122"/>
                <a:cs typeface="Cambria" pitchFamily="34" charset="-120"/>
              </a:rPr>
              <a:t>3.9×</a:t>
            </a:r>
            <a:endParaRPr lang="en-US" sz="2400" dirty="0"/>
          </a:p>
        </p:txBody>
      </p:sp>
      <p:sp>
        <p:nvSpPr>
          <p:cNvPr id="9" name="Text 6"/>
          <p:cNvSpPr txBox="1"/>
          <p:nvPr/>
        </p:nvSpPr>
        <p:spPr>
          <a:xfrm>
            <a:off x="7726680" y="1655064"/>
            <a:ext cx="914400" cy="382219"/>
          </a:xfrm>
          <a:prstGeom prst="rect">
            <a:avLst/>
          </a:prstGeom>
          <a:noFill/>
          <a:ln/>
        </p:spPr>
        <p:txBody>
          <a:bodyPr wrap="square" lIns="0" tIns="0" rIns="0" bIns="0" rtlCol="0" anchor="t"/>
          <a:lstStyle/>
          <a:p>
            <a:pPr algn="ctr" indent="0" marL="0">
              <a:buNone/>
            </a:pPr>
            <a:r>
              <a:rPr lang="en-US" sz="1000" dirty="0">
                <a:solidFill>
                  <a:srgbClr val="5A5A5A"/>
                </a:solidFill>
                <a:latin typeface="Calibri" pitchFamily="34" charset="0"/>
                <a:ea typeface="Calibri" pitchFamily="34" charset="-122"/>
                <a:cs typeface="Calibri" pitchFamily="34" charset="-120"/>
              </a:rPr>
              <a:t>vs optimised</a:t>
            </a:r>
            <a:endParaRPr lang="en-US" sz="1000" dirty="0"/>
          </a:p>
          <a:p>
            <a:pPr algn="ctr" indent="0" marL="0">
              <a:buNone/>
            </a:pPr>
            <a:r>
              <a:rPr lang="en-US" sz="1000" dirty="0">
                <a:solidFill>
                  <a:srgbClr val="5A5A5A"/>
                </a:solidFill>
                <a:latin typeface="Calibri" pitchFamily="34" charset="0"/>
                <a:ea typeface="Calibri" pitchFamily="34" charset="-122"/>
                <a:cs typeface="Calibri" pitchFamily="34" charset="-120"/>
              </a:rPr>
              <a:t>PyTorch</a:t>
            </a:r>
            <a:endParaRPr lang="en-US" sz="1000" dirty="0"/>
          </a:p>
        </p:txBody>
      </p:sp>
      <p:sp>
        <p:nvSpPr>
          <p:cNvPr id="10" name="Text 7"/>
          <p:cNvSpPr txBox="1"/>
          <p:nvPr/>
        </p:nvSpPr>
        <p:spPr>
          <a:xfrm>
            <a:off x="6309360" y="2240280"/>
            <a:ext cx="2468880" cy="237744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90th percentile 47.0 ms; interquartile range 0.7 ms wide.</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Fits a 20 Hz control loop at the median.</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Search now 46 µs per layer (was 409); synchronisation about 7% of it.</a:t>
            </a:r>
            <a:endParaRPr lang="en-US" sz="1100" dirty="0"/>
          </a:p>
        </p:txBody>
      </p:sp>
      <p:sp>
        <p:nvSpPr>
          <p:cNvPr id="11" name="Text 8"/>
          <p:cNvSpPr txBox="1"/>
          <p:nvPr/>
        </p:nvSpPr>
        <p:spPr>
          <a:xfrm>
            <a:off x="457200" y="3154680"/>
            <a:ext cx="5669280" cy="274320"/>
          </a:xfrm>
          <a:prstGeom prst="rect">
            <a:avLst/>
          </a:prstGeom>
          <a:noFill/>
          <a:ln/>
        </p:spPr>
        <p:txBody>
          <a:bodyPr wrap="square" lIns="0" tIns="0" rIns="0" bIns="0" rtlCol="0" anchor="ctr"/>
          <a:lstStyle/>
          <a:p>
            <a:pPr indent="0" marL="0">
              <a:buNone/>
            </a:pPr>
            <a:r>
              <a:rPr lang="en-US" sz="1000" i="1" dirty="0">
                <a:solidFill>
                  <a:srgbClr val="5A5A5A"/>
                </a:solidFill>
                <a:latin typeface="Calibri" pitchFamily="34" charset="0"/>
                <a:ea typeface="Calibri" pitchFamily="34" charset="-122"/>
                <a:cs typeface="Calibri" pitchFamily="34" charset="-120"/>
              </a:rPr>
              <a:t>End-to-end planning latency, log scale: median, interquartile box, 1.5-IQR whiskers, outlying plans. Baseline uses compile, CUDA Graphs and BF16.</a:t>
            </a:r>
            <a:endParaRPr lang="en-US" sz="1000" dirty="0"/>
          </a:p>
        </p:txBody>
      </p:sp>
      <p:sp>
        <p:nvSpPr>
          <p:cNvPr id="13" name="Text 9"/>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Results: task success and numerical fidelity</a:t>
            </a:r>
            <a:endParaRPr lang="en-US" sz="2800" dirty="0"/>
          </a:p>
        </p:txBody>
      </p:sp>
      <p:pic>
        <p:nvPicPr>
          <p:cNvPr id="3" name="Image 0" descr="preencoded.png">    </p:cNvPr>
          <p:cNvPicPr>
            <a:picLocks noChangeAspect="1"/>
          </p:cNvPicPr>
          <p:nvPr/>
        </p:nvPicPr>
        <p:blipFill>
          <a:blip r:embed="rId1"/>
          <a:stretch>
            <a:fillRect/>
          </a:stretch>
        </p:blipFill>
        <p:spPr>
          <a:xfrm>
            <a:off x="457200" y="1060164"/>
            <a:ext cx="5669280" cy="1628712"/>
          </a:xfrm>
          <a:prstGeom prst="rect">
            <a:avLst/>
          </a:prstGeom>
        </p:spPr>
      </p:pic>
      <p:sp>
        <p:nvSpPr>
          <p:cNvPr id="4" name="Text 1"/>
          <p:cNvSpPr txBox="1"/>
          <p:nvPr/>
        </p:nvSpPr>
        <p:spPr>
          <a:xfrm>
            <a:off x="6309360" y="1051560"/>
            <a:ext cx="2468880" cy="365760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261 / 261 / 260 successes of 300 for reference, optimised PyTorch and LeWM-MK.</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LeWM-MK vs reference: 19 won, 20 lost; −0.3 points [−4.3, +3.7]; McNemar p = 1.00.</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Discordant episodes reflect stochastic search; the optimised PyTorch planner is discordant on 36.</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Numerical error vs FP32: 0.06–0.32%, matching accepted BF16 (0.05–0.40%).</a:t>
            </a:r>
            <a:endParaRPr lang="en-US" sz="1100" dirty="0"/>
          </a:p>
        </p:txBody>
      </p:sp>
      <p:sp>
        <p:nvSpPr>
          <p:cNvPr id="5" name="Text 2"/>
          <p:cNvSpPr txBox="1"/>
          <p:nvPr/>
        </p:nvSpPr>
        <p:spPr>
          <a:xfrm>
            <a:off x="457200" y="2926080"/>
            <a:ext cx="5669280" cy="274320"/>
          </a:xfrm>
          <a:prstGeom prst="rect">
            <a:avLst/>
          </a:prstGeom>
          <a:noFill/>
          <a:ln/>
        </p:spPr>
        <p:txBody>
          <a:bodyPr wrap="square" lIns="0" tIns="0" rIns="0" bIns="0" rtlCol="0" anchor="ctr"/>
          <a:lstStyle/>
          <a:p>
            <a:pPr indent="0" marL="0">
              <a:buNone/>
            </a:pPr>
            <a:r>
              <a:rPr lang="en-US" sz="1000" i="1" dirty="0">
                <a:solidFill>
                  <a:srgbClr val="5A5A5A"/>
                </a:solidFill>
                <a:latin typeface="Calibri" pitchFamily="34" charset="0"/>
                <a:ea typeface="Calibri" pitchFamily="34" charset="-122"/>
                <a:cs typeface="Calibri" pitchFamily="34" charset="-120"/>
              </a:rPr>
              <a:t>Push-T success on the same 300 episodes, Wilson 95% intervals. 300 pairs detect differences of about 6 points.</a:t>
            </a:r>
            <a:endParaRPr lang="en-US" sz="1000" dirty="0"/>
          </a:p>
        </p:txBody>
      </p:sp>
      <p:sp>
        <p:nvSpPr>
          <p:cNvPr id="7" name="Text 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Conclusions and limitations</a:t>
            </a:r>
            <a:endParaRPr lang="en-US" sz="2800" dirty="0"/>
          </a:p>
        </p:txBody>
      </p:sp>
      <p:sp>
        <p:nvSpPr>
          <p:cNvPr id="3" name="Text 1"/>
          <p:cNvSpPr txBox="1"/>
          <p:nvPr/>
        </p:nvSpPr>
        <p:spPr>
          <a:xfrm>
            <a:off x="457200" y="1051560"/>
            <a:ext cx="640080" cy="502920"/>
          </a:xfrm>
          <a:prstGeom prst="rect">
            <a:avLst/>
          </a:prstGeom>
          <a:noFill/>
          <a:ln/>
        </p:spPr>
        <p:txBody>
          <a:bodyPr wrap="square" lIns="0" tIns="0" rIns="0" bIns="0" rtlCol="0" anchor="t"/>
          <a:lstStyle/>
          <a:p>
            <a:pPr indent="0" marL="0">
              <a:buNone/>
            </a:pPr>
            <a:r>
              <a:rPr lang="en-US" sz="1400" b="1" dirty="0">
                <a:solidFill>
                  <a:srgbClr val="2A78D6"/>
                </a:solidFill>
                <a:latin typeface="Cambria" pitchFamily="34" charset="0"/>
                <a:ea typeface="Cambria" pitchFamily="34" charset="-122"/>
                <a:cs typeface="Cambria" pitchFamily="34" charset="-120"/>
              </a:rPr>
              <a:t>O1</a:t>
            </a:r>
            <a:endParaRPr lang="en-US" sz="1400" dirty="0"/>
          </a:p>
        </p:txBody>
      </p:sp>
      <p:sp>
        <p:nvSpPr>
          <p:cNvPr id="4" name="Text 2"/>
          <p:cNvSpPr txBox="1"/>
          <p:nvPr/>
        </p:nvSpPr>
        <p:spPr>
          <a:xfrm>
            <a:off x="1143000" y="1051560"/>
            <a:ext cx="4160520" cy="713232"/>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The reference's time was overhead: 33% redundant encoding, a search 99% fixed cost per call, 7% CPU waits.</a:t>
            </a:r>
            <a:endParaRPr lang="en-US" sz="1150" dirty="0"/>
          </a:p>
        </p:txBody>
      </p:sp>
      <p:sp>
        <p:nvSpPr>
          <p:cNvPr id="5" name="Text 3"/>
          <p:cNvSpPr txBox="1"/>
          <p:nvPr/>
        </p:nvSpPr>
        <p:spPr>
          <a:xfrm>
            <a:off x="457200" y="1801368"/>
            <a:ext cx="640080" cy="502920"/>
          </a:xfrm>
          <a:prstGeom prst="rect">
            <a:avLst/>
          </a:prstGeom>
          <a:noFill/>
          <a:ln/>
        </p:spPr>
        <p:txBody>
          <a:bodyPr wrap="square" lIns="0" tIns="0" rIns="0" bIns="0" rtlCol="0" anchor="t"/>
          <a:lstStyle/>
          <a:p>
            <a:pPr indent="0" marL="0">
              <a:buNone/>
            </a:pPr>
            <a:r>
              <a:rPr lang="en-US" sz="1400" b="1" dirty="0">
                <a:solidFill>
                  <a:srgbClr val="2A78D6"/>
                </a:solidFill>
                <a:latin typeface="Cambria" pitchFamily="34" charset="0"/>
                <a:ea typeface="Cambria" pitchFamily="34" charset="-122"/>
                <a:cs typeface="Cambria" pitchFamily="34" charset="-120"/>
              </a:rPr>
              <a:t>O2</a:t>
            </a:r>
            <a:endParaRPr lang="en-US" sz="1400" dirty="0"/>
          </a:p>
        </p:txBody>
      </p:sp>
      <p:sp>
        <p:nvSpPr>
          <p:cNvPr id="6" name="Text 4"/>
          <p:cNvSpPr txBox="1"/>
          <p:nvPr/>
        </p:nvSpPr>
        <p:spPr>
          <a:xfrm>
            <a:off x="1143000" y="1801368"/>
            <a:ext cx="4160520" cy="713232"/>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LeWM-MK removes each bottleneck with the model and search budget unchanged.</a:t>
            </a:r>
            <a:endParaRPr lang="en-US" sz="1150" dirty="0"/>
          </a:p>
        </p:txBody>
      </p:sp>
      <p:sp>
        <p:nvSpPr>
          <p:cNvPr id="7" name="Text 5"/>
          <p:cNvSpPr txBox="1"/>
          <p:nvPr/>
        </p:nvSpPr>
        <p:spPr>
          <a:xfrm>
            <a:off x="457200" y="2551176"/>
            <a:ext cx="640080" cy="502920"/>
          </a:xfrm>
          <a:prstGeom prst="rect">
            <a:avLst/>
          </a:prstGeom>
          <a:noFill/>
          <a:ln/>
        </p:spPr>
        <p:txBody>
          <a:bodyPr wrap="square" lIns="0" tIns="0" rIns="0" bIns="0" rtlCol="0" anchor="t"/>
          <a:lstStyle/>
          <a:p>
            <a:pPr indent="0" marL="0">
              <a:buNone/>
            </a:pPr>
            <a:r>
              <a:rPr lang="en-US" sz="1400" b="1" dirty="0">
                <a:solidFill>
                  <a:srgbClr val="2A78D6"/>
                </a:solidFill>
                <a:latin typeface="Cambria" pitchFamily="34" charset="0"/>
                <a:ea typeface="Cambria" pitchFamily="34" charset="-122"/>
                <a:cs typeface="Cambria" pitchFamily="34" charset="-120"/>
              </a:rPr>
              <a:t>O3</a:t>
            </a:r>
            <a:endParaRPr lang="en-US" sz="1400" dirty="0"/>
          </a:p>
        </p:txBody>
      </p:sp>
      <p:sp>
        <p:nvSpPr>
          <p:cNvPr id="8" name="Text 6"/>
          <p:cNvSpPr txBox="1"/>
          <p:nvPr/>
        </p:nvSpPr>
        <p:spPr>
          <a:xfrm>
            <a:off x="1143000" y="2551176"/>
            <a:ext cx="4160520" cy="713232"/>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46.5 ms per plan: 13.4× the reference, 3.9× optimised PyTorch; success unchanged (−0.3 pts).</a:t>
            </a:r>
            <a:endParaRPr lang="en-US" sz="1150" dirty="0"/>
          </a:p>
        </p:txBody>
      </p:sp>
      <p:sp>
        <p:nvSpPr>
          <p:cNvPr id="9" name="Text 7"/>
          <p:cNvSpPr txBox="1"/>
          <p:nvPr/>
        </p:nvSpPr>
        <p:spPr>
          <a:xfrm>
            <a:off x="457200" y="3300984"/>
            <a:ext cx="640080" cy="502920"/>
          </a:xfrm>
          <a:prstGeom prst="rect">
            <a:avLst/>
          </a:prstGeom>
          <a:noFill/>
          <a:ln/>
        </p:spPr>
        <p:txBody>
          <a:bodyPr wrap="square" lIns="0" tIns="0" rIns="0" bIns="0" rtlCol="0" anchor="t"/>
          <a:lstStyle/>
          <a:p>
            <a:pPr indent="0" marL="0">
              <a:buNone/>
            </a:pPr>
            <a:r>
              <a:rPr lang="en-US" sz="1400" b="1" dirty="0">
                <a:solidFill>
                  <a:srgbClr val="2A78D6"/>
                </a:solidFill>
                <a:latin typeface="Cambria" pitchFamily="34" charset="0"/>
                <a:ea typeface="Cambria" pitchFamily="34" charset="-122"/>
                <a:cs typeface="Cambria" pitchFamily="34" charset="-120"/>
              </a:rPr>
              <a:t>O4</a:t>
            </a:r>
            <a:endParaRPr lang="en-US" sz="1400" dirty="0"/>
          </a:p>
        </p:txBody>
      </p:sp>
      <p:sp>
        <p:nvSpPr>
          <p:cNvPr id="10" name="Text 8"/>
          <p:cNvSpPr txBox="1"/>
          <p:nvPr/>
        </p:nvSpPr>
        <p:spPr>
          <a:xfrm>
            <a:off x="1143000" y="3300984"/>
            <a:ext cx="4160520" cy="713232"/>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Planner plug-in; one program regenerates every result from the data.</a:t>
            </a:r>
            <a:endParaRPr lang="en-US" sz="1150" dirty="0"/>
          </a:p>
        </p:txBody>
      </p:sp>
      <p:sp>
        <p:nvSpPr>
          <p:cNvPr id="11" name="Shape 9"/>
          <p:cNvSpPr/>
          <p:nvPr/>
        </p:nvSpPr>
        <p:spPr>
          <a:xfrm>
            <a:off x="5577840" y="1051560"/>
            <a:ext cx="3108960" cy="3566160"/>
          </a:xfrm>
          <a:prstGeom prst="roundRect">
            <a:avLst>
              <a:gd name="adj" fmla="val 2353"/>
            </a:avLst>
          </a:prstGeom>
          <a:solidFill>
            <a:srgbClr val="F3F4F6"/>
          </a:solidFill>
          <a:ln w="12700">
            <a:solidFill>
              <a:srgbClr val="F3F4F6"/>
            </a:solidFill>
            <a:prstDash val="solid"/>
          </a:ln>
        </p:spPr>
      </p:sp>
      <p:sp>
        <p:nvSpPr>
          <p:cNvPr id="12" name="Text 10"/>
          <p:cNvSpPr txBox="1"/>
          <p:nvPr/>
        </p:nvSpPr>
        <p:spPr>
          <a:xfrm>
            <a:off x="5760720" y="1161288"/>
            <a:ext cx="2743200" cy="36576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Limitations</a:t>
            </a:r>
            <a:endParaRPr lang="en-US" sz="1500" dirty="0"/>
          </a:p>
        </p:txBody>
      </p:sp>
      <p:sp>
        <p:nvSpPr>
          <p:cNvPr id="13" name="Text 11"/>
          <p:cNvSpPr txBox="1"/>
          <p:nvPr/>
        </p:nvSpPr>
        <p:spPr>
          <a:xfrm>
            <a:off x="5760720" y="1572768"/>
            <a:ext cx="2788920" cy="301752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300 paired episodes resolve differences of about 6 percentage points.</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Some profile stages are attributed by difference.</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One model, one task, one GPU type; H100-only kernel.</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Simulation only; only the planning call was optimised.</a:t>
            </a:r>
            <a:endParaRPr lang="en-US" sz="1100" dirty="0"/>
          </a:p>
          <a:p>
            <a:pPr marL="177800" indent="-177800">
              <a:spcAft>
                <a:spcPts val="700"/>
              </a:spcAft>
              <a:buSzPct val="100000"/>
              <a:buChar char="•"/>
            </a:pPr>
            <a:r>
              <a:rPr lang="en-US" sz="1100" dirty="0">
                <a:solidFill>
                  <a:srgbClr val="1B1B1B"/>
                </a:solidFill>
                <a:latin typeface="Calibri" pitchFamily="34" charset="0"/>
                <a:ea typeface="Calibri" pitchFamily="34" charset="-122"/>
                <a:cs typeface="Calibri" pitchFamily="34" charset="-120"/>
              </a:rPr>
              <a:t>PyTorch latency varied by up to 18% between passes; kernel latency by about 2%.</a:t>
            </a:r>
            <a:endParaRPr lang="en-US" sz="1100" dirty="0"/>
          </a:p>
        </p:txBody>
      </p:sp>
      <p:sp>
        <p:nvSpPr>
          <p:cNvPr id="15" name="Text 12"/>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Future work</a:t>
            </a:r>
            <a:endParaRPr lang="en-US" sz="2800" dirty="0"/>
          </a:p>
        </p:txBody>
      </p:sp>
      <p:sp>
        <p:nvSpPr>
          <p:cNvPr id="3" name="Shape 1"/>
          <p:cNvSpPr/>
          <p:nvPr/>
        </p:nvSpPr>
        <p:spPr>
          <a:xfrm>
            <a:off x="457200" y="1143000"/>
            <a:ext cx="365760" cy="365760"/>
          </a:xfrm>
          <a:prstGeom prst="ellipse">
            <a:avLst/>
          </a:prstGeom>
          <a:solidFill>
            <a:srgbClr val="2A78D6"/>
          </a:solidFill>
          <a:ln w="12700">
            <a:solidFill>
              <a:srgbClr val="FFFFFF"/>
            </a:solidFill>
            <a:prstDash val="solid"/>
          </a:ln>
        </p:spPr>
      </p:sp>
      <p:sp>
        <p:nvSpPr>
          <p:cNvPr id="4" name="Text 2"/>
          <p:cNvSpPr txBox="1"/>
          <p:nvPr/>
        </p:nvSpPr>
        <p:spPr>
          <a:xfrm>
            <a:off x="457200" y="1143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5" name="Text 3"/>
          <p:cNvSpPr txBox="1"/>
          <p:nvPr/>
        </p:nvSpPr>
        <p:spPr>
          <a:xfrm>
            <a:off x="960120" y="1097280"/>
            <a:ext cx="3566160" cy="1188720"/>
          </a:xfrm>
          <a:prstGeom prst="rect">
            <a:avLst/>
          </a:prstGeom>
          <a:noFill/>
          <a:ln/>
        </p:spPr>
        <p:txBody>
          <a:bodyPr wrap="square" lIns="0" tIns="0" rIns="0" bIns="0" rtlCol="0" anchor="t"/>
          <a:lstStyle/>
          <a:p>
            <a:pPr indent="0" marL="0">
              <a:spcAft>
                <a:spcPts val="200"/>
              </a:spcAft>
              <a:buNone/>
            </a:pPr>
            <a:r>
              <a:rPr lang="en-US" sz="1250" b="1" dirty="0">
                <a:solidFill>
                  <a:srgbClr val="14213D"/>
                </a:solidFill>
                <a:latin typeface="Calibri" pitchFamily="34" charset="0"/>
                <a:ea typeface="Calibri" pitchFamily="34" charset="-122"/>
                <a:cs typeface="Calibri" pitchFamily="34" charset="-120"/>
              </a:rPr>
              <a:t>Search budget versus task success</a:t>
            </a:r>
            <a:endParaRPr lang="en-US" sz="1250" dirty="0"/>
          </a:p>
          <a:p>
            <a:pPr indent="0" marL="0">
              <a:spcAft>
                <a:spcPts val="200"/>
              </a:spcAft>
              <a:buNone/>
            </a:pPr>
            <a:r>
              <a:rPr lang="en-US" sz="1250" dirty="0">
                <a:solidFill>
                  <a:srgbClr val="1B1B1B"/>
                </a:solidFill>
                <a:latin typeface="Calibri" pitchFamily="34" charset="0"/>
                <a:ea typeface="Calibri" pitchFamily="34" charset="-122"/>
                <a:cs typeface="Calibri" pitchFamily="34" charset="-120"/>
              </a:rPr>
              <a:t>Larger iteration and candidate budgets remain within a 100 ms control period; characterise the latency-success trade-off.</a:t>
            </a:r>
            <a:endParaRPr lang="en-US" sz="1250" dirty="0"/>
          </a:p>
        </p:txBody>
      </p:sp>
      <p:sp>
        <p:nvSpPr>
          <p:cNvPr id="6" name="Shape 4"/>
          <p:cNvSpPr/>
          <p:nvPr/>
        </p:nvSpPr>
        <p:spPr>
          <a:xfrm>
            <a:off x="4663440" y="1143000"/>
            <a:ext cx="365760" cy="365760"/>
          </a:xfrm>
          <a:prstGeom prst="ellipse">
            <a:avLst/>
          </a:prstGeom>
          <a:solidFill>
            <a:srgbClr val="2A78D6"/>
          </a:solidFill>
          <a:ln w="12700">
            <a:solidFill>
              <a:srgbClr val="FFFFFF"/>
            </a:solidFill>
            <a:prstDash val="solid"/>
          </a:ln>
        </p:spPr>
      </p:sp>
      <p:sp>
        <p:nvSpPr>
          <p:cNvPr id="7" name="Text 5"/>
          <p:cNvSpPr txBox="1"/>
          <p:nvPr/>
        </p:nvSpPr>
        <p:spPr>
          <a:xfrm>
            <a:off x="4663440" y="1143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8" name="Text 6"/>
          <p:cNvSpPr txBox="1"/>
          <p:nvPr/>
        </p:nvSpPr>
        <p:spPr>
          <a:xfrm>
            <a:off x="5166360" y="1097280"/>
            <a:ext cx="3566160" cy="1188720"/>
          </a:xfrm>
          <a:prstGeom prst="rect">
            <a:avLst/>
          </a:prstGeom>
          <a:noFill/>
          <a:ln/>
        </p:spPr>
        <p:txBody>
          <a:bodyPr wrap="square" lIns="0" tIns="0" rIns="0" bIns="0" rtlCol="0" anchor="t"/>
          <a:lstStyle/>
          <a:p>
            <a:pPr indent="0" marL="0">
              <a:spcAft>
                <a:spcPts val="200"/>
              </a:spcAft>
              <a:buNone/>
            </a:pPr>
            <a:r>
              <a:rPr lang="en-US" sz="1250" b="1" dirty="0">
                <a:solidFill>
                  <a:srgbClr val="14213D"/>
                </a:solidFill>
                <a:latin typeface="Calibri" pitchFamily="34" charset="0"/>
                <a:ea typeface="Calibri" pitchFamily="34" charset="-122"/>
                <a:cs typeface="Calibri" pitchFamily="34" charset="-120"/>
              </a:rPr>
              <a:t>Reducing the dependent computation chain</a:t>
            </a:r>
            <a:endParaRPr lang="en-US" sz="1250" dirty="0"/>
          </a:p>
          <a:p>
            <a:pPr indent="0" marL="0">
              <a:spcAft>
                <a:spcPts val="200"/>
              </a:spcAft>
              <a:buNone/>
            </a:pPr>
            <a:r>
              <a:rPr lang="en-US" sz="1250" dirty="0">
                <a:solidFill>
                  <a:srgbClr val="1B1B1B"/>
                </a:solidFill>
                <a:latin typeface="Calibri" pitchFamily="34" charset="0"/>
                <a:ea typeface="Calibri" pitchFamily="34" charset="-122"/>
                <a:cs typeface="Calibri" pitchFamily="34" charset="-120"/>
              </a:rPr>
              <a:t>Combination with single-pass rollout models; layer-per-cluster pipelining.</a:t>
            </a:r>
            <a:endParaRPr lang="en-US" sz="1250" dirty="0"/>
          </a:p>
        </p:txBody>
      </p:sp>
      <p:sp>
        <p:nvSpPr>
          <p:cNvPr id="9" name="Shape 7"/>
          <p:cNvSpPr/>
          <p:nvPr/>
        </p:nvSpPr>
        <p:spPr>
          <a:xfrm>
            <a:off x="457200" y="2606040"/>
            <a:ext cx="365760" cy="365760"/>
          </a:xfrm>
          <a:prstGeom prst="ellipse">
            <a:avLst/>
          </a:prstGeom>
          <a:solidFill>
            <a:srgbClr val="2A78D6"/>
          </a:solidFill>
          <a:ln w="12700">
            <a:solidFill>
              <a:srgbClr val="FFFFFF"/>
            </a:solidFill>
            <a:prstDash val="solid"/>
          </a:ln>
        </p:spPr>
      </p:sp>
      <p:sp>
        <p:nvSpPr>
          <p:cNvPr id="10" name="Text 8"/>
          <p:cNvSpPr txBox="1"/>
          <p:nvPr/>
        </p:nvSpPr>
        <p:spPr>
          <a:xfrm>
            <a:off x="457200" y="2606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1" name="Text 9"/>
          <p:cNvSpPr txBox="1"/>
          <p:nvPr/>
        </p:nvSpPr>
        <p:spPr>
          <a:xfrm>
            <a:off x="960120" y="2560320"/>
            <a:ext cx="3566160" cy="1188720"/>
          </a:xfrm>
          <a:prstGeom prst="rect">
            <a:avLst/>
          </a:prstGeom>
          <a:noFill/>
          <a:ln/>
        </p:spPr>
        <p:txBody>
          <a:bodyPr wrap="square" lIns="0" tIns="0" rIns="0" bIns="0" rtlCol="0" anchor="t"/>
          <a:lstStyle/>
          <a:p>
            <a:pPr indent="0" marL="0">
              <a:spcAft>
                <a:spcPts val="200"/>
              </a:spcAft>
              <a:buNone/>
            </a:pPr>
            <a:r>
              <a:rPr lang="en-US" sz="1250" b="1" dirty="0">
                <a:solidFill>
                  <a:srgbClr val="14213D"/>
                </a:solidFill>
                <a:latin typeface="Calibri" pitchFamily="34" charset="0"/>
                <a:ea typeface="Calibri" pitchFamily="34" charset="-122"/>
                <a:cs typeface="Calibri" pitchFamily="34" charset="-120"/>
              </a:rPr>
              <a:t>Generalisation to other models and hardware</a:t>
            </a:r>
            <a:endParaRPr lang="en-US" sz="1250" dirty="0"/>
          </a:p>
          <a:p>
            <a:pPr indent="0" marL="0">
              <a:spcAft>
                <a:spcPts val="200"/>
              </a:spcAft>
              <a:buNone/>
            </a:pPr>
            <a:r>
              <a:rPr lang="en-US" sz="1250" dirty="0">
                <a:solidFill>
                  <a:srgbClr val="1B1B1B"/>
                </a:solidFill>
                <a:latin typeface="Calibri" pitchFamily="34" charset="0"/>
                <a:ea typeface="Calibri" pitchFamily="34" charset="-122"/>
                <a:cs typeface="Calibri" pitchFamily="34" charset="-120"/>
              </a:rPr>
              <a:t>Larger world models, embedded robot computers, automatic megakernel compilation.</a:t>
            </a:r>
            <a:endParaRPr lang="en-US" sz="1250" dirty="0"/>
          </a:p>
        </p:txBody>
      </p:sp>
      <p:sp>
        <p:nvSpPr>
          <p:cNvPr id="12" name="Shape 10"/>
          <p:cNvSpPr/>
          <p:nvPr/>
        </p:nvSpPr>
        <p:spPr>
          <a:xfrm>
            <a:off x="4663440" y="2606040"/>
            <a:ext cx="365760" cy="365760"/>
          </a:xfrm>
          <a:prstGeom prst="ellipse">
            <a:avLst/>
          </a:prstGeom>
          <a:solidFill>
            <a:srgbClr val="2A78D6"/>
          </a:solidFill>
          <a:ln w="12700">
            <a:solidFill>
              <a:srgbClr val="FFFFFF"/>
            </a:solidFill>
            <a:prstDash val="solid"/>
          </a:ln>
        </p:spPr>
      </p:sp>
      <p:sp>
        <p:nvSpPr>
          <p:cNvPr id="13" name="Text 11"/>
          <p:cNvSpPr txBox="1"/>
          <p:nvPr/>
        </p:nvSpPr>
        <p:spPr>
          <a:xfrm>
            <a:off x="4663440" y="2606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4" name="Text 12"/>
          <p:cNvSpPr txBox="1"/>
          <p:nvPr/>
        </p:nvSpPr>
        <p:spPr>
          <a:xfrm>
            <a:off x="5166360" y="2560320"/>
            <a:ext cx="3566160" cy="1188720"/>
          </a:xfrm>
          <a:prstGeom prst="rect">
            <a:avLst/>
          </a:prstGeom>
          <a:noFill/>
          <a:ln/>
        </p:spPr>
        <p:txBody>
          <a:bodyPr wrap="square" lIns="0" tIns="0" rIns="0" bIns="0" rtlCol="0" anchor="t"/>
          <a:lstStyle/>
          <a:p>
            <a:pPr indent="0" marL="0">
              <a:spcAft>
                <a:spcPts val="200"/>
              </a:spcAft>
              <a:buNone/>
            </a:pPr>
            <a:r>
              <a:rPr lang="en-US" sz="1250" b="1" dirty="0">
                <a:solidFill>
                  <a:srgbClr val="14213D"/>
                </a:solidFill>
                <a:latin typeface="Calibri" pitchFamily="34" charset="0"/>
                <a:ea typeface="Calibri" pitchFamily="34" charset="-122"/>
                <a:cs typeface="Calibri" pitchFamily="34" charset="-120"/>
              </a:rPr>
              <a:t>Higher-resolution and physical evaluation</a:t>
            </a:r>
            <a:endParaRPr lang="en-US" sz="1250" dirty="0"/>
          </a:p>
          <a:p>
            <a:pPr indent="0" marL="0">
              <a:spcAft>
                <a:spcPts val="200"/>
              </a:spcAft>
              <a:buNone/>
            </a:pPr>
            <a:r>
              <a:rPr lang="en-US" sz="1250" dirty="0">
                <a:solidFill>
                  <a:srgbClr val="1B1B1B"/>
                </a:solidFill>
                <a:latin typeface="Calibri" pitchFamily="34" charset="0"/>
                <a:ea typeface="Calibri" pitchFamily="34" charset="-122"/>
                <a:cs typeface="Calibri" pitchFamily="34" charset="-120"/>
              </a:rPr>
              <a:t>Approximately 2,500 paired episodes to resolve 2 percentage points; evaluation on a physical robot.</a:t>
            </a:r>
            <a:endParaRPr lang="en-US" sz="1250" dirty="0"/>
          </a:p>
        </p:txBody>
      </p:sp>
      <p:sp>
        <p:nvSpPr>
          <p:cNvPr id="16" name="Text 1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900" dirty="0">
                <a:solidFill>
                  <a:srgbClr val="5A5A5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Summary</a:t>
            </a:r>
            <a:endParaRPr lang="en-US" sz="2800" dirty="0"/>
          </a:p>
        </p:txBody>
      </p:sp>
      <p:sp>
        <p:nvSpPr>
          <p:cNvPr id="3" name="Text 1"/>
          <p:cNvSpPr txBox="1"/>
          <p:nvPr/>
        </p:nvSpPr>
        <p:spPr>
          <a:xfrm>
            <a:off x="457200" y="1371600"/>
            <a:ext cx="8229600" cy="274320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The reference planner's latency was dominated by execution overhead, not arithmetic.</a:t>
            </a:r>
            <a:endParaRPr lang="en-US" sz="1700" dirty="0"/>
          </a:p>
          <a:p>
            <a:pPr marL="203200" indent="-2032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A linear latency-scaling model identified the bottleneck regime and predicted when iCEM reduces latency.</a:t>
            </a:r>
            <a:endParaRPr lang="en-US" sz="1700" dirty="0"/>
          </a:p>
          <a:p>
            <a:pPr marL="203200" indent="-203200">
              <a:buSzPct val="100000"/>
              <a:buChar char="•"/>
            </a:pPr>
            <a:r>
              <a:rPr lang="en-US" sz="1700" dirty="0">
                <a:solidFill>
                  <a:srgbClr val="FFFFFF"/>
                </a:solidFill>
                <a:latin typeface="Calibri" pitchFamily="34" charset="0"/>
                <a:ea typeface="Calibri" pitchFamily="34" charset="-122"/>
                <a:cs typeface="Calibri" pitchFamily="34" charset="-120"/>
              </a:rPr>
              <a:t>A single persistent GPU kernel per plan reduces latency from 622 ms to 46.5 ms on the same H100, with the same model and no detectable change in task success.</a:t>
            </a:r>
            <a:endParaRPr lang="en-US" sz="1700" dirty="0"/>
          </a:p>
        </p:txBody>
      </p:sp>
      <p:sp>
        <p:nvSpPr>
          <p:cNvPr id="4" name="Text 2"/>
          <p:cNvSpPr txBox="1"/>
          <p:nvPr/>
        </p:nvSpPr>
        <p:spPr>
          <a:xfrm>
            <a:off x="457200" y="4297680"/>
            <a:ext cx="822960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Report, datasets and solution program: docs/paper and solution_pack/ in the project repository.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at the Speed of Control</dc:title>
  <dc:subject>PptxGenJS Presentation</dc:subject>
  <dc:creator>Antoine Nguyen</dc:creator>
  <cp:lastModifiedBy>Antoine Nguyen</cp:lastModifiedBy>
  <cp:revision>1</cp:revision>
  <dcterms:created xsi:type="dcterms:W3CDTF">2026-10-28T03:44:36Z</dcterms:created>
  <dcterms:modified xsi:type="dcterms:W3CDTF">2026-10-28T03:44:36Z</dcterms:modified>
</cp:coreProperties>
</file>