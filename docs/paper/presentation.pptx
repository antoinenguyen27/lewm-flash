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asks why a robot that plans with an AI world model is slow, finds the answer in data, and fixes it. The title is the outcome: planning fast enough for a control loop, with the same model and the same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keep in mind: 622 milliseconds before, 46.5 after, thirteen times faster, and no change in how often the robot succeeds. The rest of the talk explains how the data led from the first number to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is control. Larger world models take tens of seconds per plan. LeWM brought that under a second by being small. But a robot needs tens of milliseconds, and a model this small should be able to deliver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one per stage of the work. The project is an analytics project about an AI system: the data are timings and outcomes, the pattern discovery is a fitted model of where time goes, and the evaluation is statistical.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of work meet here. World models, where speed has been treated as a property of the model. Sampling-based search, where iCEM cut samples but related work warns that samples are not time. And GPU inference, where the megakernel is the newest tool but has only been used for language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Collect timings and outcomes, prepare them into tidy tables, discover where the time goes, design against it, evaluate, deploy. Probes are configurations that differ in one respect, used only to isolate an effect. Every design change went back through profiling before it was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 A third of the time recomputes something that never changes during a plan. Most of the rest is the search, but at about four hundred microseconds per layer evaluation for a few microseconds of arithmetic, it is not computing most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pattern. A straight-line model fitted to latency against workload shows the eager planner's cost is almost entirely fixed: a few hundred kernel launches from Python per call. That also explains why the sample-efficient search algorithm looked useless: it reduces work that was not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answers one finding. Encoding once removes the third. iCEM cuts work once overhead is gone. The persistent kernel removes launches and CPU round trips. Spreading the model across a cluster and streaming weights keeps every step of the long chain as short as the hardware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Thirteen times faster than the reference, and almost four times faster than a PyTorch implementation that already uses every standard trick. Just as important for a controller, it is predictable: the spread is under a millisecond.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guard rail. The robot succeeds as often as before, within what 300 paired episodes can resolve, about six points. The kernel's arithmetic error matches the half-precision arithmetic that was already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objectives were met, and the limits are stated with them. The speed-up is large and stable; the claim about success is bounded by the sample size; the numbers are specific to this model and GPU even though the mechanism is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directions. The first is the immediate payoff: a fast planner can afford a bigger search. The others push latency further, test generality, and take the result to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sentences to end on,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91440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Planning at the Speed of Control</a:t>
            </a:r>
            <a:endParaRPr lang="en-US" sz="3600" dirty="0"/>
          </a:p>
        </p:txBody>
      </p:sp>
      <p:sp>
        <p:nvSpPr>
          <p:cNvPr id="3" name="Text 1"/>
          <p:cNvSpPr txBox="1"/>
          <p:nvPr/>
        </p:nvSpPr>
        <p:spPr>
          <a:xfrm>
            <a:off x="457200" y="1828800"/>
            <a:ext cx="82296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Profiling and fusing world-model robot planning into a single GPU kernel</a:t>
            </a:r>
            <a:endParaRPr lang="en-US" sz="1800" dirty="0"/>
          </a:p>
        </p:txBody>
      </p:sp>
      <p:sp>
        <p:nvSpPr>
          <p:cNvPr id="4" name="Text 2"/>
          <p:cNvSpPr txBox="1"/>
          <p:nvPr/>
        </p:nvSpPr>
        <p:spPr>
          <a:xfrm>
            <a:off x="457200" y="3566160"/>
            <a:ext cx="8229600" cy="9144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Antoine Nguyen  ·  24433599</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Project presentation  ·  [Faculty / School], University of Technology Sydney</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Supervisor: [supervisor name]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The project in one slide</a:t>
            </a:r>
            <a:endParaRPr lang="en-US" sz="2800" dirty="0"/>
          </a:p>
        </p:txBody>
      </p:sp>
      <p:sp>
        <p:nvSpPr>
          <p:cNvPr id="3" name="Text 1"/>
          <p:cNvSpPr txBox="1"/>
          <p:nvPr/>
        </p:nvSpPr>
        <p:spPr>
          <a:xfrm>
            <a:off x="457200" y="105156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is a small AI world model that lets a robot plan by imagining thousands of possible futures. One plan still takes 622 ms on an H100 GPU.</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Question: where does that time go, and how much can be removed without retraining the model or making the robot less successful?</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Method: an analytics pipeline over 11,942 timed calls and 900 episode outcomes: profile, model the bottleneck, design, evaluate with paired statistics.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Answer: the time was overhead, not computation. One fused GPU program per plan takes 46.5 ms, with task success unchanged.</a:t>
            </a:r>
            <a:endParaRPr lang="en-US" sz="1400" dirty="0"/>
          </a:p>
        </p:txBody>
      </p:sp>
      <p:sp>
        <p:nvSpPr>
          <p:cNvPr id="4" name="Shape 2"/>
          <p:cNvSpPr/>
          <p:nvPr/>
        </p:nvSpPr>
        <p:spPr>
          <a:xfrm>
            <a:off x="5943600" y="1097280"/>
            <a:ext cx="1371600" cy="1051560"/>
          </a:xfrm>
          <a:prstGeom prst="roundRect">
            <a:avLst>
              <a:gd name="adj" fmla="val 6957"/>
            </a:avLst>
          </a:prstGeom>
          <a:solidFill>
            <a:srgbClr val="F3F4F6"/>
          </a:solidFill>
          <a:ln w="12700">
            <a:solidFill>
              <a:srgbClr val="F3F4F6"/>
            </a:solidFill>
            <a:prstDash val="solid"/>
          </a:ln>
        </p:spPr>
      </p:sp>
      <p:sp>
        <p:nvSpPr>
          <p:cNvPr id="5" name="Text 3"/>
          <p:cNvSpPr txBox="1"/>
          <p:nvPr/>
        </p:nvSpPr>
        <p:spPr>
          <a:xfrm>
            <a:off x="6080760" y="1188720"/>
            <a:ext cx="1097280" cy="578358"/>
          </a:xfrm>
          <a:prstGeom prst="rect">
            <a:avLst/>
          </a:prstGeom>
          <a:noFill/>
          <a:ln/>
        </p:spPr>
        <p:txBody>
          <a:bodyPr wrap="square" lIns="0" tIns="0" rIns="0" bIns="0" rtlCol="0" anchor="ctr"/>
          <a:lstStyle/>
          <a:p>
            <a:pPr algn="ctr" indent="0" marL="0">
              <a:buNone/>
            </a:pPr>
            <a:r>
              <a:rPr lang="en-US" sz="2400" b="1" dirty="0">
                <a:solidFill>
                  <a:srgbClr val="5A5A5A"/>
                </a:solidFill>
                <a:latin typeface="Cambria" pitchFamily="34" charset="0"/>
                <a:ea typeface="Cambria" pitchFamily="34" charset="-122"/>
                <a:cs typeface="Cambria" pitchFamily="34" charset="-120"/>
              </a:rPr>
              <a:t>622 ms</a:t>
            </a:r>
            <a:endParaRPr lang="en-US" sz="2400" dirty="0"/>
          </a:p>
        </p:txBody>
      </p:sp>
      <p:sp>
        <p:nvSpPr>
          <p:cNvPr id="6" name="Text 4"/>
          <p:cNvSpPr txBox="1"/>
          <p:nvPr/>
        </p:nvSpPr>
        <p:spPr>
          <a:xfrm>
            <a:off x="608076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reference planner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robot, H100)</a:t>
            </a:r>
            <a:endParaRPr lang="en-US" sz="1000" dirty="0"/>
          </a:p>
        </p:txBody>
      </p:sp>
      <p:sp>
        <p:nvSpPr>
          <p:cNvPr id="7" name="Shape 5"/>
          <p:cNvSpPr/>
          <p:nvPr/>
        </p:nvSpPr>
        <p:spPr>
          <a:xfrm>
            <a:off x="7406640" y="1097280"/>
            <a:ext cx="1371600" cy="1051560"/>
          </a:xfrm>
          <a:prstGeom prst="roundRect">
            <a:avLst>
              <a:gd name="adj" fmla="val 6957"/>
            </a:avLst>
          </a:prstGeom>
          <a:solidFill>
            <a:srgbClr val="F3F4F6"/>
          </a:solidFill>
          <a:ln w="12700">
            <a:solidFill>
              <a:srgbClr val="F3F4F6"/>
            </a:solidFill>
            <a:prstDash val="solid"/>
          </a:ln>
        </p:spPr>
      </p:sp>
      <p:sp>
        <p:nvSpPr>
          <p:cNvPr id="8" name="Text 6"/>
          <p:cNvSpPr txBox="1"/>
          <p:nvPr/>
        </p:nvSpPr>
        <p:spPr>
          <a:xfrm>
            <a:off x="7543800" y="1188720"/>
            <a:ext cx="1097280" cy="578358"/>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46.5 ms</a:t>
            </a:r>
            <a:endParaRPr lang="en-US" sz="2400" dirty="0"/>
          </a:p>
        </p:txBody>
      </p:sp>
      <p:sp>
        <p:nvSpPr>
          <p:cNvPr id="9" name="Text 7"/>
          <p:cNvSpPr txBox="1"/>
          <p:nvPr/>
        </p:nvSpPr>
        <p:spPr>
          <a:xfrm>
            <a:off x="754380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LeWM-MK,</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GPU launch</a:t>
            </a:r>
            <a:endParaRPr lang="en-US" sz="1000" dirty="0"/>
          </a:p>
        </p:txBody>
      </p:sp>
      <p:sp>
        <p:nvSpPr>
          <p:cNvPr id="10" name="Shape 8"/>
          <p:cNvSpPr/>
          <p:nvPr/>
        </p:nvSpPr>
        <p:spPr>
          <a:xfrm>
            <a:off x="5943600" y="2331720"/>
            <a:ext cx="1371600" cy="1051560"/>
          </a:xfrm>
          <a:prstGeom prst="roundRect">
            <a:avLst>
              <a:gd name="adj" fmla="val 6957"/>
            </a:avLst>
          </a:prstGeom>
          <a:solidFill>
            <a:srgbClr val="F3F4F6"/>
          </a:solidFill>
          <a:ln w="12700">
            <a:solidFill>
              <a:srgbClr val="F3F4F6"/>
            </a:solidFill>
            <a:prstDash val="solid"/>
          </a:ln>
        </p:spPr>
      </p:sp>
      <p:sp>
        <p:nvSpPr>
          <p:cNvPr id="11" name="Text 9"/>
          <p:cNvSpPr txBox="1"/>
          <p:nvPr/>
        </p:nvSpPr>
        <p:spPr>
          <a:xfrm>
            <a:off x="6080760" y="2423160"/>
            <a:ext cx="1097280" cy="578358"/>
          </a:xfrm>
          <a:prstGeom prst="rect">
            <a:avLst/>
          </a:prstGeom>
          <a:noFill/>
          <a:ln/>
        </p:spPr>
        <p:txBody>
          <a:bodyPr wrap="square" lIns="0" tIns="0" rIns="0" bIns="0" rtlCol="0" anchor="ctr"/>
          <a:lstStyle/>
          <a:p>
            <a:pPr algn="ctr" indent="0" marL="0">
              <a:buNone/>
            </a:pPr>
            <a:r>
              <a:rPr lang="en-US" sz="2600" b="1" dirty="0">
                <a:solidFill>
                  <a:srgbClr val="2A78D6"/>
                </a:solidFill>
                <a:latin typeface="Cambria" pitchFamily="34" charset="0"/>
                <a:ea typeface="Cambria" pitchFamily="34" charset="-122"/>
                <a:cs typeface="Cambria" pitchFamily="34" charset="-120"/>
              </a:rPr>
              <a:t>13.4×</a:t>
            </a:r>
            <a:endParaRPr lang="en-US" sz="2600" dirty="0"/>
          </a:p>
        </p:txBody>
      </p:sp>
      <p:sp>
        <p:nvSpPr>
          <p:cNvPr id="12" name="Text 10"/>
          <p:cNvSpPr txBox="1"/>
          <p:nvPr/>
        </p:nvSpPr>
        <p:spPr>
          <a:xfrm>
            <a:off x="608076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faster than the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reference</a:t>
            </a:r>
            <a:endParaRPr lang="en-US" sz="1000" dirty="0"/>
          </a:p>
        </p:txBody>
      </p:sp>
      <p:sp>
        <p:nvSpPr>
          <p:cNvPr id="13" name="Shape 11"/>
          <p:cNvSpPr/>
          <p:nvPr/>
        </p:nvSpPr>
        <p:spPr>
          <a:xfrm>
            <a:off x="7406640" y="2331720"/>
            <a:ext cx="1371600" cy="1051560"/>
          </a:xfrm>
          <a:prstGeom prst="roundRect">
            <a:avLst>
              <a:gd name="adj" fmla="val 6957"/>
            </a:avLst>
          </a:prstGeom>
          <a:solidFill>
            <a:srgbClr val="F3F4F6"/>
          </a:solidFill>
          <a:ln w="12700">
            <a:solidFill>
              <a:srgbClr val="F3F4F6"/>
            </a:solidFill>
            <a:prstDash val="solid"/>
          </a:ln>
        </p:spPr>
      </p:sp>
      <p:sp>
        <p:nvSpPr>
          <p:cNvPr id="14" name="Text 12"/>
          <p:cNvSpPr txBox="1"/>
          <p:nvPr/>
        </p:nvSpPr>
        <p:spPr>
          <a:xfrm>
            <a:off x="7543800" y="2423160"/>
            <a:ext cx="1097280" cy="578358"/>
          </a:xfrm>
          <a:prstGeom prst="rect">
            <a:avLst/>
          </a:prstGeom>
          <a:noFill/>
          <a:ln/>
        </p:spPr>
        <p:txBody>
          <a:bodyPr wrap="square" lIns="0" tIns="0" rIns="0" bIns="0" rtlCol="0" anchor="ctr"/>
          <a:lstStyle/>
          <a:p>
            <a:pPr algn="ctr" indent="0" marL="0">
              <a:buNone/>
            </a:pPr>
            <a:r>
              <a:rPr lang="en-US" sz="2200" b="1" dirty="0">
                <a:solidFill>
                  <a:srgbClr val="14213D"/>
                </a:solidFill>
                <a:latin typeface="Cambria" pitchFamily="34" charset="0"/>
                <a:ea typeface="Cambria" pitchFamily="34" charset="-122"/>
                <a:cs typeface="Cambria" pitchFamily="34" charset="-120"/>
              </a:rPr>
              <a:t>−0.3 pts</a:t>
            </a:r>
            <a:endParaRPr lang="en-US" sz="2200" dirty="0"/>
          </a:p>
        </p:txBody>
      </p:sp>
      <p:sp>
        <p:nvSpPr>
          <p:cNvPr id="15" name="Text 13"/>
          <p:cNvSpPr txBox="1"/>
          <p:nvPr/>
        </p:nvSpPr>
        <p:spPr>
          <a:xfrm>
            <a:off x="754380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success 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300 paired episodes</a:t>
            </a:r>
            <a:endParaRPr lang="en-US" sz="1000" dirty="0"/>
          </a:p>
        </p:txBody>
      </p:sp>
      <p:sp>
        <p:nvSpPr>
          <p:cNvPr id="16" name="Text 14"/>
          <p:cNvSpPr txBox="1"/>
          <p:nvPr/>
        </p:nvSpPr>
        <p:spPr>
          <a:xfrm>
            <a:off x="5943600" y="3520440"/>
            <a:ext cx="29260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Medians of end-to-end planning latency; 95% CI of the speed-up 13.0–13.5×</a:t>
            </a:r>
            <a:endParaRPr lang="en-US" sz="1000" dirty="0"/>
          </a:p>
        </p:txBody>
      </p:sp>
      <p:sp>
        <p:nvSpPr>
          <p:cNvPr id="18" name="Text 1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Why it matters: robots plan against a clock</a:t>
            </a:r>
            <a:endParaRPr lang="en-US" sz="2800" dirty="0"/>
          </a:p>
        </p:txBody>
      </p:sp>
      <p:sp>
        <p:nvSpPr>
          <p:cNvPr id="3" name="Text 1"/>
          <p:cNvSpPr txBox="1"/>
          <p:nvPr/>
        </p:nvSpPr>
        <p:spPr>
          <a:xfrm>
            <a:off x="457200" y="1051560"/>
            <a:ext cx="493776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world model predicts what happens next; a robot plans by imagining many action sequences and executing the best.</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controller must finish each plan within its control period: 100 ms at 10 Hz, 50 ms at 20 Hz, for sensing, planning and acting together.</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made world-model planning cheap by shrinking the model to 15M parameters. Its released planner still takes 622 ms per plan.</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The model is tiny: its arithmetic per plan should take milliseconds. Something else is using the time.</a:t>
            </a:r>
            <a:endParaRPr lang="en-US" sz="1400" dirty="0"/>
          </a:p>
        </p:txBody>
      </p:sp>
      <p:sp>
        <p:nvSpPr>
          <p:cNvPr id="4" name="Shape 2"/>
          <p:cNvSpPr/>
          <p:nvPr/>
        </p:nvSpPr>
        <p:spPr>
          <a:xfrm>
            <a:off x="5760720" y="1097280"/>
            <a:ext cx="1417320" cy="1005840"/>
          </a:xfrm>
          <a:prstGeom prst="roundRect">
            <a:avLst>
              <a:gd name="adj" fmla="val 7273"/>
            </a:avLst>
          </a:prstGeom>
          <a:solidFill>
            <a:srgbClr val="F3F4F6"/>
          </a:solidFill>
          <a:ln w="12700">
            <a:solidFill>
              <a:srgbClr val="F3F4F6"/>
            </a:solidFill>
            <a:prstDash val="solid"/>
          </a:ln>
        </p:spPr>
      </p:sp>
      <p:sp>
        <p:nvSpPr>
          <p:cNvPr id="5" name="Text 3"/>
          <p:cNvSpPr txBox="1"/>
          <p:nvPr/>
        </p:nvSpPr>
        <p:spPr>
          <a:xfrm>
            <a:off x="589788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15M</a:t>
            </a:r>
            <a:endParaRPr lang="en-US" sz="3000" dirty="0"/>
          </a:p>
        </p:txBody>
      </p:sp>
      <p:sp>
        <p:nvSpPr>
          <p:cNvPr id="6" name="Text 4"/>
          <p:cNvSpPr txBox="1"/>
          <p:nvPr/>
        </p:nvSpPr>
        <p:spPr>
          <a:xfrm>
            <a:off x="589788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parameters in</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the whole model</a:t>
            </a:r>
            <a:endParaRPr lang="en-US" sz="1000" dirty="0"/>
          </a:p>
        </p:txBody>
      </p:sp>
      <p:sp>
        <p:nvSpPr>
          <p:cNvPr id="7" name="Shape 5"/>
          <p:cNvSpPr/>
          <p:nvPr/>
        </p:nvSpPr>
        <p:spPr>
          <a:xfrm>
            <a:off x="7315200" y="1097280"/>
            <a:ext cx="1417320" cy="1005840"/>
          </a:xfrm>
          <a:prstGeom prst="roundRect">
            <a:avLst>
              <a:gd name="adj" fmla="val 7273"/>
            </a:avLst>
          </a:prstGeom>
          <a:solidFill>
            <a:srgbClr val="F3F4F6"/>
          </a:solidFill>
          <a:ln w="12700">
            <a:solidFill>
              <a:srgbClr val="F3F4F6"/>
            </a:solidFill>
            <a:prstDash val="solid"/>
          </a:ln>
        </p:spPr>
      </p:sp>
      <p:sp>
        <p:nvSpPr>
          <p:cNvPr id="8" name="Text 6"/>
          <p:cNvSpPr txBox="1"/>
          <p:nvPr/>
        </p:nvSpPr>
        <p:spPr>
          <a:xfrm>
            <a:off x="745236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9,000</a:t>
            </a:r>
            <a:endParaRPr lang="en-US" sz="3000" dirty="0"/>
          </a:p>
        </p:txBody>
      </p:sp>
      <p:sp>
        <p:nvSpPr>
          <p:cNvPr id="9" name="Text 7"/>
          <p:cNvSpPr txBox="1"/>
          <p:nvPr/>
        </p:nvSpPr>
        <p:spPr>
          <a:xfrm>
            <a:off x="745236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imagined futures</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per reference plan</a:t>
            </a:r>
            <a:endParaRPr lang="en-US" sz="1000" dirty="0"/>
          </a:p>
        </p:txBody>
      </p:sp>
      <p:sp>
        <p:nvSpPr>
          <p:cNvPr id="10" name="Shape 8"/>
          <p:cNvSpPr/>
          <p:nvPr/>
        </p:nvSpPr>
        <p:spPr>
          <a:xfrm>
            <a:off x="5760720" y="2286000"/>
            <a:ext cx="1417320" cy="1005840"/>
          </a:xfrm>
          <a:prstGeom prst="roundRect">
            <a:avLst>
              <a:gd name="adj" fmla="val 7273"/>
            </a:avLst>
          </a:prstGeom>
          <a:solidFill>
            <a:srgbClr val="F3F4F6"/>
          </a:solidFill>
          <a:ln w="12700">
            <a:solidFill>
              <a:srgbClr val="F3F4F6"/>
            </a:solidFill>
            <a:prstDash val="solid"/>
          </a:ln>
        </p:spPr>
      </p:sp>
      <p:sp>
        <p:nvSpPr>
          <p:cNvPr id="11" name="Text 9"/>
          <p:cNvSpPr txBox="1"/>
          <p:nvPr/>
        </p:nvSpPr>
        <p:spPr>
          <a:xfrm>
            <a:off x="5897880" y="237744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a:t>
            </a:r>
            <a:endParaRPr lang="en-US" sz="3000" dirty="0"/>
          </a:p>
        </p:txBody>
      </p:sp>
      <p:sp>
        <p:nvSpPr>
          <p:cNvPr id="12" name="Text 10"/>
          <p:cNvSpPr txBox="1"/>
          <p:nvPr/>
        </p:nvSpPr>
        <p:spPr>
          <a:xfrm>
            <a:off x="589788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dependent layer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evaluations per plan</a:t>
            </a:r>
            <a:endParaRPr lang="en-US" sz="1000" dirty="0"/>
          </a:p>
        </p:txBody>
      </p:sp>
      <p:sp>
        <p:nvSpPr>
          <p:cNvPr id="13" name="Shape 11"/>
          <p:cNvSpPr/>
          <p:nvPr/>
        </p:nvSpPr>
        <p:spPr>
          <a:xfrm>
            <a:off x="7315200" y="2286000"/>
            <a:ext cx="1417320" cy="1005840"/>
          </a:xfrm>
          <a:prstGeom prst="roundRect">
            <a:avLst>
              <a:gd name="adj" fmla="val 7273"/>
            </a:avLst>
          </a:prstGeom>
          <a:solidFill>
            <a:srgbClr val="F3F4F6"/>
          </a:solidFill>
          <a:ln w="12700">
            <a:solidFill>
              <a:srgbClr val="F3F4F6"/>
            </a:solidFill>
            <a:prstDash val="solid"/>
          </a:ln>
        </p:spPr>
      </p:sp>
      <p:sp>
        <p:nvSpPr>
          <p:cNvPr id="14" name="Text 12"/>
          <p:cNvSpPr txBox="1"/>
          <p:nvPr/>
        </p:nvSpPr>
        <p:spPr>
          <a:xfrm>
            <a:off x="7452360" y="2377440"/>
            <a:ext cx="1143000" cy="553212"/>
          </a:xfrm>
          <a:prstGeom prst="rect">
            <a:avLst/>
          </a:prstGeom>
          <a:noFill/>
          <a:ln/>
        </p:spPr>
        <p:txBody>
          <a:bodyPr wrap="square" lIns="0" tIns="0" rIns="0" bIns="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16–53 s</a:t>
            </a:r>
            <a:endParaRPr lang="en-US" sz="2400" dirty="0"/>
          </a:p>
        </p:txBody>
      </p:sp>
      <p:sp>
        <p:nvSpPr>
          <p:cNvPr id="15" name="Text 13"/>
          <p:cNvSpPr txBox="1"/>
          <p:nvPr/>
        </p:nvSpPr>
        <p:spPr>
          <a:xfrm>
            <a:off x="745236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per plan for larger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world models</a:t>
            </a:r>
            <a:endParaRPr lang="en-US" sz="100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Aim and objectives</a:t>
            </a:r>
            <a:endParaRPr lang="en-US" sz="2800" dirty="0"/>
          </a:p>
        </p:txBody>
      </p:sp>
      <p:sp>
        <p:nvSpPr>
          <p:cNvPr id="3" name="Shape 1"/>
          <p:cNvSpPr/>
          <p:nvPr/>
        </p:nvSpPr>
        <p:spPr>
          <a:xfrm>
            <a:off x="457200" y="1051560"/>
            <a:ext cx="822960" cy="594360"/>
          </a:xfrm>
          <a:prstGeom prst="roundRect">
            <a:avLst>
              <a:gd name="adj" fmla="val 12308"/>
            </a:avLst>
          </a:prstGeom>
          <a:solidFill>
            <a:srgbClr val="14213D"/>
          </a:solidFill>
          <a:ln w="12700">
            <a:solidFill>
              <a:srgbClr val="14213D"/>
            </a:solidFill>
            <a:prstDash val="solid"/>
          </a:ln>
        </p:spPr>
      </p:sp>
      <p:sp>
        <p:nvSpPr>
          <p:cNvPr id="4" name="Text 2"/>
          <p:cNvSpPr txBox="1"/>
          <p:nvPr/>
        </p:nvSpPr>
        <p:spPr>
          <a:xfrm>
            <a:off x="457200" y="105156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O1</a:t>
            </a:r>
            <a:endParaRPr lang="en-US" sz="1600" dirty="0"/>
          </a:p>
        </p:txBody>
      </p:sp>
      <p:sp>
        <p:nvSpPr>
          <p:cNvPr id="5" name="Text 3"/>
          <p:cNvSpPr txBox="1"/>
          <p:nvPr/>
        </p:nvSpPr>
        <p:spPr>
          <a:xfrm>
            <a:off x="1463040" y="105156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Profile: build a stage-by-stage compute profile of the reference planner from measured data, and identify the bottleneck.</a:t>
            </a:r>
            <a:endParaRPr lang="en-US" sz="1350" dirty="0"/>
          </a:p>
        </p:txBody>
      </p:sp>
      <p:sp>
        <p:nvSpPr>
          <p:cNvPr id="6" name="Shape 4"/>
          <p:cNvSpPr/>
          <p:nvPr/>
        </p:nvSpPr>
        <p:spPr>
          <a:xfrm>
            <a:off x="457200" y="1828800"/>
            <a:ext cx="822960" cy="594360"/>
          </a:xfrm>
          <a:prstGeom prst="roundRect">
            <a:avLst>
              <a:gd name="adj" fmla="val 12308"/>
            </a:avLst>
          </a:prstGeom>
          <a:solidFill>
            <a:srgbClr val="14213D"/>
          </a:solidFill>
          <a:ln w="12700">
            <a:solidFill>
              <a:srgbClr val="14213D"/>
            </a:solidFill>
            <a:prstDash val="solid"/>
          </a:ln>
        </p:spPr>
      </p:sp>
      <p:sp>
        <p:nvSpPr>
          <p:cNvPr id="7" name="Text 5"/>
          <p:cNvSpPr txBox="1"/>
          <p:nvPr/>
        </p:nvSpPr>
        <p:spPr>
          <a:xfrm>
            <a:off x="457200" y="182880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O2</a:t>
            </a:r>
            <a:endParaRPr lang="en-US" sz="1600" dirty="0"/>
          </a:p>
        </p:txBody>
      </p:sp>
      <p:sp>
        <p:nvSpPr>
          <p:cNvPr id="8" name="Text 6"/>
          <p:cNvSpPr txBox="1"/>
          <p:nvPr/>
        </p:nvSpPr>
        <p:spPr>
          <a:xfrm>
            <a:off x="1463040" y="182880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Design and implement: remove the bottlenecks without retraining the model or shrinking the planner's search budget.</a:t>
            </a:r>
            <a:endParaRPr lang="en-US" sz="1350" dirty="0"/>
          </a:p>
        </p:txBody>
      </p:sp>
      <p:sp>
        <p:nvSpPr>
          <p:cNvPr id="9" name="Shape 7"/>
          <p:cNvSpPr/>
          <p:nvPr/>
        </p:nvSpPr>
        <p:spPr>
          <a:xfrm>
            <a:off x="457200" y="2606040"/>
            <a:ext cx="822960" cy="594360"/>
          </a:xfrm>
          <a:prstGeom prst="roundRect">
            <a:avLst>
              <a:gd name="adj" fmla="val 12308"/>
            </a:avLst>
          </a:prstGeom>
          <a:solidFill>
            <a:srgbClr val="14213D"/>
          </a:solidFill>
          <a:ln w="12700">
            <a:solidFill>
              <a:srgbClr val="14213D"/>
            </a:solidFill>
            <a:prstDash val="solid"/>
          </a:ln>
        </p:spPr>
      </p:sp>
      <p:sp>
        <p:nvSpPr>
          <p:cNvPr id="10" name="Text 8"/>
          <p:cNvSpPr txBox="1"/>
          <p:nvPr/>
        </p:nvSpPr>
        <p:spPr>
          <a:xfrm>
            <a:off x="457200" y="260604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O3</a:t>
            </a:r>
            <a:endParaRPr lang="en-US" sz="1600" dirty="0"/>
          </a:p>
        </p:txBody>
      </p:sp>
      <p:sp>
        <p:nvSpPr>
          <p:cNvPr id="11" name="Text 9"/>
          <p:cNvSpPr txBox="1"/>
          <p:nvPr/>
        </p:nvSpPr>
        <p:spPr>
          <a:xfrm>
            <a:off x="1463040" y="260604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Evaluate: latency and task success against the reference and a strong optimised baseline, on the same GPU, with paired tests.</a:t>
            </a:r>
            <a:endParaRPr lang="en-US" sz="1350" dirty="0"/>
          </a:p>
        </p:txBody>
      </p:sp>
      <p:sp>
        <p:nvSpPr>
          <p:cNvPr id="12" name="Shape 10"/>
          <p:cNvSpPr/>
          <p:nvPr/>
        </p:nvSpPr>
        <p:spPr>
          <a:xfrm>
            <a:off x="457200" y="3383280"/>
            <a:ext cx="822960" cy="594360"/>
          </a:xfrm>
          <a:prstGeom prst="roundRect">
            <a:avLst>
              <a:gd name="adj" fmla="val 12308"/>
            </a:avLst>
          </a:prstGeom>
          <a:solidFill>
            <a:srgbClr val="14213D"/>
          </a:solidFill>
          <a:ln w="12700">
            <a:solidFill>
              <a:srgbClr val="14213D"/>
            </a:solidFill>
            <a:prstDash val="solid"/>
          </a:ln>
        </p:spPr>
      </p:sp>
      <p:sp>
        <p:nvSpPr>
          <p:cNvPr id="13" name="Text 11"/>
          <p:cNvSpPr txBox="1"/>
          <p:nvPr/>
        </p:nvSpPr>
        <p:spPr>
          <a:xfrm>
            <a:off x="457200" y="338328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O4</a:t>
            </a:r>
            <a:endParaRPr lang="en-US" sz="1600" dirty="0"/>
          </a:p>
        </p:txBody>
      </p:sp>
      <p:sp>
        <p:nvSpPr>
          <p:cNvPr id="14" name="Text 12"/>
          <p:cNvSpPr txBox="1"/>
          <p:nvPr/>
        </p:nvSpPr>
        <p:spPr>
          <a:xfrm>
            <a:off x="1463040" y="338328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Deploy: a planner that plugs into the existing harness, and one program that regenerates every result from the data.</a:t>
            </a:r>
            <a:endParaRPr lang="en-US" sz="1350" dirty="0"/>
          </a:p>
        </p:txBody>
      </p:sp>
      <p:sp>
        <p:nvSpPr>
          <p:cNvPr id="15" name="Text 13"/>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150" b="1" dirty="0">
                <a:solidFill>
                  <a:srgbClr val="14213D"/>
                </a:solidFill>
                <a:latin typeface="Calibri" pitchFamily="34" charset="0"/>
                <a:ea typeface="Calibri" pitchFamily="34" charset="-122"/>
                <a:cs typeface="Calibri" pitchFamily="34" charset="-120"/>
              </a:rPr>
              <a:t>Data analytics and AI. </a:t>
            </a:r>
            <a:pPr indent="0" marL="0">
              <a:buNone/>
            </a:pPr>
            <a:r>
              <a:rPr lang="en-US" sz="1150" dirty="0">
                <a:solidFill>
                  <a:srgbClr val="1B1B1B"/>
                </a:solidFill>
                <a:latin typeface="Calibri" pitchFamily="34" charset="0"/>
                <a:ea typeface="Calibri" pitchFamily="34" charset="-122"/>
                <a:cs typeface="Calibri" pitchFamily="34" charset="-120"/>
              </a:rPr>
              <a:t>The object is an AI system (a self-supervised world model and its search algorithm); the method is an analytics pipeline over its measured behaviour: collection, preparation, pattern discovery with a fitted latency model, statistical evaluation and deployment.</a:t>
            </a:r>
            <a:endParaRPr lang="en-US" sz="115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three lines of work, one gap</a:t>
            </a:r>
            <a:endParaRPr lang="en-US" sz="2800" dirty="0"/>
          </a:p>
        </p:txBody>
      </p:sp>
      <p:sp>
        <p:nvSpPr>
          <p:cNvPr id="3" name="Shape 1"/>
          <p:cNvSpPr/>
          <p:nvPr/>
        </p:nvSpPr>
        <p:spPr>
          <a:xfrm>
            <a:off x="457200" y="1051560"/>
            <a:ext cx="2651760" cy="2606040"/>
          </a:xfrm>
          <a:prstGeom prst="roundRect">
            <a:avLst>
              <a:gd name="adj" fmla="val 2807"/>
            </a:avLst>
          </a:prstGeom>
          <a:solidFill>
            <a:srgbClr val="F3F4F6"/>
          </a:solidFill>
          <a:ln w="12700">
            <a:solidFill>
              <a:srgbClr val="F3F4F6"/>
            </a:solidFill>
            <a:prstDash val="solid"/>
          </a:ln>
        </p:spPr>
      </p:sp>
      <p:sp>
        <p:nvSpPr>
          <p:cNvPr id="4" name="Text 2"/>
          <p:cNvSpPr txBox="1"/>
          <p:nvPr/>
        </p:nvSpPr>
        <p:spPr>
          <a:xfrm>
            <a:off x="62179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World models that plan</a:t>
            </a:r>
            <a:endParaRPr lang="en-US" sz="1500" dirty="0"/>
          </a:p>
        </p:txBody>
      </p:sp>
      <p:sp>
        <p:nvSpPr>
          <p:cNvPr id="5" name="Text 3"/>
          <p:cNvSpPr txBox="1"/>
          <p:nvPr/>
        </p:nvSpPr>
        <p:spPr>
          <a:xfrm>
            <a:off x="62179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JEPA models (I-JEPA, DINO-WM, V-JEPA 2, LeWM) predict in a learned representation and plan by search. Planning time is reported coarsely and only ever cut by changing the model.</a:t>
            </a:r>
            <a:endParaRPr lang="en-US" sz="1150" dirty="0"/>
          </a:p>
        </p:txBody>
      </p:sp>
      <p:sp>
        <p:nvSpPr>
          <p:cNvPr id="6" name="Shape 4"/>
          <p:cNvSpPr/>
          <p:nvPr/>
        </p:nvSpPr>
        <p:spPr>
          <a:xfrm>
            <a:off x="3291840" y="1051560"/>
            <a:ext cx="2651760" cy="2606040"/>
          </a:xfrm>
          <a:prstGeom prst="roundRect">
            <a:avLst>
              <a:gd name="adj" fmla="val 2807"/>
            </a:avLst>
          </a:prstGeom>
          <a:solidFill>
            <a:srgbClr val="F3F4F6"/>
          </a:solidFill>
          <a:ln w="12700">
            <a:solidFill>
              <a:srgbClr val="F3F4F6"/>
            </a:solidFill>
            <a:prstDash val="solid"/>
          </a:ln>
        </p:spPr>
      </p:sp>
      <p:sp>
        <p:nvSpPr>
          <p:cNvPr id="7" name="Text 5"/>
          <p:cNvSpPr txBox="1"/>
          <p:nvPr/>
        </p:nvSpPr>
        <p:spPr>
          <a:xfrm>
            <a:off x="345643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Sampling-based search</a:t>
            </a:r>
            <a:endParaRPr lang="en-US" sz="1500" dirty="0"/>
          </a:p>
        </p:txBody>
      </p:sp>
      <p:sp>
        <p:nvSpPr>
          <p:cNvPr id="8" name="Text 6"/>
          <p:cNvSpPr txBox="1"/>
          <p:nvPr/>
        </p:nvSpPr>
        <p:spPr>
          <a:xfrm>
            <a:off x="345643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CEM samples, keeps the best, refits, repeats. iCEM shrinks the population and reuses the best: 2.7–22× fewer samples. But fewer samples need not mean less time (CEM-GD).</a:t>
            </a:r>
            <a:endParaRPr lang="en-US" sz="1150" dirty="0"/>
          </a:p>
        </p:txBody>
      </p:sp>
      <p:sp>
        <p:nvSpPr>
          <p:cNvPr id="9" name="Shape 7"/>
          <p:cNvSpPr/>
          <p:nvPr/>
        </p:nvSpPr>
        <p:spPr>
          <a:xfrm>
            <a:off x="6126480" y="1051560"/>
            <a:ext cx="2651760" cy="2606040"/>
          </a:xfrm>
          <a:prstGeom prst="roundRect">
            <a:avLst>
              <a:gd name="adj" fmla="val 2807"/>
            </a:avLst>
          </a:prstGeom>
          <a:solidFill>
            <a:srgbClr val="F3F4F6"/>
          </a:solidFill>
          <a:ln w="12700">
            <a:solidFill>
              <a:srgbClr val="F3F4F6"/>
            </a:solidFill>
            <a:prstDash val="solid"/>
          </a:ln>
        </p:spPr>
      </p:sp>
      <p:sp>
        <p:nvSpPr>
          <p:cNvPr id="10" name="Text 8"/>
          <p:cNvSpPr txBox="1"/>
          <p:nvPr/>
        </p:nvSpPr>
        <p:spPr>
          <a:xfrm>
            <a:off x="629107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Fast GPU inference</a:t>
            </a:r>
            <a:endParaRPr lang="en-US" sz="1500" dirty="0"/>
          </a:p>
        </p:txBody>
      </p:sp>
      <p:sp>
        <p:nvSpPr>
          <p:cNvPr id="11" name="Text 9"/>
          <p:cNvSpPr txBox="1"/>
          <p:nvPr/>
        </p:nvSpPr>
        <p:spPr>
          <a:xfrm>
            <a:off x="6291072" y="1581912"/>
            <a:ext cx="2331720" cy="1965960"/>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Small models at batch 1 are bound by launch overhead and data movement. Remedies: CUDA Graphs, compilers, FlashAttention, and megakernels: one GPU program for a whole computation.</a:t>
            </a:r>
            <a:endParaRPr lang="en-US" sz="1150" dirty="0"/>
          </a:p>
        </p:txBody>
      </p:sp>
      <p:sp>
        <p:nvSpPr>
          <p:cNvPr id="12" name="Text 10"/>
          <p:cNvSpPr txBox="1"/>
          <p:nvPr/>
        </p:nvSpPr>
        <p:spPr>
          <a:xfrm>
            <a:off x="457200" y="3840480"/>
            <a:ext cx="8229600" cy="914400"/>
          </a:xfrm>
          <a:prstGeom prst="rect">
            <a:avLst/>
          </a:prstGeom>
          <a:noFill/>
          <a:ln/>
        </p:spPr>
        <p:txBody>
          <a:bodyPr wrap="square" lIns="0" tIns="0" rIns="0" bIns="0" rtlCol="0" anchor="t"/>
          <a:lstStyle/>
          <a:p>
            <a:pPr indent="0" marL="0">
              <a:buNone/>
            </a:pPr>
            <a:r>
              <a:rPr lang="en-US" sz="1200" b="1" dirty="0">
                <a:solidFill>
                  <a:srgbClr val="14213D"/>
                </a:solidFill>
                <a:latin typeface="Calibri" pitchFamily="34" charset="0"/>
                <a:ea typeface="Calibri" pitchFamily="34" charset="-122"/>
                <a:cs typeface="Calibri" pitchFamily="34" charset="-120"/>
              </a:rPr>
              <a:t>The gap. </a:t>
            </a:r>
            <a:pPr indent="0" marL="0">
              <a:buNone/>
            </a:pPr>
            <a:r>
              <a:rPr lang="en-US" sz="1200" dirty="0">
                <a:solidFill>
                  <a:srgbClr val="1B1B1B"/>
                </a:solidFill>
                <a:latin typeface="Calibri" pitchFamily="34" charset="0"/>
                <a:ea typeface="Calibri" pitchFamily="34" charset="-122"/>
                <a:cs typeface="Calibri" pitchFamily="34" charset="-120"/>
              </a:rPr>
              <a:t>No one has profiled where a world-model planner's time goes, measured whether sample-efficient search saves time in practice, or fused a whole planning loop, with a neural encoder, rollouts, scoring and elite selection, into one GPU program.</a:t>
            </a:r>
            <a:endParaRPr lang="en-US" sz="120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 an analytics pipeline over the planner</a:t>
            </a:r>
            <a:endParaRPr lang="en-US" sz="2800" dirty="0"/>
          </a:p>
        </p:txBody>
      </p:sp>
      <p:pic>
        <p:nvPicPr>
          <p:cNvPr id="3" name="Image 0" descr="preencoded.png">    </p:cNvPr>
          <p:cNvPicPr>
            <a:picLocks noChangeAspect="1"/>
          </p:cNvPicPr>
          <p:nvPr/>
        </p:nvPicPr>
        <p:blipFill>
          <a:blip r:embed="rId1"/>
          <a:stretch>
            <a:fillRect/>
          </a:stretch>
        </p:blipFill>
        <p:spPr>
          <a:xfrm>
            <a:off x="1902372" y="960120"/>
            <a:ext cx="5339255" cy="1828800"/>
          </a:xfrm>
          <a:prstGeom prst="rect">
            <a:avLst/>
          </a:prstGeom>
        </p:spPr>
      </p:pic>
      <p:sp>
        <p:nvSpPr>
          <p:cNvPr id="4" name="Shape 1"/>
          <p:cNvSpPr/>
          <p:nvPr/>
        </p:nvSpPr>
        <p:spPr>
          <a:xfrm>
            <a:off x="457200" y="2926080"/>
            <a:ext cx="2651760" cy="1783080"/>
          </a:xfrm>
          <a:prstGeom prst="roundRect">
            <a:avLst>
              <a:gd name="adj" fmla="val 4103"/>
            </a:avLst>
          </a:prstGeom>
          <a:solidFill>
            <a:srgbClr val="E9F1FC"/>
          </a:solidFill>
          <a:ln w="12700">
            <a:solidFill>
              <a:srgbClr val="E9F1FC"/>
            </a:solidFill>
            <a:prstDash val="solid"/>
          </a:ln>
        </p:spPr>
      </p:sp>
      <p:sp>
        <p:nvSpPr>
          <p:cNvPr id="5" name="Text 2"/>
          <p:cNvSpPr txBox="1"/>
          <p:nvPr/>
        </p:nvSpPr>
        <p:spPr>
          <a:xfrm>
            <a:off x="62179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Data</a:t>
            </a:r>
            <a:endParaRPr lang="en-US" sz="1500" dirty="0"/>
          </a:p>
        </p:txBody>
      </p:sp>
      <p:sp>
        <p:nvSpPr>
          <p:cNvPr id="6" name="Text 3"/>
          <p:cNvSpPr txBox="1"/>
          <p:nvPr/>
        </p:nvSpPr>
        <p:spPr>
          <a:xfrm>
            <a:off x="62179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11,942 timed policy calls (61 one-robot episodes × 3 systems + 4 probes), 900 episode outcomes, telemetry, component timings.</a:t>
            </a:r>
            <a:endParaRPr lang="en-US" sz="1050" dirty="0"/>
          </a:p>
        </p:txBody>
      </p:sp>
      <p:sp>
        <p:nvSpPr>
          <p:cNvPr id="7" name="Shape 4"/>
          <p:cNvSpPr/>
          <p:nvPr/>
        </p:nvSpPr>
        <p:spPr>
          <a:xfrm>
            <a:off x="3291840" y="2926080"/>
            <a:ext cx="2651760" cy="1783080"/>
          </a:xfrm>
          <a:prstGeom prst="roundRect">
            <a:avLst>
              <a:gd name="adj" fmla="val 4103"/>
            </a:avLst>
          </a:prstGeom>
          <a:solidFill>
            <a:srgbClr val="E9F1FC"/>
          </a:solidFill>
          <a:ln w="12700">
            <a:solidFill>
              <a:srgbClr val="E9F1FC"/>
            </a:solidFill>
            <a:prstDash val="solid"/>
          </a:ln>
        </p:spPr>
      </p:sp>
      <p:sp>
        <p:nvSpPr>
          <p:cNvPr id="8" name="Text 5"/>
          <p:cNvSpPr txBox="1"/>
          <p:nvPr/>
        </p:nvSpPr>
        <p:spPr>
          <a:xfrm>
            <a:off x="345643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Analysis</a:t>
            </a:r>
            <a:endParaRPr lang="en-US" sz="1500" dirty="0"/>
          </a:p>
        </p:txBody>
      </p:sp>
      <p:sp>
        <p:nvSpPr>
          <p:cNvPr id="9" name="Text 6"/>
          <p:cNvSpPr txBox="1"/>
          <p:nvPr/>
        </p:nvSpPr>
        <p:spPr>
          <a:xfrm>
            <a:off x="345643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Warm-up removal and outlier flags; stage decomposition; a fitted model latency = a + b·N separating fixed overhead from work.</a:t>
            </a:r>
            <a:endParaRPr lang="en-US" sz="1050" dirty="0"/>
          </a:p>
        </p:txBody>
      </p:sp>
      <p:sp>
        <p:nvSpPr>
          <p:cNvPr id="10" name="Shape 7"/>
          <p:cNvSpPr/>
          <p:nvPr/>
        </p:nvSpPr>
        <p:spPr>
          <a:xfrm>
            <a:off x="6126480" y="2926080"/>
            <a:ext cx="2651760" cy="1783080"/>
          </a:xfrm>
          <a:prstGeom prst="roundRect">
            <a:avLst>
              <a:gd name="adj" fmla="val 4103"/>
            </a:avLst>
          </a:prstGeom>
          <a:solidFill>
            <a:srgbClr val="E9F1FC"/>
          </a:solidFill>
          <a:ln w="12700">
            <a:solidFill>
              <a:srgbClr val="E9F1FC"/>
            </a:solidFill>
            <a:prstDash val="solid"/>
          </a:ln>
        </p:spPr>
      </p:sp>
      <p:sp>
        <p:nvSpPr>
          <p:cNvPr id="11" name="Text 8"/>
          <p:cNvSpPr txBox="1"/>
          <p:nvPr/>
        </p:nvSpPr>
        <p:spPr>
          <a:xfrm>
            <a:off x="629107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Evaluation</a:t>
            </a:r>
            <a:endParaRPr lang="en-US" sz="1500" dirty="0"/>
          </a:p>
        </p:txBody>
      </p:sp>
      <p:sp>
        <p:nvSpPr>
          <p:cNvPr id="12" name="Text 9"/>
          <p:cNvSpPr txBox="1"/>
          <p:nvPr/>
        </p:nvSpPr>
        <p:spPr>
          <a:xfrm>
            <a:off x="629107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Medians with bootstrap CIs; 300 paired episodes, McNemar and paired bootstrap; numerical error against FP32.</a:t>
            </a:r>
            <a:endParaRPr lang="en-US" sz="1050" dirty="0"/>
          </a:p>
        </p:txBody>
      </p:sp>
      <p:sp>
        <p:nvSpPr>
          <p:cNvPr id="14" name="Text 10"/>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Finding: where a plan's 622 ms goes</a:t>
            </a:r>
            <a:endParaRPr lang="en-US" sz="2800" dirty="0"/>
          </a:p>
        </p:txBody>
      </p:sp>
      <p:pic>
        <p:nvPicPr>
          <p:cNvPr id="3" name="Image 0" descr="preencoded.png">    </p:cNvPr>
          <p:cNvPicPr>
            <a:picLocks noChangeAspect="1"/>
          </p:cNvPicPr>
          <p:nvPr/>
        </p:nvPicPr>
        <p:blipFill>
          <a:blip r:embed="rId1"/>
          <a:stretch>
            <a:fillRect/>
          </a:stretch>
        </p:blipFill>
        <p:spPr>
          <a:xfrm>
            <a:off x="797742" y="960120"/>
            <a:ext cx="4805316" cy="2286000"/>
          </a:xfrm>
          <a:prstGeom prst="rect">
            <a:avLst/>
          </a:prstGeom>
        </p:spPr>
      </p:pic>
      <p:sp>
        <p:nvSpPr>
          <p:cNvPr id="4" name="Text 1"/>
          <p:cNvSpPr txBox="1"/>
          <p:nvPr/>
        </p:nvSpPr>
        <p:spPr>
          <a:xfrm>
            <a:off x="6126480" y="1051560"/>
            <a:ext cx="2651760" cy="356616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33%: re-encoding the same two images 60 times per plan (telemetry: 60 encoder calls, 2 distinct images).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59%: the search, 12.3 ms per iteration, 409 µs per layer for about 3 µs of arithmetic.</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7%: waiting on the CPU between iterations.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Under 1%: the policy code around the planner.</a:t>
            </a:r>
            <a:endParaRPr lang="en-US" sz="1150" dirty="0"/>
          </a:p>
        </p:txBody>
      </p:sp>
      <p:sp>
        <p:nvSpPr>
          <p:cNvPr id="5" name="Text 2"/>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Top bar: reference planner, by stage. Bottom bar: LeWM-MK (Section 6). Stages without a direct measurement attributed by difference.</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Pattern: the search is overhead, not work</a:t>
            </a:r>
            <a:endParaRPr lang="en-US" sz="2800" dirty="0"/>
          </a:p>
        </p:txBody>
      </p:sp>
      <p:pic>
        <p:nvPicPr>
          <p:cNvPr id="3" name="Image 0" descr="preencoded.png">    </p:cNvPr>
          <p:cNvPicPr>
            <a:picLocks noChangeAspect="1"/>
          </p:cNvPicPr>
          <p:nvPr/>
        </p:nvPicPr>
        <p:blipFill>
          <a:blip r:embed="rId1"/>
          <a:stretch>
            <a:fillRect/>
          </a:stretch>
        </p:blipFill>
        <p:spPr>
          <a:xfrm>
            <a:off x="606829" y="960120"/>
            <a:ext cx="5187142" cy="2377440"/>
          </a:xfrm>
          <a:prstGeom prst="rect">
            <a:avLst/>
          </a:prstGeom>
        </p:spPr>
      </p:pic>
      <p:sp>
        <p:nvSpPr>
          <p:cNvPr id="4" name="Shape 1"/>
          <p:cNvSpPr/>
          <p:nvPr/>
        </p:nvSpPr>
        <p:spPr>
          <a:xfrm>
            <a:off x="6217920" y="1051560"/>
            <a:ext cx="1234440" cy="1051560"/>
          </a:xfrm>
          <a:prstGeom prst="roundRect">
            <a:avLst>
              <a:gd name="adj" fmla="val 6957"/>
            </a:avLst>
          </a:prstGeom>
          <a:solidFill>
            <a:srgbClr val="F3F4F6"/>
          </a:solidFill>
          <a:ln w="12700">
            <a:solidFill>
              <a:srgbClr val="F3F4F6"/>
            </a:solidFill>
            <a:prstDash val="solid"/>
          </a:ln>
        </p:spPr>
      </p:sp>
      <p:sp>
        <p:nvSpPr>
          <p:cNvPr id="5" name="Text 2"/>
          <p:cNvSpPr txBox="1"/>
          <p:nvPr/>
        </p:nvSpPr>
        <p:spPr>
          <a:xfrm>
            <a:off x="6355080" y="1143000"/>
            <a:ext cx="960120" cy="578358"/>
          </a:xfrm>
          <a:prstGeom prst="rect">
            <a:avLst/>
          </a:prstGeom>
          <a:noFill/>
          <a:ln/>
        </p:spPr>
        <p:txBody>
          <a:bodyPr wrap="square" lIns="0" tIns="0" rIns="0" bIns="0" rtlCol="0" anchor="ctr"/>
          <a:lstStyle/>
          <a:p>
            <a:pPr algn="ctr" indent="0" marL="0">
              <a:buNone/>
            </a:pPr>
            <a:r>
              <a:rPr lang="en-US" sz="2600" b="1" dirty="0">
                <a:solidFill>
                  <a:srgbClr val="EB6834"/>
                </a:solidFill>
                <a:latin typeface="Cambria" pitchFamily="34" charset="0"/>
                <a:ea typeface="Cambria" pitchFamily="34" charset="-122"/>
                <a:cs typeface="Cambria" pitchFamily="34" charset="-120"/>
              </a:rPr>
              <a:t>99%</a:t>
            </a:r>
            <a:endParaRPr lang="en-US" sz="2600" dirty="0"/>
          </a:p>
        </p:txBody>
      </p:sp>
      <p:sp>
        <p:nvSpPr>
          <p:cNvPr id="6" name="Text 3"/>
          <p:cNvSpPr txBox="1"/>
          <p:nvPr/>
        </p:nvSpPr>
        <p:spPr>
          <a:xfrm>
            <a:off x="635508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of an eager call</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is fixed cost</a:t>
            </a:r>
            <a:endParaRPr lang="en-US" sz="1000" dirty="0"/>
          </a:p>
        </p:txBody>
      </p:sp>
      <p:sp>
        <p:nvSpPr>
          <p:cNvPr id="7" name="Shape 4"/>
          <p:cNvSpPr/>
          <p:nvPr/>
        </p:nvSpPr>
        <p:spPr>
          <a:xfrm>
            <a:off x="7543800" y="1051560"/>
            <a:ext cx="1234440" cy="1051560"/>
          </a:xfrm>
          <a:prstGeom prst="roundRect">
            <a:avLst>
              <a:gd name="adj" fmla="val 6957"/>
            </a:avLst>
          </a:prstGeom>
          <a:solidFill>
            <a:srgbClr val="F3F4F6"/>
          </a:solidFill>
          <a:ln w="12700">
            <a:solidFill>
              <a:srgbClr val="F3F4F6"/>
            </a:solidFill>
            <a:prstDash val="solid"/>
          </a:ln>
        </p:spPr>
      </p:sp>
      <p:sp>
        <p:nvSpPr>
          <p:cNvPr id="8" name="Text 5"/>
          <p:cNvSpPr txBox="1"/>
          <p:nvPr/>
        </p:nvSpPr>
        <p:spPr>
          <a:xfrm>
            <a:off x="7680960" y="1143000"/>
            <a:ext cx="960120" cy="578358"/>
          </a:xfrm>
          <a:prstGeom prst="rect">
            <a:avLst/>
          </a:prstGeom>
          <a:noFill/>
          <a:ln/>
        </p:spPr>
        <p:txBody>
          <a:bodyPr wrap="square" lIns="0" tIns="0" rIns="0" bIns="0" rtlCol="0" anchor="ctr"/>
          <a:lstStyle/>
          <a:p>
            <a:pPr algn="ctr" indent="0" marL="0">
              <a:buNone/>
            </a:pPr>
            <a:r>
              <a:rPr lang="en-US" sz="2400" b="1" dirty="0">
                <a:solidFill>
                  <a:srgbClr val="EB6834"/>
                </a:solidFill>
                <a:latin typeface="Cambria" pitchFamily="34" charset="0"/>
                <a:ea typeface="Cambria" pitchFamily="34" charset="-122"/>
                <a:cs typeface="Cambria" pitchFamily="34" charset="-120"/>
              </a:rPr>
              <a:t>1.01×</a:t>
            </a:r>
            <a:endParaRPr lang="en-US" sz="2400" dirty="0"/>
          </a:p>
        </p:txBody>
      </p:sp>
      <p:sp>
        <p:nvSpPr>
          <p:cNvPr id="9" name="Text 6"/>
          <p:cNvSpPr txBox="1"/>
          <p:nvPr/>
        </p:nvSpPr>
        <p:spPr>
          <a:xfrm>
            <a:off x="768096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predicted iCEM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gain, eager</a:t>
            </a:r>
            <a:endParaRPr lang="en-US" sz="1000" dirty="0"/>
          </a:p>
        </p:txBody>
      </p:sp>
      <p:sp>
        <p:nvSpPr>
          <p:cNvPr id="10" name="Text 7"/>
          <p:cNvSpPr txBox="1"/>
          <p:nvPr/>
        </p:nvSpPr>
        <p:spPr>
          <a:xfrm>
            <a:off x="6217920" y="2286000"/>
            <a:ext cx="256032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Fitted model: 20.0 ms fixed + 0.10 ms per 100 candidates. Cost does not depend on how much work is done.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So cutting candidates (iCEM) cannot help here: predicted 1.01×, observed 0.92×.</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Only an execution with little fixed cost turns fewer candidates into less time.</a:t>
            </a:r>
            <a:endParaRPr lang="en-US" sz="1100" dirty="0"/>
          </a:p>
        </p:txBody>
      </p:sp>
      <p:sp>
        <p:nvSpPr>
          <p:cNvPr id="11" name="Text 8"/>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Latency of one scoring call vs number of candidates, with fitted lines a + b·N.</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Solution: LeWM-MK, one GPU program per plan</a:t>
            </a:r>
            <a:endParaRPr lang="en-US" sz="2800" dirty="0"/>
          </a:p>
        </p:txBody>
      </p:sp>
      <p:pic>
        <p:nvPicPr>
          <p:cNvPr id="3" name="Image 0" descr="preencoded.png">    </p:cNvPr>
          <p:cNvPicPr>
            <a:picLocks noChangeAspect="1"/>
          </p:cNvPicPr>
          <p:nvPr/>
        </p:nvPicPr>
        <p:blipFill>
          <a:blip r:embed="rId1"/>
          <a:stretch>
            <a:fillRect/>
          </a:stretch>
        </p:blipFill>
        <p:spPr>
          <a:xfrm>
            <a:off x="457200" y="1341764"/>
            <a:ext cx="5394960" cy="2802873"/>
          </a:xfrm>
          <a:prstGeom prst="rect">
            <a:avLst/>
          </a:prstGeom>
        </p:spPr>
      </p:pic>
      <p:sp>
        <p:nvSpPr>
          <p:cNvPr id="4" name="Text 1"/>
          <p:cNvSpPr txBox="1"/>
          <p:nvPr/>
        </p:nvSpPr>
        <p:spPr>
          <a:xfrm>
            <a:off x="6035040" y="1051560"/>
            <a:ext cx="2743200" cy="36576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Encode each image once; cache the goal for the episode.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iCEM search: 2,820 instead of 9,000 imagined futures.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Whole plan in one persistent kernel: sampling, rollouts, scoring, elite selection, encoder; the CPU waits once.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Small model spread across a 16-processor cluster; partial results exchanged on chip; barrier 3.6 → 0.65 µs.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Weights streamed ahead of use; BF16 inputs, FP32 accumulation.</a:t>
            </a:r>
            <a:endParaRPr lang="en-US" sz="1150" dirty="0"/>
          </a:p>
        </p:txBody>
      </p:sp>
      <p:sp>
        <p:nvSpPr>
          <p:cNvPr id="6" name="Text 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Evaluation: 622 ms to 46.5 ms on the same GPU</a:t>
            </a:r>
            <a:endParaRPr lang="en-US" sz="2800" dirty="0"/>
          </a:p>
        </p:txBody>
      </p:sp>
      <p:pic>
        <p:nvPicPr>
          <p:cNvPr id="3" name="Image 0" descr="preencoded.png">    </p:cNvPr>
          <p:cNvPicPr>
            <a:picLocks noChangeAspect="1"/>
          </p:cNvPicPr>
          <p:nvPr/>
        </p:nvPicPr>
        <p:blipFill>
          <a:blip r:embed="rId1"/>
          <a:stretch>
            <a:fillRect/>
          </a:stretch>
        </p:blipFill>
        <p:spPr>
          <a:xfrm>
            <a:off x="457200" y="1113174"/>
            <a:ext cx="5669280" cy="1797011"/>
          </a:xfrm>
          <a:prstGeom prst="rect">
            <a:avLst/>
          </a:prstGeom>
        </p:spPr>
      </p:pic>
      <p:sp>
        <p:nvSpPr>
          <p:cNvPr id="4" name="Shape 1"/>
          <p:cNvSpPr/>
          <p:nvPr/>
        </p:nvSpPr>
        <p:spPr>
          <a:xfrm>
            <a:off x="6309360" y="1051560"/>
            <a:ext cx="1188720" cy="1005840"/>
          </a:xfrm>
          <a:prstGeom prst="roundRect">
            <a:avLst>
              <a:gd name="adj" fmla="val 7273"/>
            </a:avLst>
          </a:prstGeom>
          <a:solidFill>
            <a:srgbClr val="F3F4F6"/>
          </a:solidFill>
          <a:ln w="12700">
            <a:solidFill>
              <a:srgbClr val="F3F4F6"/>
            </a:solidFill>
            <a:prstDash val="solid"/>
          </a:ln>
        </p:spPr>
      </p:sp>
      <p:sp>
        <p:nvSpPr>
          <p:cNvPr id="5" name="Text 2"/>
          <p:cNvSpPr txBox="1"/>
          <p:nvPr/>
        </p:nvSpPr>
        <p:spPr>
          <a:xfrm>
            <a:off x="644652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13.4×</a:t>
            </a:r>
            <a:endParaRPr lang="en-US" sz="2400" dirty="0"/>
          </a:p>
        </p:txBody>
      </p:sp>
      <p:sp>
        <p:nvSpPr>
          <p:cNvPr id="6" name="Text 3"/>
          <p:cNvSpPr txBox="1"/>
          <p:nvPr/>
        </p:nvSpPr>
        <p:spPr>
          <a:xfrm>
            <a:off x="644652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[13.0, 13.5]</a:t>
            </a:r>
            <a:endParaRPr lang="en-US" sz="1000" dirty="0"/>
          </a:p>
        </p:txBody>
      </p:sp>
      <p:sp>
        <p:nvSpPr>
          <p:cNvPr id="7" name="Shape 4"/>
          <p:cNvSpPr/>
          <p:nvPr/>
        </p:nvSpPr>
        <p:spPr>
          <a:xfrm>
            <a:off x="7589520" y="1051560"/>
            <a:ext cx="1188720" cy="1005840"/>
          </a:xfrm>
          <a:prstGeom prst="roundRect">
            <a:avLst>
              <a:gd name="adj" fmla="val 7273"/>
            </a:avLst>
          </a:prstGeom>
          <a:solidFill>
            <a:srgbClr val="F3F4F6"/>
          </a:solidFill>
          <a:ln w="12700">
            <a:solidFill>
              <a:srgbClr val="F3F4F6"/>
            </a:solidFill>
            <a:prstDash val="solid"/>
          </a:ln>
        </p:spPr>
      </p:sp>
      <p:sp>
        <p:nvSpPr>
          <p:cNvPr id="8" name="Text 5"/>
          <p:cNvSpPr txBox="1"/>
          <p:nvPr/>
        </p:nvSpPr>
        <p:spPr>
          <a:xfrm>
            <a:off x="772668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3.9×</a:t>
            </a:r>
            <a:endParaRPr lang="en-US" sz="2400" dirty="0"/>
          </a:p>
        </p:txBody>
      </p:sp>
      <p:sp>
        <p:nvSpPr>
          <p:cNvPr id="9" name="Text 6"/>
          <p:cNvSpPr txBox="1"/>
          <p:nvPr/>
        </p:nvSpPr>
        <p:spPr>
          <a:xfrm>
            <a:off x="772668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optimised</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PyTorch</a:t>
            </a:r>
            <a:endParaRPr lang="en-US" sz="1000" dirty="0"/>
          </a:p>
        </p:txBody>
      </p:sp>
      <p:sp>
        <p:nvSpPr>
          <p:cNvPr id="10" name="Text 7"/>
          <p:cNvSpPr txBox="1"/>
          <p:nvPr/>
        </p:nvSpPr>
        <p:spPr>
          <a:xfrm>
            <a:off x="6309360" y="2240280"/>
            <a:ext cx="246888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90th percentile 47.0 ms; interquartile range 0.7 ms wide.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Fits a 20 Hz control loop at the median.</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Search now 46 µs per layer (was 409); synchronisation about 7% of it.</a:t>
            </a:r>
            <a:endParaRPr lang="en-US" sz="1100" dirty="0"/>
          </a:p>
        </p:txBody>
      </p:sp>
      <p:sp>
        <p:nvSpPr>
          <p:cNvPr id="11" name="Text 8"/>
          <p:cNvSpPr txBox="1"/>
          <p:nvPr/>
        </p:nvSpPr>
        <p:spPr>
          <a:xfrm>
            <a:off x="457200" y="31546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End-to-end planning latency, log scale; points are plans, diamonds medians. Baseline already uses compile, CUDA Graphs and BF16.</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Evaluation: the robot succeeds just as often</a:t>
            </a:r>
            <a:endParaRPr lang="en-US" sz="2800" dirty="0"/>
          </a:p>
        </p:txBody>
      </p:sp>
      <p:pic>
        <p:nvPicPr>
          <p:cNvPr id="3" name="Image 0" descr="preencoded.png">    </p:cNvPr>
          <p:cNvPicPr>
            <a:picLocks noChangeAspect="1"/>
          </p:cNvPicPr>
          <p:nvPr/>
        </p:nvPicPr>
        <p:blipFill>
          <a:blip r:embed="rId1"/>
          <a:stretch>
            <a:fillRect/>
          </a:stretch>
        </p:blipFill>
        <p:spPr>
          <a:xfrm>
            <a:off x="457200" y="1060164"/>
            <a:ext cx="5669280" cy="1628712"/>
          </a:xfrm>
          <a:prstGeom prst="rect">
            <a:avLst/>
          </a:prstGeom>
        </p:spPr>
      </p:pic>
      <p:sp>
        <p:nvSpPr>
          <p:cNvPr id="4" name="Text 1"/>
          <p:cNvSpPr txBox="1"/>
          <p:nvPr/>
        </p:nvSpPr>
        <p:spPr>
          <a:xfrm>
            <a:off x="6309360" y="1051560"/>
            <a:ext cx="2468880" cy="365760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261 / 261 / 260 successes of 300 for reference, optimised PyTorch and LeWM-MK.</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LeWM-MK vs reference: 19 won, 20 lost; −0.3 points [−4.3, +3.7]; McNemar p = 1.00.</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Disagreements are search randomness: the optimised PyTorch planner disagrees on 36.</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Numerical error vs FP32: 0.06–0.32%, matching accepted BF16 (0.05–0.40%).</a:t>
            </a:r>
            <a:endParaRPr lang="en-US" sz="1100" dirty="0"/>
          </a:p>
        </p:txBody>
      </p:sp>
      <p:sp>
        <p:nvSpPr>
          <p:cNvPr id="5" name="Text 2"/>
          <p:cNvSpPr txBox="1"/>
          <p:nvPr/>
        </p:nvSpPr>
        <p:spPr>
          <a:xfrm>
            <a:off x="457200" y="29260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Push-T success on the same 300 episodes, Wilson 95% intervals. 300 pairs detect differences of about 6 points.</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Conclusions, and what I cannot claim</a:t>
            </a:r>
            <a:endParaRPr lang="en-US" sz="2800" dirty="0"/>
          </a:p>
        </p:txBody>
      </p:sp>
      <p:sp>
        <p:nvSpPr>
          <p:cNvPr id="3" name="Text 1"/>
          <p:cNvSpPr txBox="1"/>
          <p:nvPr/>
        </p:nvSpPr>
        <p:spPr>
          <a:xfrm>
            <a:off x="457200" y="1051560"/>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O1</a:t>
            </a:r>
            <a:endParaRPr lang="en-US" sz="1400" dirty="0"/>
          </a:p>
        </p:txBody>
      </p:sp>
      <p:sp>
        <p:nvSpPr>
          <p:cNvPr id="4" name="Text 2"/>
          <p:cNvSpPr txBox="1"/>
          <p:nvPr/>
        </p:nvSpPr>
        <p:spPr>
          <a:xfrm>
            <a:off x="1143000" y="1051560"/>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The reference's time was overhead: 33% redundant encoding, a search 99% fixed cost per call, 7% CPU waits.</a:t>
            </a:r>
            <a:endParaRPr lang="en-US" sz="1150" dirty="0"/>
          </a:p>
        </p:txBody>
      </p:sp>
      <p:sp>
        <p:nvSpPr>
          <p:cNvPr id="5" name="Text 3"/>
          <p:cNvSpPr txBox="1"/>
          <p:nvPr/>
        </p:nvSpPr>
        <p:spPr>
          <a:xfrm>
            <a:off x="457200" y="1801368"/>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O2</a:t>
            </a:r>
            <a:endParaRPr lang="en-US" sz="1400" dirty="0"/>
          </a:p>
        </p:txBody>
      </p:sp>
      <p:sp>
        <p:nvSpPr>
          <p:cNvPr id="6" name="Text 4"/>
          <p:cNvSpPr txBox="1"/>
          <p:nvPr/>
        </p:nvSpPr>
        <p:spPr>
          <a:xfrm>
            <a:off x="1143000" y="1801368"/>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LeWM-MK removes each bottleneck with the model and search budget unchanged.</a:t>
            </a:r>
            <a:endParaRPr lang="en-US" sz="1150" dirty="0"/>
          </a:p>
        </p:txBody>
      </p:sp>
      <p:sp>
        <p:nvSpPr>
          <p:cNvPr id="7" name="Text 5"/>
          <p:cNvSpPr txBox="1"/>
          <p:nvPr/>
        </p:nvSpPr>
        <p:spPr>
          <a:xfrm>
            <a:off x="457200" y="2551176"/>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O3</a:t>
            </a:r>
            <a:endParaRPr lang="en-US" sz="1400" dirty="0"/>
          </a:p>
        </p:txBody>
      </p:sp>
      <p:sp>
        <p:nvSpPr>
          <p:cNvPr id="8" name="Text 6"/>
          <p:cNvSpPr txBox="1"/>
          <p:nvPr/>
        </p:nvSpPr>
        <p:spPr>
          <a:xfrm>
            <a:off x="1143000" y="2551176"/>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46.5 ms per plan: 13.4× the reference, 3.9× optimised PyTorch; success unchanged (−0.3 pts).</a:t>
            </a:r>
            <a:endParaRPr lang="en-US" sz="1150" dirty="0"/>
          </a:p>
        </p:txBody>
      </p:sp>
      <p:sp>
        <p:nvSpPr>
          <p:cNvPr id="9" name="Text 7"/>
          <p:cNvSpPr txBox="1"/>
          <p:nvPr/>
        </p:nvSpPr>
        <p:spPr>
          <a:xfrm>
            <a:off x="457200" y="3300984"/>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O4</a:t>
            </a:r>
            <a:endParaRPr lang="en-US" sz="1400" dirty="0"/>
          </a:p>
        </p:txBody>
      </p:sp>
      <p:sp>
        <p:nvSpPr>
          <p:cNvPr id="10" name="Text 8"/>
          <p:cNvSpPr txBox="1"/>
          <p:nvPr/>
        </p:nvSpPr>
        <p:spPr>
          <a:xfrm>
            <a:off x="1143000" y="3300984"/>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Planner plug-in; one program regenerates every result from the data.</a:t>
            </a:r>
            <a:endParaRPr lang="en-US" sz="1150" dirty="0"/>
          </a:p>
        </p:txBody>
      </p:sp>
      <p:sp>
        <p:nvSpPr>
          <p:cNvPr id="11" name="Shape 9"/>
          <p:cNvSpPr/>
          <p:nvPr/>
        </p:nvSpPr>
        <p:spPr>
          <a:xfrm>
            <a:off x="5577840" y="1051560"/>
            <a:ext cx="3108960" cy="3566160"/>
          </a:xfrm>
          <a:prstGeom prst="roundRect">
            <a:avLst>
              <a:gd name="adj" fmla="val 2353"/>
            </a:avLst>
          </a:prstGeom>
          <a:solidFill>
            <a:srgbClr val="F3F4F6"/>
          </a:solidFill>
          <a:ln w="12700">
            <a:solidFill>
              <a:srgbClr val="F3F4F6"/>
            </a:solidFill>
            <a:prstDash val="solid"/>
          </a:ln>
        </p:spPr>
      </p:sp>
      <p:sp>
        <p:nvSpPr>
          <p:cNvPr id="12" name="Text 10"/>
          <p:cNvSpPr txBox="1"/>
          <p:nvPr/>
        </p:nvSpPr>
        <p:spPr>
          <a:xfrm>
            <a:off x="5760720" y="1161288"/>
            <a:ext cx="2743200" cy="36576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Limits</a:t>
            </a:r>
            <a:endParaRPr lang="en-US" sz="1500" dirty="0"/>
          </a:p>
        </p:txBody>
      </p:sp>
      <p:sp>
        <p:nvSpPr>
          <p:cNvPr id="13" name="Text 11"/>
          <p:cNvSpPr txBox="1"/>
          <p:nvPr/>
        </p:nvSpPr>
        <p:spPr>
          <a:xfrm>
            <a:off x="5760720" y="1572768"/>
            <a:ext cx="2788920" cy="301752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300 pairs resolve about 6 points of success, no less.</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Some profile stages attributed by difference.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One model, one task, one GPU type; H100-only kernel.</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Simulation; only the planning call optimised.</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PyTorch timings vary up to 18% between passes; the kernel's about 2%.</a:t>
            </a:r>
            <a:endParaRPr lang="en-US" sz="1100" dirty="0"/>
          </a:p>
        </p:txBody>
      </p:sp>
      <p:sp>
        <p:nvSpPr>
          <p:cNvPr id="15" name="Text 1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Future work</a:t>
            </a:r>
            <a:endParaRPr lang="en-US" sz="2800" dirty="0"/>
          </a:p>
        </p:txBody>
      </p:sp>
      <p:sp>
        <p:nvSpPr>
          <p:cNvPr id="3" name="Shape 1"/>
          <p:cNvSpPr/>
          <p:nvPr/>
        </p:nvSpPr>
        <p:spPr>
          <a:xfrm>
            <a:off x="457200" y="1143000"/>
            <a:ext cx="365760" cy="365760"/>
          </a:xfrm>
          <a:prstGeom prst="ellipse">
            <a:avLst/>
          </a:prstGeom>
          <a:solidFill>
            <a:srgbClr val="2A78D6"/>
          </a:solidFill>
          <a:ln w="12700">
            <a:solidFill>
              <a:srgbClr val="FFFFFF"/>
            </a:solidFill>
            <a:prstDash val="solid"/>
          </a:ln>
        </p:spPr>
      </p:sp>
      <p:sp>
        <p:nvSpPr>
          <p:cNvPr id="4" name="Text 2"/>
          <p:cNvSpPr txBox="1"/>
          <p:nvPr/>
        </p:nvSpPr>
        <p:spPr>
          <a:xfrm>
            <a:off x="45720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96012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Spend the saved time on better plans</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More iterations or candidates still fit a 100 ms period: map the latency-success trade-off.</a:t>
            </a:r>
            <a:endParaRPr lang="en-US" sz="1250" dirty="0"/>
          </a:p>
        </p:txBody>
      </p:sp>
      <p:sp>
        <p:nvSpPr>
          <p:cNvPr id="6" name="Shape 4"/>
          <p:cNvSpPr/>
          <p:nvPr/>
        </p:nvSpPr>
        <p:spPr>
          <a:xfrm>
            <a:off x="4663440" y="1143000"/>
            <a:ext cx="365760" cy="365760"/>
          </a:xfrm>
          <a:prstGeom prst="ellipse">
            <a:avLst/>
          </a:prstGeom>
          <a:solidFill>
            <a:srgbClr val="2A78D6"/>
          </a:solidFill>
          <a:ln w="12700">
            <a:solidFill>
              <a:srgbClr val="FFFFFF"/>
            </a:solidFill>
            <a:prstDash val="solid"/>
          </a:ln>
        </p:spPr>
      </p:sp>
      <p:sp>
        <p:nvSpPr>
          <p:cNvPr id="7" name="Text 5"/>
          <p:cNvSpPr txBox="1"/>
          <p:nvPr/>
        </p:nvSpPr>
        <p:spPr>
          <a:xfrm>
            <a:off x="466344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516636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Shorten the remaining chain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Combine with a one-pass rollout model, or one layer per cluster with candidates streaming through.</a:t>
            </a:r>
            <a:endParaRPr lang="en-US" sz="1250" dirty="0"/>
          </a:p>
        </p:txBody>
      </p:sp>
      <p:sp>
        <p:nvSpPr>
          <p:cNvPr id="9" name="Shape 7"/>
          <p:cNvSpPr/>
          <p:nvPr/>
        </p:nvSpPr>
        <p:spPr>
          <a:xfrm>
            <a:off x="457200" y="2606040"/>
            <a:ext cx="365760" cy="365760"/>
          </a:xfrm>
          <a:prstGeom prst="ellipse">
            <a:avLst/>
          </a:prstGeom>
          <a:solidFill>
            <a:srgbClr val="2A78D6"/>
          </a:solidFill>
          <a:ln w="12700">
            <a:solidFill>
              <a:srgbClr val="FFFFFF"/>
            </a:solidFill>
            <a:prstDash val="solid"/>
          </a:ln>
        </p:spPr>
      </p:sp>
      <p:sp>
        <p:nvSpPr>
          <p:cNvPr id="10" name="Text 8"/>
          <p:cNvSpPr txBox="1"/>
          <p:nvPr/>
        </p:nvSpPr>
        <p:spPr>
          <a:xfrm>
            <a:off x="45720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96012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Other models and hardware</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Larger world models, onboard robot computers; automatic megakernel compilers.</a:t>
            </a:r>
            <a:endParaRPr lang="en-US" sz="1250" dirty="0"/>
          </a:p>
        </p:txBody>
      </p:sp>
      <p:sp>
        <p:nvSpPr>
          <p:cNvPr id="12" name="Shape 10"/>
          <p:cNvSpPr/>
          <p:nvPr/>
        </p:nvSpPr>
        <p:spPr>
          <a:xfrm>
            <a:off x="4663440" y="2606040"/>
            <a:ext cx="365760" cy="365760"/>
          </a:xfrm>
          <a:prstGeom prst="ellipse">
            <a:avLst/>
          </a:prstGeom>
          <a:solidFill>
            <a:srgbClr val="2A78D6"/>
          </a:solidFill>
          <a:ln w="12700">
            <a:solidFill>
              <a:srgbClr val="FFFFFF"/>
            </a:solidFill>
            <a:prstDash val="solid"/>
          </a:ln>
        </p:spPr>
      </p:sp>
      <p:sp>
        <p:nvSpPr>
          <p:cNvPr id="13" name="Text 11"/>
          <p:cNvSpPr txBox="1"/>
          <p:nvPr/>
        </p:nvSpPr>
        <p:spPr>
          <a:xfrm>
            <a:off x="466344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516636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Evaluate at deployment resolution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About 2,500 paired episodes for 2 points, now minutes of planning; then a physical robot.</a:t>
            </a:r>
            <a:endParaRPr lang="en-US" sz="1250" dirty="0"/>
          </a:p>
        </p:txBody>
      </p:sp>
      <p:sp>
        <p:nvSpPr>
          <p:cNvPr id="16"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54864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Take-home</a:t>
            </a:r>
            <a:endParaRPr lang="en-US" sz="2800" dirty="0"/>
          </a:p>
        </p:txBody>
      </p:sp>
      <p:sp>
        <p:nvSpPr>
          <p:cNvPr id="3" name="Text 1"/>
          <p:cNvSpPr txBox="1"/>
          <p:nvPr/>
        </p:nvSpPr>
        <p:spPr>
          <a:xfrm>
            <a:off x="457200" y="1371600"/>
            <a:ext cx="8229600" cy="274320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Profile before optimising: the world-model planner's time was overhead, not arithmetic.</a:t>
            </a:r>
            <a:endParaRPr lang="en-US" sz="1700" dirty="0"/>
          </a:p>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A one-line fitted model of latency against workload told which fix would pay, and why the smarter search had looked useless.</a:t>
            </a:r>
            <a:endParaRPr lang="en-US" sz="1700" dirty="0"/>
          </a:p>
          <a:p>
            <a:pPr marL="203200" indent="-203200">
              <a:buSzPct val="100000"/>
              <a:buChar char="•"/>
            </a:pPr>
            <a:r>
              <a:rPr lang="en-US" sz="1700" dirty="0">
                <a:solidFill>
                  <a:srgbClr val="FFFFFF"/>
                </a:solidFill>
                <a:latin typeface="Calibri" pitchFamily="34" charset="0"/>
                <a:ea typeface="Calibri" pitchFamily="34" charset="-122"/>
                <a:cs typeface="Calibri" pitchFamily="34" charset="-120"/>
              </a:rPr>
              <a:t>One GPU program per plan: 622 ms to 46.5 ms on the same H100, same model, same task success.</a:t>
            </a:r>
            <a:endParaRPr lang="en-US" sz="1700" dirty="0"/>
          </a:p>
        </p:txBody>
      </p:sp>
      <p:sp>
        <p:nvSpPr>
          <p:cNvPr id="4" name="Text 2"/>
          <p:cNvSpPr txBox="1"/>
          <p:nvPr/>
        </p:nvSpPr>
        <p:spPr>
          <a:xfrm>
            <a:off x="457200" y="4297680"/>
            <a:ext cx="822960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Report, datasets and solution program: docs/paper and solution_pack/ in the project repository.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at the Speed of Control</dc:title>
  <dc:subject>PptxGenJS Presentation</dc:subject>
  <dc:creator>Antoine Nguyen</dc:creator>
  <cp:lastModifiedBy>Antoine Nguyen</cp:lastModifiedBy>
  <cp:revision>1</cp:revision>
  <dcterms:created xsi:type="dcterms:W3CDTF">2026-10-25T04:24:48Z</dcterms:created>
  <dcterms:modified xsi:type="dcterms:W3CDTF">2026-10-25T04:24:48Z</dcterms:modified>
</cp:coreProperties>
</file>