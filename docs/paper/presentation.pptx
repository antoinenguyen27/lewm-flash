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in fifteen minutes: why the planning latency of JEPA world models is a systems problem rather than a modelling problem, and what happens when you treat it as one. The title is the claim: a world-model planner fast enough for a control loop, with the model and the planner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abstract compressed. Keep four numbers in mind: 622 milliseconds for the released planner, 182 for the best PyTorch implementation I had, 46.5 for one kernel launch, and task success that does not move. Everything that follows explains how the 622 becomes 46.5, and why the steps are not the ones you might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motivation is control. LeWM was designed to make planning cheap by shrinking the representation, and it succeeded: the arithmetic of a plan is trivial for a datacentre GPU. Yet a plan still takes over half a second, because of how the planner is executed. That makes it a systems problem, and that is what this project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slide. The project started as a conventional PyTorch optimisation study and ran into a wall: once compilation and BF16 were in, the planner was still dominated by what happens between kernels. That is what pushed me to a megakernel, and the megakernel is what forced the evaluation discipline, because a numeric rewrite of the whole planner needs a paired closed-loop check and an equal-hardware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lineages. JEPA world models, where planning latency has always been addressed by changing the model. Sampling-based planners, where iCEM cut the sample count, and CEM-GD already showed that sample count is not wall time. And small-batch inference, where the megakernel is the newest answer but only for language models. The gap is the intersection: an exact, model-preserving systems treatment of world-model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questions, one per kind of change: exact, planner-level, execution, numeric. The fourth is the guard rail: none of the speed-ups counts if the robot does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on the left: encode the observation and the goal, sample candidates, roll them through the predictor, score, refit, thirty times. The ladder on the right: each rung adds exactly one change, and the side rung prices iCEM inside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kernel. The planner's loop has a static shape once the population schedule is fixed, so the weights it needs and the barriers it crosses are known before it starts. That is what allows a weight stream with no producer warp and a plan with no host involvement.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design. Latency is measured where a deployment feels it, end to end, for one robot. Accuracy is measured on identical episodes so that differences are paired, and the power calculation tells you what the claim of 'unchanged' actually means: no change of six points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The first predates the H100 work and is why R1 and R2 look the way they do. Say plainly that the budget was extended and nearly used, and that the batch-1 harness is what made it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chart top to bottom. Caching takes 40 per cent off. iCEM in eager PyTorch makes it slightly worse. Compilation and BF16 bring it to 182. The megakernel takes it to 59, and fusing the encoder to 46.5. Note also the spread: the PyTorch rungs spread over a hundred milliseconds, the megakernel rungs over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I did not expect. iCEM evaluates three times fewer candidates, and in eager PyTorch it is slightly slower, because each cost call is launch-bound and costs the same at any population size. Only once the execution stops being launch-bound does the population matter. The order of the ladder matters for the accounting.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R4's 46.5 milliseconds go: 41 in the solve, 1.3 in the encoder, about 4 in host glue. And how the solve got to 41: the biggest single win was the memory ordering of one barrier, not a GEMM. That is the signature of a latency-bound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guard rail held. No step changed success detectably, and the discordance between rungs is the size you get from redrawing the random candidates alone. The honest framing is 'no detectable change at six points', not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to the four questions, and the limits in the same breath. The speed-up is robust; the accuracy claim is bounded by the sample size; the factors are specific to this model and this GPU, even if the mechanism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directions in the order I would take them. The first is the most immediate payoff: a fast planner can afford a bigger search. The second and third push latency further. The fourth asks whether the result generalises beyond the most favourable model. The fifth turns compute into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sentences to end on,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914400"/>
            <a:ext cx="82296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Planning at the Speed of Control</a:t>
            </a:r>
            <a:endParaRPr lang="en-US" sz="3600" dirty="0"/>
          </a:p>
        </p:txBody>
      </p:sp>
      <p:sp>
        <p:nvSpPr>
          <p:cNvPr id="3" name="Text 1"/>
          <p:cNvSpPr txBox="1"/>
          <p:nvPr/>
        </p:nvSpPr>
        <p:spPr>
          <a:xfrm>
            <a:off x="457200" y="1828800"/>
            <a:ext cx="8229600" cy="9144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Fusing a JEPA world-model planner into one GPU kernel: an equal-hardware optimisation ladder for LeWorldModel on H100, from exact caching and iCEM to a ThunderKittens megakernel</a:t>
            </a:r>
            <a:endParaRPr lang="en-US" sz="1600" dirty="0"/>
          </a:p>
        </p:txBody>
      </p:sp>
      <p:sp>
        <p:nvSpPr>
          <p:cNvPr id="4" name="Text 2"/>
          <p:cNvSpPr txBox="1"/>
          <p:nvPr/>
        </p:nvSpPr>
        <p:spPr>
          <a:xfrm>
            <a:off x="457200" y="3566160"/>
            <a:ext cx="8229600" cy="91440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Antoine Nguyen  ·  24433599</a:t>
            </a:r>
            <a:endParaRPr lang="en-US" sz="13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Research presentation  ·  [Affiliation]</a:t>
            </a:r>
            <a:endParaRPr lang="en-US" sz="13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Supervisor: [supervisor name]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The project in one slide</a:t>
            </a:r>
            <a:endParaRPr lang="en-US" sz="2800" dirty="0"/>
          </a:p>
        </p:txBody>
      </p:sp>
      <p:sp>
        <p:nvSpPr>
          <p:cNvPr id="3" name="Text 1"/>
          <p:cNvSpPr txBox="1"/>
          <p:nvPr/>
        </p:nvSpPr>
        <p:spPr>
          <a:xfrm>
            <a:off x="457200" y="1051560"/>
            <a:ext cx="5120640" cy="35661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JEPA world models plan by searching over action sequences in latent space; LeWM is the smallest of them, and its released planner still takes 622 ms per plan for one robot on an H100.</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Question: how much of that latency can be removed without changing the model, the planner or its task success, and which kinds of change account for it?</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Method: a seven-rung ladder on one H100, one change per rung, each measured end to end at batch 1 and in closed loop on the same 300 Push-T episodes.</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Answer: exact caching gives 1.65x; iCEM is worth nothing in eager PyTorch and 1.38x in a megakernel; one persistent kernel per plan gives 46.5 ms, with success unchanged.</a:t>
            </a:r>
            <a:endParaRPr lang="en-US" sz="1400" dirty="0"/>
          </a:p>
        </p:txBody>
      </p:sp>
      <p:sp>
        <p:nvSpPr>
          <p:cNvPr id="4" name="Shape 2"/>
          <p:cNvSpPr/>
          <p:nvPr/>
        </p:nvSpPr>
        <p:spPr>
          <a:xfrm>
            <a:off x="5943600" y="1097280"/>
            <a:ext cx="1371600" cy="1051560"/>
          </a:xfrm>
          <a:prstGeom prst="roundRect">
            <a:avLst>
              <a:gd name="adj" fmla="val 6957"/>
            </a:avLst>
          </a:prstGeom>
          <a:solidFill>
            <a:srgbClr val="F3F4F6"/>
          </a:solidFill>
          <a:ln w="12700">
            <a:solidFill>
              <a:srgbClr val="F3F4F6"/>
            </a:solidFill>
            <a:prstDash val="solid"/>
          </a:ln>
        </p:spPr>
      </p:sp>
      <p:sp>
        <p:nvSpPr>
          <p:cNvPr id="5" name="Text 3"/>
          <p:cNvSpPr txBox="1"/>
          <p:nvPr/>
        </p:nvSpPr>
        <p:spPr>
          <a:xfrm>
            <a:off x="6080760" y="1188720"/>
            <a:ext cx="1097280" cy="578358"/>
          </a:xfrm>
          <a:prstGeom prst="rect">
            <a:avLst/>
          </a:prstGeom>
          <a:noFill/>
          <a:ln/>
        </p:spPr>
        <p:txBody>
          <a:bodyPr wrap="square" lIns="0" tIns="0" rIns="0" bIns="0" rtlCol="0" anchor="ctr"/>
          <a:lstStyle/>
          <a:p>
            <a:pPr algn="ctr" indent="0" marL="0">
              <a:buNone/>
            </a:pPr>
            <a:r>
              <a:rPr lang="en-US" sz="2400" b="1" dirty="0">
                <a:solidFill>
                  <a:srgbClr val="5A5A5A"/>
                </a:solidFill>
                <a:latin typeface="Cambria" pitchFamily="34" charset="0"/>
                <a:ea typeface="Cambria" pitchFamily="34" charset="-122"/>
                <a:cs typeface="Cambria" pitchFamily="34" charset="-120"/>
              </a:rPr>
              <a:t>622 ms</a:t>
            </a:r>
            <a:endParaRPr lang="en-US" sz="2400" dirty="0"/>
          </a:p>
        </p:txBody>
      </p:sp>
      <p:sp>
        <p:nvSpPr>
          <p:cNvPr id="6" name="Text 4"/>
          <p:cNvSpPr txBox="1"/>
          <p:nvPr/>
        </p:nvSpPr>
        <p:spPr>
          <a:xfrm>
            <a:off x="6080760" y="172821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reference LeWM,</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CEM, FP32</a:t>
            </a:r>
            <a:endParaRPr lang="en-US" sz="1000" dirty="0"/>
          </a:p>
        </p:txBody>
      </p:sp>
      <p:sp>
        <p:nvSpPr>
          <p:cNvPr id="7" name="Shape 5"/>
          <p:cNvSpPr/>
          <p:nvPr/>
        </p:nvSpPr>
        <p:spPr>
          <a:xfrm>
            <a:off x="7406640" y="1097280"/>
            <a:ext cx="1371600" cy="1051560"/>
          </a:xfrm>
          <a:prstGeom prst="roundRect">
            <a:avLst>
              <a:gd name="adj" fmla="val 6957"/>
            </a:avLst>
          </a:prstGeom>
          <a:solidFill>
            <a:srgbClr val="F3F4F6"/>
          </a:solidFill>
          <a:ln w="12700">
            <a:solidFill>
              <a:srgbClr val="F3F4F6"/>
            </a:solidFill>
            <a:prstDash val="solid"/>
          </a:ln>
        </p:spPr>
      </p:sp>
      <p:sp>
        <p:nvSpPr>
          <p:cNvPr id="8" name="Text 6"/>
          <p:cNvSpPr txBox="1"/>
          <p:nvPr/>
        </p:nvSpPr>
        <p:spPr>
          <a:xfrm>
            <a:off x="7543800" y="1188720"/>
            <a:ext cx="1097280" cy="578358"/>
          </a:xfrm>
          <a:prstGeom prst="rect">
            <a:avLst/>
          </a:prstGeom>
          <a:noFill/>
          <a:ln/>
        </p:spPr>
        <p:txBody>
          <a:bodyPr wrap="square" lIns="0" tIns="0" rIns="0" bIns="0" rtlCol="0" anchor="ctr"/>
          <a:lstStyle/>
          <a:p>
            <a:pPr algn="ctr" indent="0" marL="0">
              <a:buNone/>
            </a:pPr>
            <a:r>
              <a:rPr lang="en-US" sz="2400" b="1" dirty="0">
                <a:solidFill>
                  <a:srgbClr val="EB6834"/>
                </a:solidFill>
                <a:latin typeface="Cambria" pitchFamily="34" charset="0"/>
                <a:ea typeface="Cambria" pitchFamily="34" charset="-122"/>
                <a:cs typeface="Cambria" pitchFamily="34" charset="-120"/>
              </a:rPr>
              <a:t>182 ms</a:t>
            </a:r>
            <a:endParaRPr lang="en-US" sz="2400" dirty="0"/>
          </a:p>
        </p:txBody>
      </p:sp>
      <p:sp>
        <p:nvSpPr>
          <p:cNvPr id="9" name="Text 7"/>
          <p:cNvSpPr txBox="1"/>
          <p:nvPr/>
        </p:nvSpPr>
        <p:spPr>
          <a:xfrm>
            <a:off x="7543800" y="172821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best PyTorch path</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(LeWM-Flash)</a:t>
            </a:r>
            <a:endParaRPr lang="en-US" sz="1000" dirty="0"/>
          </a:p>
        </p:txBody>
      </p:sp>
      <p:sp>
        <p:nvSpPr>
          <p:cNvPr id="10" name="Shape 8"/>
          <p:cNvSpPr/>
          <p:nvPr/>
        </p:nvSpPr>
        <p:spPr>
          <a:xfrm>
            <a:off x="5943600" y="2331720"/>
            <a:ext cx="1371600" cy="1051560"/>
          </a:xfrm>
          <a:prstGeom prst="roundRect">
            <a:avLst>
              <a:gd name="adj" fmla="val 6957"/>
            </a:avLst>
          </a:prstGeom>
          <a:solidFill>
            <a:srgbClr val="F3F4F6"/>
          </a:solidFill>
          <a:ln w="12700">
            <a:solidFill>
              <a:srgbClr val="F3F4F6"/>
            </a:solidFill>
            <a:prstDash val="solid"/>
          </a:ln>
        </p:spPr>
      </p:sp>
      <p:sp>
        <p:nvSpPr>
          <p:cNvPr id="11" name="Text 9"/>
          <p:cNvSpPr txBox="1"/>
          <p:nvPr/>
        </p:nvSpPr>
        <p:spPr>
          <a:xfrm>
            <a:off x="6080760" y="2423160"/>
            <a:ext cx="1097280" cy="578358"/>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46.5 ms</a:t>
            </a:r>
            <a:endParaRPr lang="en-US" sz="2400" dirty="0"/>
          </a:p>
        </p:txBody>
      </p:sp>
      <p:sp>
        <p:nvSpPr>
          <p:cNvPr id="12" name="Text 10"/>
          <p:cNvSpPr txBox="1"/>
          <p:nvPr/>
        </p:nvSpPr>
        <p:spPr>
          <a:xfrm>
            <a:off x="6080760" y="296265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one megakernel</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launch per plan</a:t>
            </a:r>
            <a:endParaRPr lang="en-US" sz="1000" dirty="0"/>
          </a:p>
        </p:txBody>
      </p:sp>
      <p:sp>
        <p:nvSpPr>
          <p:cNvPr id="13" name="Shape 11"/>
          <p:cNvSpPr/>
          <p:nvPr/>
        </p:nvSpPr>
        <p:spPr>
          <a:xfrm>
            <a:off x="7406640" y="2331720"/>
            <a:ext cx="1371600" cy="1051560"/>
          </a:xfrm>
          <a:prstGeom prst="roundRect">
            <a:avLst>
              <a:gd name="adj" fmla="val 6957"/>
            </a:avLst>
          </a:prstGeom>
          <a:solidFill>
            <a:srgbClr val="F3F4F6"/>
          </a:solidFill>
          <a:ln w="12700">
            <a:solidFill>
              <a:srgbClr val="F3F4F6"/>
            </a:solidFill>
            <a:prstDash val="solid"/>
          </a:ln>
        </p:spPr>
      </p:sp>
      <p:sp>
        <p:nvSpPr>
          <p:cNvPr id="14" name="Text 12"/>
          <p:cNvSpPr txBox="1"/>
          <p:nvPr/>
        </p:nvSpPr>
        <p:spPr>
          <a:xfrm>
            <a:off x="7543800" y="2423160"/>
            <a:ext cx="1097280" cy="578358"/>
          </a:xfrm>
          <a:prstGeom prst="rect">
            <a:avLst/>
          </a:prstGeom>
          <a:noFill/>
          <a:ln/>
        </p:spPr>
        <p:txBody>
          <a:bodyPr wrap="square" lIns="0" tIns="0" rIns="0" bIns="0" rtlCol="0" anchor="ctr"/>
          <a:lstStyle/>
          <a:p>
            <a:pPr algn="ctr" indent="0" marL="0">
              <a:buNone/>
            </a:pPr>
            <a:r>
              <a:rPr lang="en-US" sz="2200" b="1" dirty="0">
                <a:solidFill>
                  <a:srgbClr val="14213D"/>
                </a:solidFill>
                <a:latin typeface="Cambria" pitchFamily="34" charset="0"/>
                <a:ea typeface="Cambria" pitchFamily="34" charset="-122"/>
                <a:cs typeface="Cambria" pitchFamily="34" charset="-120"/>
              </a:rPr>
              <a:t>−0.3 pts</a:t>
            </a:r>
            <a:endParaRPr lang="en-US" sz="2200" dirty="0"/>
          </a:p>
        </p:txBody>
      </p:sp>
      <p:sp>
        <p:nvSpPr>
          <p:cNvPr id="15" name="Text 13"/>
          <p:cNvSpPr txBox="1"/>
          <p:nvPr/>
        </p:nvSpPr>
        <p:spPr>
          <a:xfrm>
            <a:off x="7543800" y="296265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success vs reference,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300 paired episodes</a:t>
            </a:r>
            <a:endParaRPr lang="en-US" sz="1000" dirty="0"/>
          </a:p>
        </p:txBody>
      </p:sp>
      <p:sp>
        <p:nvSpPr>
          <p:cNvPr id="16" name="Text 14"/>
          <p:cNvSpPr txBox="1"/>
          <p:nvPr/>
        </p:nvSpPr>
        <p:spPr>
          <a:xfrm>
            <a:off x="5943600" y="3520440"/>
            <a:ext cx="29260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One H100, batch 1, end-to-end plan latency (median); 300 paired episodes</a:t>
            </a:r>
            <a:endParaRPr lang="en-US" sz="1000" dirty="0"/>
          </a:p>
        </p:txBody>
      </p:sp>
      <p:sp>
        <p:nvSpPr>
          <p:cNvPr id="18" name="Text 1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Why this topic: a latency problem</a:t>
            </a:r>
            <a:endParaRPr lang="en-US" sz="2800" dirty="0"/>
          </a:p>
        </p:txBody>
      </p:sp>
      <p:sp>
        <p:nvSpPr>
          <p:cNvPr id="3" name="Text 1"/>
          <p:cNvSpPr txBox="1"/>
          <p:nvPr/>
        </p:nvSpPr>
        <p:spPr>
          <a:xfrm>
            <a:off x="457200" y="1051560"/>
            <a:ext cx="4937760" cy="35661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A controller replans every few steps and must answer within the period it plans for: a 10 Hz loop has 100 ms for sensing, planning and actuation together.</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LeWM's model is tiny: a cost call for 300 candidates is under 0.1 ms of tensor-core arithmetic, and all its weights fit in the H100's L2 cache.</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Its plan is slow for other reasons: re-encoding inside every cost call, a host round trip per optimiser iteration, every operator launched from Python, and a chain of 900 dependent layer evaluations per plan.</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Neither FLOPs nor memory bandwidth binds. The latency of each link of the chain does.</a:t>
            </a:r>
            <a:endParaRPr lang="en-US" sz="1400" dirty="0"/>
          </a:p>
        </p:txBody>
      </p:sp>
      <p:sp>
        <p:nvSpPr>
          <p:cNvPr id="4" name="Shape 2"/>
          <p:cNvSpPr/>
          <p:nvPr/>
        </p:nvSpPr>
        <p:spPr>
          <a:xfrm>
            <a:off x="5760720" y="1097280"/>
            <a:ext cx="1417320" cy="1005840"/>
          </a:xfrm>
          <a:prstGeom prst="roundRect">
            <a:avLst>
              <a:gd name="adj" fmla="val 7273"/>
            </a:avLst>
          </a:prstGeom>
          <a:solidFill>
            <a:srgbClr val="F3F4F6"/>
          </a:solidFill>
          <a:ln w="12700">
            <a:solidFill>
              <a:srgbClr val="F3F4F6"/>
            </a:solidFill>
            <a:prstDash val="solid"/>
          </a:ln>
        </p:spPr>
      </p:sp>
      <p:sp>
        <p:nvSpPr>
          <p:cNvPr id="5" name="Text 3"/>
          <p:cNvSpPr txBox="1"/>
          <p:nvPr/>
        </p:nvSpPr>
        <p:spPr>
          <a:xfrm>
            <a:off x="5897880" y="118872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15M</a:t>
            </a:r>
            <a:endParaRPr lang="en-US" sz="3000" dirty="0"/>
          </a:p>
        </p:txBody>
      </p:sp>
      <p:sp>
        <p:nvSpPr>
          <p:cNvPr id="6" name="Text 4"/>
          <p:cNvSpPr txBox="1"/>
          <p:nvPr/>
        </p:nvSpPr>
        <p:spPr>
          <a:xfrm>
            <a:off x="5897880" y="170078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parameters in</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the whole model</a:t>
            </a:r>
            <a:endParaRPr lang="en-US" sz="1000" dirty="0"/>
          </a:p>
        </p:txBody>
      </p:sp>
      <p:sp>
        <p:nvSpPr>
          <p:cNvPr id="7" name="Shape 5"/>
          <p:cNvSpPr/>
          <p:nvPr/>
        </p:nvSpPr>
        <p:spPr>
          <a:xfrm>
            <a:off x="7315200" y="1097280"/>
            <a:ext cx="1417320" cy="1005840"/>
          </a:xfrm>
          <a:prstGeom prst="roundRect">
            <a:avLst>
              <a:gd name="adj" fmla="val 7273"/>
            </a:avLst>
          </a:prstGeom>
          <a:solidFill>
            <a:srgbClr val="F3F4F6"/>
          </a:solidFill>
          <a:ln w="12700">
            <a:solidFill>
              <a:srgbClr val="F3F4F6"/>
            </a:solidFill>
            <a:prstDash val="solid"/>
          </a:ln>
        </p:spPr>
      </p:sp>
      <p:sp>
        <p:nvSpPr>
          <p:cNvPr id="8" name="Text 6"/>
          <p:cNvSpPr txBox="1"/>
          <p:nvPr/>
        </p:nvSpPr>
        <p:spPr>
          <a:xfrm>
            <a:off x="7452360" y="118872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2,820</a:t>
            </a:r>
            <a:endParaRPr lang="en-US" sz="3000" dirty="0"/>
          </a:p>
        </p:txBody>
      </p:sp>
      <p:sp>
        <p:nvSpPr>
          <p:cNvPr id="9" name="Text 7"/>
          <p:cNvSpPr txBox="1"/>
          <p:nvPr/>
        </p:nvSpPr>
        <p:spPr>
          <a:xfrm>
            <a:off x="7452360" y="170078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rollouts per plan</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(iCEM; CEM: 9,000)</a:t>
            </a:r>
            <a:endParaRPr lang="en-US" sz="1000" dirty="0"/>
          </a:p>
        </p:txBody>
      </p:sp>
      <p:sp>
        <p:nvSpPr>
          <p:cNvPr id="10" name="Shape 8"/>
          <p:cNvSpPr/>
          <p:nvPr/>
        </p:nvSpPr>
        <p:spPr>
          <a:xfrm>
            <a:off x="5760720" y="2286000"/>
            <a:ext cx="1417320" cy="1005840"/>
          </a:xfrm>
          <a:prstGeom prst="roundRect">
            <a:avLst>
              <a:gd name="adj" fmla="val 7273"/>
            </a:avLst>
          </a:prstGeom>
          <a:solidFill>
            <a:srgbClr val="F3F4F6"/>
          </a:solidFill>
          <a:ln w="12700">
            <a:solidFill>
              <a:srgbClr val="F3F4F6"/>
            </a:solidFill>
            <a:prstDash val="solid"/>
          </a:ln>
        </p:spPr>
      </p:sp>
      <p:sp>
        <p:nvSpPr>
          <p:cNvPr id="11" name="Text 9"/>
          <p:cNvSpPr txBox="1"/>
          <p:nvPr/>
        </p:nvSpPr>
        <p:spPr>
          <a:xfrm>
            <a:off x="5897880" y="237744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900</a:t>
            </a:r>
            <a:endParaRPr lang="en-US" sz="3000" dirty="0"/>
          </a:p>
        </p:txBody>
      </p:sp>
      <p:sp>
        <p:nvSpPr>
          <p:cNvPr id="12" name="Text 10"/>
          <p:cNvSpPr txBox="1"/>
          <p:nvPr/>
        </p:nvSpPr>
        <p:spPr>
          <a:xfrm>
            <a:off x="5897880" y="288950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dependent layer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evaluations per plan</a:t>
            </a:r>
            <a:endParaRPr lang="en-US" sz="1000" dirty="0"/>
          </a:p>
        </p:txBody>
      </p:sp>
      <p:sp>
        <p:nvSpPr>
          <p:cNvPr id="13" name="Shape 11"/>
          <p:cNvSpPr/>
          <p:nvPr/>
        </p:nvSpPr>
        <p:spPr>
          <a:xfrm>
            <a:off x="7315200" y="2286000"/>
            <a:ext cx="1417320" cy="1005840"/>
          </a:xfrm>
          <a:prstGeom prst="roundRect">
            <a:avLst>
              <a:gd name="adj" fmla="val 7273"/>
            </a:avLst>
          </a:prstGeom>
          <a:solidFill>
            <a:srgbClr val="F3F4F6"/>
          </a:solidFill>
          <a:ln w="12700">
            <a:solidFill>
              <a:srgbClr val="F3F4F6"/>
            </a:solidFill>
            <a:prstDash val="solid"/>
          </a:ln>
        </p:spPr>
      </p:sp>
      <p:sp>
        <p:nvSpPr>
          <p:cNvPr id="14" name="Text 12"/>
          <p:cNvSpPr txBox="1"/>
          <p:nvPr/>
        </p:nvSpPr>
        <p:spPr>
          <a:xfrm>
            <a:off x="7452360" y="237744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20 ms</a:t>
            </a:r>
            <a:endParaRPr lang="en-US" sz="3000" dirty="0"/>
          </a:p>
        </p:txBody>
      </p:sp>
      <p:sp>
        <p:nvSpPr>
          <p:cNvPr id="15" name="Text 13"/>
          <p:cNvSpPr txBox="1"/>
          <p:nvPr/>
        </p:nvSpPr>
        <p:spPr>
          <a:xfrm>
            <a:off x="7452360" y="288950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one eager cost call,</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at 60 or 300 candidates</a:t>
            </a:r>
            <a:endParaRPr lang="en-US" sz="1000" dirty="0"/>
          </a:p>
        </p:txBody>
      </p:sp>
      <p:sp>
        <p:nvSpPr>
          <p:cNvPr id="16" name="Text 14"/>
          <p:cNvSpPr txBox="1"/>
          <p:nvPr/>
        </p:nvSpPr>
        <p:spPr>
          <a:xfrm>
            <a:off x="5760720" y="3474720"/>
            <a:ext cx="2971800" cy="822960"/>
          </a:xfrm>
          <a:prstGeom prst="rect">
            <a:avLst/>
          </a:prstGeom>
          <a:noFill/>
          <a:ln/>
        </p:spPr>
        <p:txBody>
          <a:bodyPr wrap="square" lIns="0" tIns="0" rIns="0" bIns="0" rtlCol="0" anchor="ctr"/>
          <a:lstStyle/>
          <a:p>
            <a:pPr indent="0" marL="0">
              <a:buNone/>
            </a:pPr>
            <a:r>
              <a:rPr lang="en-US" sz="1100" i="1" dirty="0">
                <a:solidFill>
                  <a:srgbClr val="5A5A5A"/>
                </a:solidFill>
                <a:latin typeface="Calibri" pitchFamily="34" charset="0"/>
                <a:ea typeface="Calibri" pitchFamily="34" charset="-122"/>
                <a:cs typeface="Calibri" pitchFamily="34" charset="-120"/>
              </a:rPr>
              <a:t>The released planner is 30 iterations x 5 predictor passes x 6 layers, each link a handful of small kernels. Batch 1 is what a robot runs.</a:t>
            </a:r>
            <a:endParaRPr lang="en-US" sz="1100" dirty="0"/>
          </a:p>
        </p:txBody>
      </p:sp>
      <p:sp>
        <p:nvSpPr>
          <p:cNvPr id="18" name="Text 1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How I got here (reflection)</a:t>
            </a:r>
            <a:endParaRPr lang="en-US" sz="2800" dirty="0"/>
          </a:p>
        </p:txBody>
      </p:sp>
      <p:sp>
        <p:nvSpPr>
          <p:cNvPr id="3" name="Shape 1"/>
          <p:cNvSpPr/>
          <p:nvPr/>
        </p:nvSpPr>
        <p:spPr>
          <a:xfrm>
            <a:off x="457200" y="1097280"/>
            <a:ext cx="384048" cy="384048"/>
          </a:xfrm>
          <a:prstGeom prst="ellipse">
            <a:avLst/>
          </a:prstGeom>
          <a:solidFill>
            <a:srgbClr val="14213D"/>
          </a:solidFill>
          <a:ln w="12700">
            <a:solidFill>
              <a:srgbClr val="FFFFFF"/>
            </a:solidFill>
            <a:prstDash val="solid"/>
          </a:ln>
        </p:spPr>
      </p:sp>
      <p:sp>
        <p:nvSpPr>
          <p:cNvPr id="4" name="Text 2"/>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005840" y="1051560"/>
            <a:ext cx="7680960" cy="841248"/>
          </a:xfrm>
          <a:prstGeom prst="rect">
            <a:avLst/>
          </a:prstGeom>
          <a:noFill/>
          <a:ln/>
        </p:spPr>
        <p:txBody>
          <a:bodyPr wrap="square" lIns="0" tIns="0" rIns="0" bIns="0" rtlCol="0" anchor="t"/>
          <a:lstStyle/>
          <a:p>
            <a:pPr indent="0" marL="0">
              <a:spcAft>
                <a:spcPts val="200"/>
              </a:spcAft>
              <a:buNone/>
            </a:pPr>
            <a:r>
              <a:rPr lang="en-US" sz="1200" b="1" dirty="0">
                <a:solidFill>
                  <a:srgbClr val="14213D"/>
                </a:solidFill>
                <a:latin typeface="Calibri" pitchFamily="34" charset="0"/>
                <a:ea typeface="Calibri" pitchFamily="34" charset="-122"/>
                <a:cs typeface="Calibri" pitchFamily="34" charset="-120"/>
              </a:rPr>
              <a:t>LeWM-Flash on an L40S</a:t>
            </a:r>
            <a:endParaRPr lang="en-US" sz="1200" dirty="0"/>
          </a:p>
          <a:p>
            <a:pPr indent="0" marL="0">
              <a:spcAft>
                <a:spcPts val="200"/>
              </a:spcAft>
              <a:buNone/>
            </a:pPr>
            <a:r>
              <a:rPr lang="en-US" sz="1200" dirty="0">
                <a:solidFill>
                  <a:srgbClr val="1B1B1B"/>
                </a:solidFill>
                <a:latin typeface="Calibri" pitchFamily="34" charset="0"/>
                <a:ea typeface="Calibri" pitchFamily="34" charset="-122"/>
                <a:cs typeface="Calibri" pitchFamily="34" charset="-120"/>
              </a:rPr>
              <a:t>A ledger of PyTorch-level changes to the released planner, each run as a paired 300-episode sweep: caching, no host syncs, compilation, TF32, iCEM and BF16 accepted; warm starts, whole-loop compile, CEM-GD and static BF16 rejected.</a:t>
            </a:r>
            <a:endParaRPr lang="en-US" sz="1200" dirty="0"/>
          </a:p>
        </p:txBody>
      </p:sp>
      <p:sp>
        <p:nvSpPr>
          <p:cNvPr id="6" name="Shape 4"/>
          <p:cNvSpPr/>
          <p:nvPr/>
        </p:nvSpPr>
        <p:spPr>
          <a:xfrm>
            <a:off x="457200" y="1993392"/>
            <a:ext cx="384048" cy="384048"/>
          </a:xfrm>
          <a:prstGeom prst="ellipse">
            <a:avLst/>
          </a:prstGeom>
          <a:solidFill>
            <a:srgbClr val="14213D"/>
          </a:solidFill>
          <a:ln w="12700">
            <a:solidFill>
              <a:srgbClr val="FFFFFF"/>
            </a:solidFill>
            <a:prstDash val="solid"/>
          </a:ln>
        </p:spPr>
      </p:sp>
      <p:sp>
        <p:nvSpPr>
          <p:cNvPr id="7" name="Text 5"/>
          <p:cNvSpPr txBox="1"/>
          <p:nvPr/>
        </p:nvSpPr>
        <p:spPr>
          <a:xfrm>
            <a:off x="457200"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1005840" y="1947672"/>
            <a:ext cx="7680960" cy="841248"/>
          </a:xfrm>
          <a:prstGeom prst="rect">
            <a:avLst/>
          </a:prstGeom>
          <a:noFill/>
          <a:ln/>
        </p:spPr>
        <p:txBody>
          <a:bodyPr wrap="square" lIns="0" tIns="0" rIns="0" bIns="0" rtlCol="0" anchor="t"/>
          <a:lstStyle/>
          <a:p>
            <a:pPr indent="0" marL="0">
              <a:spcAft>
                <a:spcPts val="200"/>
              </a:spcAft>
              <a:buNone/>
            </a:pPr>
            <a:r>
              <a:rPr lang="en-US" sz="1200" b="1" dirty="0">
                <a:solidFill>
                  <a:srgbClr val="14213D"/>
                </a:solidFill>
                <a:latin typeface="Calibri" pitchFamily="34" charset="0"/>
                <a:ea typeface="Calibri" pitchFamily="34" charset="-122"/>
                <a:cs typeface="Calibri" pitchFamily="34" charset="-120"/>
              </a:rPr>
              <a:t>The wall</a:t>
            </a:r>
            <a:endParaRPr lang="en-US" sz="1200" dirty="0"/>
          </a:p>
          <a:p>
            <a:pPr indent="0" marL="0">
              <a:spcAft>
                <a:spcPts val="200"/>
              </a:spcAft>
              <a:buNone/>
            </a:pPr>
            <a:r>
              <a:rPr lang="en-US" sz="1200" dirty="0">
                <a:solidFill>
                  <a:srgbClr val="1B1B1B"/>
                </a:solidFill>
                <a:latin typeface="Calibri" pitchFamily="34" charset="0"/>
                <a:ea typeface="Calibri" pitchFamily="34" charset="-122"/>
                <a:cs typeface="Calibri" pitchFamily="34" charset="-120"/>
              </a:rPr>
              <a:t>The best PyTorch planner still spent most of its time between kernels: 82 ms per solve on an H100 for a few milliseconds of arithmetic. Compilers fuse operators, not an optimiser loop.</a:t>
            </a:r>
            <a:endParaRPr lang="en-US" sz="1200" dirty="0"/>
          </a:p>
        </p:txBody>
      </p:sp>
      <p:sp>
        <p:nvSpPr>
          <p:cNvPr id="9" name="Shape 7"/>
          <p:cNvSpPr/>
          <p:nvPr/>
        </p:nvSpPr>
        <p:spPr>
          <a:xfrm>
            <a:off x="457200" y="2889504"/>
            <a:ext cx="384048" cy="384048"/>
          </a:xfrm>
          <a:prstGeom prst="ellipse">
            <a:avLst/>
          </a:prstGeom>
          <a:solidFill>
            <a:srgbClr val="14213D"/>
          </a:solidFill>
          <a:ln w="12700">
            <a:solidFill>
              <a:srgbClr val="FFFFFF"/>
            </a:solidFill>
            <a:prstDash val="solid"/>
          </a:ln>
        </p:spPr>
      </p:sp>
      <p:sp>
        <p:nvSpPr>
          <p:cNvPr id="10" name="Text 8"/>
          <p:cNvSpPr txBox="1"/>
          <p:nvPr/>
        </p:nvSpPr>
        <p:spPr>
          <a:xfrm>
            <a:off x="457200" y="2889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1" name="Text 9"/>
          <p:cNvSpPr txBox="1"/>
          <p:nvPr/>
        </p:nvSpPr>
        <p:spPr>
          <a:xfrm>
            <a:off x="1005840" y="2843784"/>
            <a:ext cx="7680960" cy="841248"/>
          </a:xfrm>
          <a:prstGeom prst="rect">
            <a:avLst/>
          </a:prstGeom>
          <a:noFill/>
          <a:ln/>
        </p:spPr>
        <p:txBody>
          <a:bodyPr wrap="square" lIns="0" tIns="0" rIns="0" bIns="0" rtlCol="0" anchor="t"/>
          <a:lstStyle/>
          <a:p>
            <a:pPr indent="0" marL="0">
              <a:spcAft>
                <a:spcPts val="200"/>
              </a:spcAft>
              <a:buNone/>
            </a:pPr>
            <a:r>
              <a:rPr lang="en-US" sz="1200" b="1" dirty="0">
                <a:solidFill>
                  <a:srgbClr val="14213D"/>
                </a:solidFill>
                <a:latin typeface="Calibri" pitchFamily="34" charset="0"/>
                <a:ea typeface="Calibri" pitchFamily="34" charset="-122"/>
                <a:cs typeface="Calibri" pitchFamily="34" charset="-120"/>
              </a:rPr>
              <a:t>The megakernel</a:t>
            </a:r>
            <a:endParaRPr lang="en-US" sz="1200" dirty="0"/>
          </a:p>
          <a:p>
            <a:pPr indent="0" marL="0">
              <a:spcAft>
                <a:spcPts val="200"/>
              </a:spcAft>
              <a:buNone/>
            </a:pPr>
            <a:r>
              <a:rPr lang="en-US" sz="1200" dirty="0">
                <a:solidFill>
                  <a:srgbClr val="1B1B1B"/>
                </a:solidFill>
                <a:latin typeface="Calibri" pitchFamily="34" charset="0"/>
                <a:ea typeface="Calibri" pitchFamily="34" charset="-122"/>
                <a:cs typeface="Calibri" pitchFamily="34" charset="-120"/>
              </a:rPr>
              <a:t>Rewrite the whole iCEM solve as one persistent ThunderKittens kernel on Hopper, following the LLM-decoding megakernels: 76.9 ms for the first correct kernel, 41.3 ms after five tuning steps.</a:t>
            </a:r>
            <a:endParaRPr lang="en-US" sz="1200" dirty="0"/>
          </a:p>
        </p:txBody>
      </p:sp>
      <p:sp>
        <p:nvSpPr>
          <p:cNvPr id="12" name="Shape 10"/>
          <p:cNvSpPr/>
          <p:nvPr/>
        </p:nvSpPr>
        <p:spPr>
          <a:xfrm>
            <a:off x="457200" y="3785616"/>
            <a:ext cx="384048" cy="384048"/>
          </a:xfrm>
          <a:prstGeom prst="ellipse">
            <a:avLst/>
          </a:prstGeom>
          <a:solidFill>
            <a:srgbClr val="2A78D6"/>
          </a:solidFill>
          <a:ln w="12700">
            <a:solidFill>
              <a:srgbClr val="FFFFFF"/>
            </a:solidFill>
            <a:prstDash val="solid"/>
          </a:ln>
        </p:spPr>
      </p:sp>
      <p:sp>
        <p:nvSpPr>
          <p:cNvPr id="13" name="Text 11"/>
          <p:cNvSpPr txBox="1"/>
          <p:nvPr/>
        </p:nvSpPr>
        <p:spPr>
          <a:xfrm>
            <a:off x="457200" y="37856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1005840" y="3739896"/>
            <a:ext cx="7680960" cy="841248"/>
          </a:xfrm>
          <a:prstGeom prst="rect">
            <a:avLst/>
          </a:prstGeom>
          <a:noFill/>
          <a:ln/>
        </p:spPr>
        <p:txBody>
          <a:bodyPr wrap="square" lIns="0" tIns="0" rIns="0" bIns="0" rtlCol="0" anchor="t"/>
          <a:lstStyle/>
          <a:p>
            <a:pPr indent="0" marL="0">
              <a:spcAft>
                <a:spcPts val="200"/>
              </a:spcAft>
              <a:buNone/>
            </a:pPr>
            <a:r>
              <a:rPr lang="en-US" sz="1200" b="1" dirty="0">
                <a:solidFill>
                  <a:srgbClr val="14213D"/>
                </a:solidFill>
                <a:latin typeface="Calibri" pitchFamily="34" charset="0"/>
                <a:ea typeface="Calibri" pitchFamily="34" charset="-122"/>
                <a:cs typeface="Calibri" pitchFamily="34" charset="-120"/>
              </a:rPr>
              <a:t>The ladder</a:t>
            </a:r>
            <a:endParaRPr lang="en-US" sz="1200" dirty="0"/>
          </a:p>
          <a:p>
            <a:pPr indent="0" marL="0">
              <a:spcAft>
                <a:spcPts val="200"/>
              </a:spcAft>
              <a:buNone/>
            </a:pPr>
            <a:r>
              <a:rPr lang="en-US" sz="1200" dirty="0">
                <a:solidFill>
                  <a:srgbClr val="1B1B1B"/>
                </a:solidFill>
                <a:latin typeface="Calibri" pitchFamily="34" charset="0"/>
                <a:ea typeface="Calibri" pitchFamily="34" charset="-122"/>
                <a:cs typeface="Calibri" pitchFamily="34" charset="-120"/>
              </a:rPr>
              <a:t>Measure every step on the same H100 against the reference, at batch 1 end to end, with paired closed-loop success; then fuse the encoder so that a plan is one launch.</a:t>
            </a:r>
            <a:endParaRPr lang="en-US" sz="1200" dirty="0"/>
          </a:p>
        </p:txBody>
      </p:sp>
      <p:sp>
        <p:nvSpPr>
          <p:cNvPr id="16"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Literature review: three lineages, one gap</a:t>
            </a:r>
            <a:endParaRPr lang="en-US" sz="2800" dirty="0"/>
          </a:p>
        </p:txBody>
      </p:sp>
      <p:sp>
        <p:nvSpPr>
          <p:cNvPr id="3" name="Shape 1"/>
          <p:cNvSpPr/>
          <p:nvPr/>
        </p:nvSpPr>
        <p:spPr>
          <a:xfrm>
            <a:off x="457200" y="1051560"/>
            <a:ext cx="2651760" cy="2651760"/>
          </a:xfrm>
          <a:prstGeom prst="roundRect">
            <a:avLst>
              <a:gd name="adj" fmla="val 2759"/>
            </a:avLst>
          </a:prstGeom>
          <a:solidFill>
            <a:srgbClr val="F3F4F6"/>
          </a:solidFill>
          <a:ln w="12700">
            <a:solidFill>
              <a:srgbClr val="F3F4F6"/>
            </a:solidFill>
            <a:prstDash val="solid"/>
          </a:ln>
        </p:spPr>
      </p:sp>
      <p:sp>
        <p:nvSpPr>
          <p:cNvPr id="4" name="Text 2"/>
          <p:cNvSpPr txBox="1"/>
          <p:nvPr/>
        </p:nvSpPr>
        <p:spPr>
          <a:xfrm>
            <a:off x="62179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JEPA world models</a:t>
            </a:r>
            <a:endParaRPr lang="en-US" sz="1500" dirty="0"/>
          </a:p>
        </p:txBody>
      </p:sp>
      <p:sp>
        <p:nvSpPr>
          <p:cNvPr id="5" name="Text 3"/>
          <p:cNvSpPr txBox="1"/>
          <p:nvPr/>
        </p:nvSpPr>
        <p:spPr>
          <a:xfrm>
            <a:off x="621792" y="1581912"/>
            <a:ext cx="2331720" cy="201168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I-JEPA, V-JEPA, DINO-WM, PLDM, V-JEPA 2-AC, LeWM: all plan with CEM-family MPC in latent space. Latency is reported coarsely, if at all (53 s per DINO-WM call, 16 s per V-JEPA 2-AC action, LeWM 'under one second'), and every speed-up changes the model or the planner.</a:t>
            </a:r>
            <a:endParaRPr lang="en-US" sz="1150" dirty="0"/>
          </a:p>
        </p:txBody>
      </p:sp>
      <p:sp>
        <p:nvSpPr>
          <p:cNvPr id="6" name="Shape 4"/>
          <p:cNvSpPr/>
          <p:nvPr/>
        </p:nvSpPr>
        <p:spPr>
          <a:xfrm>
            <a:off x="3291840" y="1051560"/>
            <a:ext cx="2651760" cy="2651760"/>
          </a:xfrm>
          <a:prstGeom prst="roundRect">
            <a:avLst>
              <a:gd name="adj" fmla="val 2759"/>
            </a:avLst>
          </a:prstGeom>
          <a:solidFill>
            <a:srgbClr val="F3F4F6"/>
          </a:solidFill>
          <a:ln w="12700">
            <a:solidFill>
              <a:srgbClr val="F3F4F6"/>
            </a:solidFill>
            <a:prstDash val="solid"/>
          </a:ln>
        </p:spPr>
      </p:sp>
      <p:sp>
        <p:nvSpPr>
          <p:cNvPr id="7" name="Text 5"/>
          <p:cNvSpPr txBox="1"/>
          <p:nvPr/>
        </p:nvSpPr>
        <p:spPr>
          <a:xfrm>
            <a:off x="345643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CEM to iCEM</a:t>
            </a:r>
            <a:endParaRPr lang="en-US" sz="1500" dirty="0"/>
          </a:p>
        </p:txBody>
      </p:sp>
      <p:sp>
        <p:nvSpPr>
          <p:cNvPr id="8" name="Text 6"/>
          <p:cNvSpPr txBox="1"/>
          <p:nvPr/>
        </p:nvSpPr>
        <p:spPr>
          <a:xfrm>
            <a:off x="3456432" y="1581912"/>
            <a:ext cx="2331720" cy="201168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CEM (Rubinstein) and PETS/PlaNet made latent CEM-MPC the standard. iCEM adds a decaying population and elite memory: 2.7-22x fewer samples. CEM-GD shows the catch: fewer samples do not mean less time unless the per-iteration cost falls too.</a:t>
            </a:r>
            <a:endParaRPr lang="en-US" sz="1150" dirty="0"/>
          </a:p>
        </p:txBody>
      </p:sp>
      <p:sp>
        <p:nvSpPr>
          <p:cNvPr id="9" name="Shape 7"/>
          <p:cNvSpPr/>
          <p:nvPr/>
        </p:nvSpPr>
        <p:spPr>
          <a:xfrm>
            <a:off x="6126480" y="1051560"/>
            <a:ext cx="2651760" cy="2651760"/>
          </a:xfrm>
          <a:prstGeom prst="roundRect">
            <a:avLst>
              <a:gd name="adj" fmla="val 2759"/>
            </a:avLst>
          </a:prstGeom>
          <a:solidFill>
            <a:srgbClr val="F3F4F6"/>
          </a:solidFill>
          <a:ln w="12700">
            <a:solidFill>
              <a:srgbClr val="F3F4F6"/>
            </a:solidFill>
            <a:prstDash val="solid"/>
          </a:ln>
        </p:spPr>
      </p:sp>
      <p:sp>
        <p:nvSpPr>
          <p:cNvPr id="10" name="Text 8"/>
          <p:cNvSpPr txBox="1"/>
          <p:nvPr/>
        </p:nvSpPr>
        <p:spPr>
          <a:xfrm>
            <a:off x="629107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Kernels and fusion</a:t>
            </a:r>
            <a:endParaRPr lang="en-US" sz="1500" dirty="0"/>
          </a:p>
        </p:txBody>
      </p:sp>
      <p:sp>
        <p:nvSpPr>
          <p:cNvPr id="11" name="Text 9"/>
          <p:cNvSpPr txBox="1"/>
          <p:nvPr/>
        </p:nvSpPr>
        <p:spPr>
          <a:xfrm>
            <a:off x="6291072" y="1581912"/>
            <a:ext cx="2331720" cy="201168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Small-batch inference is launch- and latency-bound. FlashAttention fuses an operator; torch.compile and CUDA graphs fuse regions; megakernels (Hazy Llama-1B, FlashFormer, MPK) fuse a whole LLM forward pass into one launch. None fuses an optimiser loop.</a:t>
            </a:r>
            <a:endParaRPr lang="en-US" sz="1150" dirty="0"/>
          </a:p>
        </p:txBody>
      </p:sp>
      <p:sp>
        <p:nvSpPr>
          <p:cNvPr id="12" name="Text 10"/>
          <p:cNvSpPr txBox="1"/>
          <p:nvPr/>
        </p:nvSpPr>
        <p:spPr>
          <a:xfrm>
            <a:off x="457200" y="3840480"/>
            <a:ext cx="8229600" cy="1005840"/>
          </a:xfrm>
          <a:prstGeom prst="rect">
            <a:avLst/>
          </a:prstGeom>
          <a:noFill/>
          <a:ln/>
        </p:spPr>
        <p:txBody>
          <a:bodyPr wrap="square" lIns="0" tIns="0" rIns="0" bIns="0" rtlCol="0" anchor="t"/>
          <a:lstStyle/>
          <a:p>
            <a:pPr indent="0" marL="0">
              <a:buNone/>
            </a:pPr>
            <a:r>
              <a:rPr lang="en-US" sz="1200" b="1" dirty="0">
                <a:solidFill>
                  <a:srgbClr val="14213D"/>
                </a:solidFill>
                <a:latin typeface="Calibri" pitchFamily="34" charset="0"/>
                <a:ea typeface="Calibri" pitchFamily="34" charset="-122"/>
                <a:cs typeface="Calibri" pitchFamily="34" charset="-120"/>
              </a:rPr>
              <a:t>The gap. </a:t>
            </a:r>
            <a:pPr indent="0" marL="0">
              <a:buNone/>
            </a:pPr>
            <a:r>
              <a:rPr lang="en-US" sz="1200" dirty="0">
                <a:solidFill>
                  <a:srgbClr val="1B1B1B"/>
                </a:solidFill>
                <a:latin typeface="Calibri" pitchFamily="34" charset="0"/>
                <a:ea typeface="Calibri" pitchFamily="34" charset="-122"/>
                <a:cs typeface="Calibri" pitchFamily="34" charset="-120"/>
              </a:rPr>
              <a:t>No work holds a JEPA world model and its planner fixed and measures what the execution of the planner costs; iCEM has run on LeWM only as an evaluated solver; and no kernel fuses a whole sampling-based planning loop with a neural encoder, a transformer rollout, elite selection and distribution updates. GPU MPC (STORM, cuRobo, MPPI-Generic) is fast only with analytic dynamics.</a:t>
            </a:r>
            <a:endParaRPr lang="en-US" sz="1200" dirty="0"/>
          </a:p>
        </p:txBody>
      </p:sp>
      <p:sp>
        <p:nvSpPr>
          <p:cNvPr id="14" name="Text 1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Research questions</a:t>
            </a:r>
            <a:endParaRPr lang="en-US" sz="2800" dirty="0"/>
          </a:p>
        </p:txBody>
      </p:sp>
      <p:sp>
        <p:nvSpPr>
          <p:cNvPr id="3" name="Shape 1"/>
          <p:cNvSpPr/>
          <p:nvPr/>
        </p:nvSpPr>
        <p:spPr>
          <a:xfrm>
            <a:off x="457200" y="1097280"/>
            <a:ext cx="914400" cy="640080"/>
          </a:xfrm>
          <a:prstGeom prst="roundRect">
            <a:avLst>
              <a:gd name="adj" fmla="val 11429"/>
            </a:avLst>
          </a:prstGeom>
          <a:solidFill>
            <a:srgbClr val="14213D"/>
          </a:solidFill>
          <a:ln w="12700">
            <a:solidFill>
              <a:srgbClr val="14213D"/>
            </a:solidFill>
            <a:prstDash val="solid"/>
          </a:ln>
        </p:spPr>
      </p:sp>
      <p:sp>
        <p:nvSpPr>
          <p:cNvPr id="4" name="Text 2"/>
          <p:cNvSpPr txBox="1"/>
          <p:nvPr/>
        </p:nvSpPr>
        <p:spPr>
          <a:xfrm>
            <a:off x="457200" y="1097280"/>
            <a:ext cx="9144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RQ1</a:t>
            </a:r>
            <a:endParaRPr lang="en-US" sz="1600" dirty="0"/>
          </a:p>
        </p:txBody>
      </p:sp>
      <p:sp>
        <p:nvSpPr>
          <p:cNvPr id="5" name="Text 3"/>
          <p:cNvSpPr txBox="1"/>
          <p:nvPr/>
        </p:nvSpPr>
        <p:spPr>
          <a:xfrm>
            <a:off x="1600200" y="1097280"/>
            <a:ext cx="7086600" cy="640080"/>
          </a:xfrm>
          <a:prstGeom prst="rect">
            <a:avLst/>
          </a:prstGeom>
          <a:noFill/>
          <a:ln/>
        </p:spPr>
        <p:txBody>
          <a:bodyPr wrap="square" lIns="0" tIns="0" rIns="0" bIns="0" rtlCol="0" anchor="ctr"/>
          <a:lstStyle/>
          <a:p>
            <a:pPr indent="0" marL="0">
              <a:buNone/>
            </a:pPr>
            <a:r>
              <a:rPr lang="en-US" sz="1400" dirty="0">
                <a:solidFill>
                  <a:srgbClr val="1B1B1B"/>
                </a:solidFill>
                <a:latin typeface="Calibri" pitchFamily="34" charset="0"/>
                <a:ea typeface="Calibri" pitchFamily="34" charset="-122"/>
                <a:cs typeface="Calibri" pitchFamily="34" charset="-120"/>
              </a:rPr>
              <a:t>How much of the reference planner's latency is redundant work that an exact change removes?</a:t>
            </a:r>
            <a:endParaRPr lang="en-US" sz="1400" dirty="0"/>
          </a:p>
        </p:txBody>
      </p:sp>
      <p:sp>
        <p:nvSpPr>
          <p:cNvPr id="6" name="Shape 4"/>
          <p:cNvSpPr/>
          <p:nvPr/>
        </p:nvSpPr>
        <p:spPr>
          <a:xfrm>
            <a:off x="457200" y="1965960"/>
            <a:ext cx="914400" cy="640080"/>
          </a:xfrm>
          <a:prstGeom prst="roundRect">
            <a:avLst>
              <a:gd name="adj" fmla="val 11429"/>
            </a:avLst>
          </a:prstGeom>
          <a:solidFill>
            <a:srgbClr val="14213D"/>
          </a:solidFill>
          <a:ln w="12700">
            <a:solidFill>
              <a:srgbClr val="14213D"/>
            </a:solidFill>
            <a:prstDash val="solid"/>
          </a:ln>
        </p:spPr>
      </p:sp>
      <p:sp>
        <p:nvSpPr>
          <p:cNvPr id="7" name="Text 5"/>
          <p:cNvSpPr txBox="1"/>
          <p:nvPr/>
        </p:nvSpPr>
        <p:spPr>
          <a:xfrm>
            <a:off x="457200" y="1965960"/>
            <a:ext cx="9144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RQ2</a:t>
            </a:r>
            <a:endParaRPr lang="en-US" sz="1600" dirty="0"/>
          </a:p>
        </p:txBody>
      </p:sp>
      <p:sp>
        <p:nvSpPr>
          <p:cNvPr id="8" name="Text 6"/>
          <p:cNvSpPr txBox="1"/>
          <p:nvPr/>
        </p:nvSpPr>
        <p:spPr>
          <a:xfrm>
            <a:off x="1600200" y="1965960"/>
            <a:ext cx="7086600" cy="640080"/>
          </a:xfrm>
          <a:prstGeom prst="rect">
            <a:avLst/>
          </a:prstGeom>
          <a:noFill/>
          <a:ln/>
        </p:spPr>
        <p:txBody>
          <a:bodyPr wrap="square" lIns="0" tIns="0" rIns="0" bIns="0" rtlCol="0" anchor="ctr"/>
          <a:lstStyle/>
          <a:p>
            <a:pPr indent="0" marL="0">
              <a:buNone/>
            </a:pPr>
            <a:r>
              <a:rPr lang="en-US" sz="1400" dirty="0">
                <a:solidFill>
                  <a:srgbClr val="1B1B1B"/>
                </a:solidFill>
                <a:latin typeface="Calibri" pitchFamily="34" charset="0"/>
                <a:ea typeface="Calibri" pitchFamily="34" charset="-122"/>
                <a:cs typeface="Calibri" pitchFamily="34" charset="-120"/>
              </a:rPr>
              <a:t>Does iCEM make planning faster, by how much, and does it change task success?</a:t>
            </a:r>
            <a:endParaRPr lang="en-US" sz="1400" dirty="0"/>
          </a:p>
        </p:txBody>
      </p:sp>
      <p:sp>
        <p:nvSpPr>
          <p:cNvPr id="9" name="Shape 7"/>
          <p:cNvSpPr/>
          <p:nvPr/>
        </p:nvSpPr>
        <p:spPr>
          <a:xfrm>
            <a:off x="457200" y="2834640"/>
            <a:ext cx="914400" cy="640080"/>
          </a:xfrm>
          <a:prstGeom prst="roundRect">
            <a:avLst>
              <a:gd name="adj" fmla="val 11429"/>
            </a:avLst>
          </a:prstGeom>
          <a:solidFill>
            <a:srgbClr val="14213D"/>
          </a:solidFill>
          <a:ln w="12700">
            <a:solidFill>
              <a:srgbClr val="14213D"/>
            </a:solidFill>
            <a:prstDash val="solid"/>
          </a:ln>
        </p:spPr>
      </p:sp>
      <p:sp>
        <p:nvSpPr>
          <p:cNvPr id="10" name="Text 8"/>
          <p:cNvSpPr txBox="1"/>
          <p:nvPr/>
        </p:nvSpPr>
        <p:spPr>
          <a:xfrm>
            <a:off x="457200" y="2834640"/>
            <a:ext cx="9144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RQ3</a:t>
            </a:r>
            <a:endParaRPr lang="en-US" sz="1600" dirty="0"/>
          </a:p>
        </p:txBody>
      </p:sp>
      <p:sp>
        <p:nvSpPr>
          <p:cNvPr id="11" name="Text 9"/>
          <p:cNvSpPr txBox="1"/>
          <p:nvPr/>
        </p:nvSpPr>
        <p:spPr>
          <a:xfrm>
            <a:off x="1600200" y="2834640"/>
            <a:ext cx="7086600" cy="640080"/>
          </a:xfrm>
          <a:prstGeom prst="rect">
            <a:avLst/>
          </a:prstGeom>
          <a:noFill/>
          <a:ln/>
        </p:spPr>
        <p:txBody>
          <a:bodyPr wrap="square" lIns="0" tIns="0" rIns="0" bIns="0" rtlCol="0" anchor="ctr"/>
          <a:lstStyle/>
          <a:p>
            <a:pPr indent="0" marL="0">
              <a:buNone/>
            </a:pPr>
            <a:r>
              <a:rPr lang="en-US" sz="1400" dirty="0">
                <a:solidFill>
                  <a:srgbClr val="1B1B1B"/>
                </a:solidFill>
                <a:latin typeface="Calibri" pitchFamily="34" charset="0"/>
                <a:ea typeface="Calibri" pitchFamily="34" charset="-122"/>
                <a:cs typeface="Calibri" pitchFamily="34" charset="-120"/>
              </a:rPr>
              <a:t>How much does executing the whole planner as one persistent kernel gain over the best PyTorch implementation of the same planner?</a:t>
            </a:r>
            <a:endParaRPr lang="en-US" sz="1400" dirty="0"/>
          </a:p>
        </p:txBody>
      </p:sp>
      <p:sp>
        <p:nvSpPr>
          <p:cNvPr id="12" name="Shape 10"/>
          <p:cNvSpPr/>
          <p:nvPr/>
        </p:nvSpPr>
        <p:spPr>
          <a:xfrm>
            <a:off x="457200" y="3703320"/>
            <a:ext cx="914400" cy="640080"/>
          </a:xfrm>
          <a:prstGeom prst="roundRect">
            <a:avLst>
              <a:gd name="adj" fmla="val 11429"/>
            </a:avLst>
          </a:prstGeom>
          <a:solidFill>
            <a:srgbClr val="14213D"/>
          </a:solidFill>
          <a:ln w="12700">
            <a:solidFill>
              <a:srgbClr val="14213D"/>
            </a:solidFill>
            <a:prstDash val="solid"/>
          </a:ln>
        </p:spPr>
      </p:sp>
      <p:sp>
        <p:nvSpPr>
          <p:cNvPr id="13" name="Text 11"/>
          <p:cNvSpPr txBox="1"/>
          <p:nvPr/>
        </p:nvSpPr>
        <p:spPr>
          <a:xfrm>
            <a:off x="457200" y="3703320"/>
            <a:ext cx="9144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RQ4</a:t>
            </a:r>
            <a:endParaRPr lang="en-US" sz="1600" dirty="0"/>
          </a:p>
        </p:txBody>
      </p:sp>
      <p:sp>
        <p:nvSpPr>
          <p:cNvPr id="14" name="Text 12"/>
          <p:cNvSpPr txBox="1"/>
          <p:nvPr/>
        </p:nvSpPr>
        <p:spPr>
          <a:xfrm>
            <a:off x="1600200" y="3703320"/>
            <a:ext cx="7086600" cy="640080"/>
          </a:xfrm>
          <a:prstGeom prst="rect">
            <a:avLst/>
          </a:prstGeom>
          <a:noFill/>
          <a:ln/>
        </p:spPr>
        <p:txBody>
          <a:bodyPr wrap="square" lIns="0" tIns="0" rIns="0" bIns="0" rtlCol="0" anchor="ctr"/>
          <a:lstStyle/>
          <a:p>
            <a:pPr indent="0" marL="0">
              <a:buNone/>
            </a:pPr>
            <a:r>
              <a:rPr lang="en-US" sz="1400" dirty="0">
                <a:solidFill>
                  <a:srgbClr val="1B1B1B"/>
                </a:solidFill>
                <a:latin typeface="Calibri" pitchFamily="34" charset="0"/>
                <a:ea typeface="Calibri" pitchFamily="34" charset="-122"/>
                <a:cs typeface="Calibri" pitchFamily="34" charset="-120"/>
              </a:rPr>
              <a:t>Do the megakernel's numerics and the fused encoder preserve accuracy, against FP32 on identical inputs and in closed loop?</a:t>
            </a:r>
            <a:endParaRPr lang="en-US" sz="1400" dirty="0"/>
          </a:p>
        </p:txBody>
      </p:sp>
      <p:sp>
        <p:nvSpPr>
          <p:cNvPr id="15" name="Text 13"/>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100" i="1" dirty="0">
                <a:solidFill>
                  <a:srgbClr val="5A5A5A"/>
                </a:solidFill>
                <a:latin typeface="Calibri" pitchFamily="34" charset="0"/>
                <a:ea typeface="Calibri" pitchFamily="34" charset="-122"/>
                <a:cs typeface="Calibri" pitchFamily="34" charset="-120"/>
              </a:rPr>
              <a:t>One change per rung, one H100, one container image; primary metric: batch-1 end-to-end plan latency.</a:t>
            </a:r>
            <a:endParaRPr lang="en-US" sz="1100" dirty="0"/>
          </a:p>
        </p:txBody>
      </p:sp>
      <p:sp>
        <p:nvSpPr>
          <p:cNvPr id="17" name="Text 1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Method (1): the system and the ladder</a:t>
            </a:r>
            <a:endParaRPr lang="en-US" sz="2800" dirty="0"/>
          </a:p>
        </p:txBody>
      </p:sp>
      <p:pic>
        <p:nvPicPr>
          <p:cNvPr id="3" name="Image 0" descr="preencoded.png">    </p:cNvPr>
          <p:cNvPicPr>
            <a:picLocks noChangeAspect="1"/>
          </p:cNvPicPr>
          <p:nvPr/>
        </p:nvPicPr>
        <p:blipFill>
          <a:blip r:embed="rId1"/>
          <a:stretch>
            <a:fillRect/>
          </a:stretch>
        </p:blipFill>
        <p:spPr>
          <a:xfrm>
            <a:off x="457200" y="1165200"/>
            <a:ext cx="5120640" cy="2607360"/>
          </a:xfrm>
          <a:prstGeom prst="rect">
            <a:avLst/>
          </a:prstGeom>
        </p:spPr>
      </p:pic>
      <p:sp>
        <p:nvSpPr>
          <p:cNvPr id="4" name="Text 1"/>
          <p:cNvSpPr txBox="1"/>
          <p:nvPr/>
        </p:nvSpPr>
        <p:spPr>
          <a:xfrm>
            <a:off x="5806440" y="1051560"/>
            <a:ext cx="2926080" cy="365760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R0 reference: CEM 300 x 30, FP32, re-encodes in every cost call.</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R1 + encode once per plan, no host sync (exact).</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R2 + bucketed iCEM: 300 -&gt; 60 candidates, 5 retained elites (planner).</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R2b LeWM-Flash: + compile, TF32, BF16 (best PyTorch).</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R3 megakernel: predictor + all 30 iterations in one launch.</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R4 + ViT encoder fused: one launch per plan.</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Side rung R3-CEM: the megakernel running plain CEM.</a:t>
            </a:r>
            <a:endParaRPr lang="en-US" sz="1150" dirty="0"/>
          </a:p>
        </p:txBody>
      </p:sp>
      <p:sp>
        <p:nvSpPr>
          <p:cNvPr id="5" name="Text 2"/>
          <p:cNvSpPr txBox="1"/>
          <p:nvPr/>
        </p:nvSpPr>
        <p:spPr>
          <a:xfrm>
            <a:off x="457200" y="4069080"/>
            <a:ext cx="512064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LeWM on Push-T: ViT-tiny encoder, 6-layer AdaLN predictor, 5-step rollout, latent goal cost.</a:t>
            </a:r>
            <a:endParaRPr lang="en-US" sz="10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Method (2): one kernel per plan</a:t>
            </a:r>
            <a:endParaRPr lang="en-US" sz="2800" dirty="0"/>
          </a:p>
        </p:txBody>
      </p:sp>
      <p:pic>
        <p:nvPicPr>
          <p:cNvPr id="3" name="Image 0" descr="preencoded.png">    </p:cNvPr>
          <p:cNvPicPr>
            <a:picLocks noChangeAspect="1"/>
          </p:cNvPicPr>
          <p:nvPr/>
        </p:nvPicPr>
        <p:blipFill>
          <a:blip r:embed="rId1"/>
          <a:stretch>
            <a:fillRect/>
          </a:stretch>
        </p:blipFill>
        <p:spPr>
          <a:xfrm>
            <a:off x="457200" y="1199093"/>
            <a:ext cx="5394960" cy="3088214"/>
          </a:xfrm>
          <a:prstGeom prst="rect">
            <a:avLst/>
          </a:prstGeom>
        </p:spPr>
      </p:pic>
      <p:sp>
        <p:nvSpPr>
          <p:cNvPr id="4" name="Text 1"/>
          <p:cNvSpPr txBox="1"/>
          <p:nvPr/>
        </p:nvSpPr>
        <p:spPr>
          <a:xfrm>
            <a:off x="6035040" y="1051560"/>
            <a:ext cx="2743200" cy="365760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Persistent grid: one CTA per SM, clusters of 8 or 16, grid barriers between iCEM phases; sampling (Philox), top-k and elite updates in the kernel.</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Cluster tensor parallelism: each CTA owns heads and MLP slices; row owners reduce and broadcast over distributed shared memory.</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Weights as a static stream: pre-swizzled 24 KB panels, cp.async.bulk into a self-refilling ring, no producer warp (keeps 255 registers).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Exact KV reuse; BF16 operands with FP32 accumulation, residual and costs.</a:t>
            </a:r>
            <a:endParaRPr lang="en-US" sz="1150" dirty="0"/>
          </a:p>
        </p:txBody>
      </p:sp>
      <p:sp>
        <p:nvSpPr>
          <p:cNvPr id="6" name="Text 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Method (3): measuring what a robot would see</a:t>
            </a:r>
            <a:endParaRPr lang="en-US" sz="2800" dirty="0"/>
          </a:p>
        </p:txBody>
      </p:sp>
      <p:sp>
        <p:nvSpPr>
          <p:cNvPr id="3" name="Shape 1"/>
          <p:cNvSpPr/>
          <p:nvPr/>
        </p:nvSpPr>
        <p:spPr>
          <a:xfrm>
            <a:off x="457200" y="1097280"/>
            <a:ext cx="2651760" cy="2286000"/>
          </a:xfrm>
          <a:prstGeom prst="roundRect">
            <a:avLst>
              <a:gd name="adj" fmla="val 3200"/>
            </a:avLst>
          </a:prstGeom>
          <a:solidFill>
            <a:srgbClr val="E9F1FC"/>
          </a:solidFill>
          <a:ln w="12700">
            <a:solidFill>
              <a:srgbClr val="E9F1FC"/>
            </a:solidFill>
            <a:prstDash val="solid"/>
          </a:ln>
        </p:spPr>
      </p:sp>
      <p:sp>
        <p:nvSpPr>
          <p:cNvPr id="4" name="Text 2"/>
          <p:cNvSpPr txBox="1"/>
          <p:nvPr/>
        </p:nvSpPr>
        <p:spPr>
          <a:xfrm>
            <a:off x="621792" y="12070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Batch-1 latency</a:t>
            </a:r>
            <a:endParaRPr lang="en-US" sz="1500" dirty="0"/>
          </a:p>
        </p:txBody>
      </p:sp>
      <p:sp>
        <p:nvSpPr>
          <p:cNvPr id="5" name="Text 3"/>
          <p:cNvSpPr txBox="1"/>
          <p:nvPr/>
        </p:nvSpPr>
        <p:spPr>
          <a:xfrm>
            <a:off x="621792" y="1627632"/>
            <a:ext cx="2331720" cy="164592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The whole replanning call (preprocess, encode, solve, action to host) with CUDA events; 61 one-robot episodes per rung, first dropped; 72-76 plans; median with bootstrap CI and p90.</a:t>
            </a:r>
            <a:endParaRPr lang="en-US" sz="1150" dirty="0"/>
          </a:p>
        </p:txBody>
      </p:sp>
      <p:sp>
        <p:nvSpPr>
          <p:cNvPr id="6" name="Shape 4"/>
          <p:cNvSpPr/>
          <p:nvPr/>
        </p:nvSpPr>
        <p:spPr>
          <a:xfrm>
            <a:off x="3291840" y="1097280"/>
            <a:ext cx="2651760" cy="2286000"/>
          </a:xfrm>
          <a:prstGeom prst="roundRect">
            <a:avLst>
              <a:gd name="adj" fmla="val 3200"/>
            </a:avLst>
          </a:prstGeom>
          <a:solidFill>
            <a:srgbClr val="E9F1FC"/>
          </a:solidFill>
          <a:ln w="12700">
            <a:solidFill>
              <a:srgbClr val="E9F1FC"/>
            </a:solidFill>
            <a:prstDash val="solid"/>
          </a:ln>
        </p:spPr>
      </p:sp>
      <p:sp>
        <p:nvSpPr>
          <p:cNvPr id="7" name="Text 5"/>
          <p:cNvSpPr txBox="1"/>
          <p:nvPr/>
        </p:nvSpPr>
        <p:spPr>
          <a:xfrm>
            <a:off x="3456432" y="12070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300 paired episodes</a:t>
            </a:r>
            <a:endParaRPr lang="en-US" sz="1500" dirty="0"/>
          </a:p>
        </p:txBody>
      </p:sp>
      <p:sp>
        <p:nvSpPr>
          <p:cNvPr id="8" name="Text 6"/>
          <p:cNvSpPr txBox="1"/>
          <p:nvPr/>
        </p:nvSpPr>
        <p:spPr>
          <a:xfrm>
            <a:off x="3456432" y="1627632"/>
            <a:ext cx="2331720" cy="164592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Push-T seeds 0-2 x 100 episodes; start states fixed by seed, so every rung sees the same episodes. Wilson intervals, exact McNemar, paired bootstrap of the difference.</a:t>
            </a:r>
            <a:endParaRPr lang="en-US" sz="1150" dirty="0"/>
          </a:p>
        </p:txBody>
      </p:sp>
      <p:sp>
        <p:nvSpPr>
          <p:cNvPr id="9" name="Shape 7"/>
          <p:cNvSpPr/>
          <p:nvPr/>
        </p:nvSpPr>
        <p:spPr>
          <a:xfrm>
            <a:off x="6126480" y="1097280"/>
            <a:ext cx="2651760" cy="2286000"/>
          </a:xfrm>
          <a:prstGeom prst="roundRect">
            <a:avLst>
              <a:gd name="adj" fmla="val 3200"/>
            </a:avLst>
          </a:prstGeom>
          <a:solidFill>
            <a:srgbClr val="E9F1FC"/>
          </a:solidFill>
          <a:ln w="12700">
            <a:solidFill>
              <a:srgbClr val="E9F1FC"/>
            </a:solidFill>
            <a:prstDash val="solid"/>
          </a:ln>
        </p:spPr>
      </p:sp>
      <p:sp>
        <p:nvSpPr>
          <p:cNvPr id="10" name="Text 8"/>
          <p:cNvSpPr txBox="1"/>
          <p:nvPr/>
        </p:nvSpPr>
        <p:spPr>
          <a:xfrm>
            <a:off x="6291072" y="12070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Numerical acceptance</a:t>
            </a:r>
            <a:endParaRPr lang="en-US" sz="1500" dirty="0"/>
          </a:p>
        </p:txBody>
      </p:sp>
      <p:sp>
        <p:nvSpPr>
          <p:cNvPr id="11" name="Text 9"/>
          <p:cNvSpPr txBox="1"/>
          <p:nvPr/>
        </p:nvSpPr>
        <p:spPr>
          <a:xfrm>
            <a:off x="6291072" y="1627632"/>
            <a:ext cx="2331720" cy="164592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Before any closed loop: cost error and top-30 overlap against FP32 on identical candidates; the bar is the accepted BF16 autocast path. Encoder: embedding error and cost error.</a:t>
            </a:r>
            <a:endParaRPr lang="en-US" sz="1150" dirty="0"/>
          </a:p>
        </p:txBody>
      </p:sp>
      <p:sp>
        <p:nvSpPr>
          <p:cNvPr id="12" name="Text 10"/>
          <p:cNvSpPr txBox="1"/>
          <p:nvPr/>
        </p:nvSpPr>
        <p:spPr>
          <a:xfrm>
            <a:off x="457200" y="3611880"/>
            <a:ext cx="8229600" cy="1097280"/>
          </a:xfrm>
          <a:prstGeom prst="rect">
            <a:avLst/>
          </a:prstGeom>
          <a:noFill/>
          <a:ln/>
        </p:spPr>
        <p:txBody>
          <a:bodyPr wrap="square" lIns="0" tIns="0" rIns="0" bIns="0" rtlCol="0" anchor="t"/>
          <a:lstStyle/>
          <a:p>
            <a:pPr indent="0" marL="0">
              <a:buNone/>
            </a:pPr>
            <a:r>
              <a:rPr lang="en-US" sz="1200" b="1" dirty="0">
                <a:solidFill>
                  <a:srgbClr val="14213D"/>
                </a:solidFill>
                <a:latin typeface="Calibri" pitchFamily="34" charset="0"/>
                <a:ea typeface="Calibri" pitchFamily="34" charset="-122"/>
                <a:cs typeface="Calibri" pitchFamily="34" charset="-120"/>
              </a:rPr>
              <a:t>What 300 pairs can see. </a:t>
            </a:r>
            <a:pPr indent="0" marL="0">
              <a:buNone/>
            </a:pPr>
            <a:r>
              <a:rPr lang="en-US" sz="1200" dirty="0">
                <a:solidFill>
                  <a:srgbClr val="1B1B1B"/>
                </a:solidFill>
                <a:latin typeface="Calibri" pitchFamily="34" charset="0"/>
                <a:ea typeface="Calibri" pitchFamily="34" charset="-122"/>
                <a:cs typeface="Calibri" pitchFamily="34" charset="-120"/>
              </a:rPr>
              <a:t>At the observed 12-13% discordance, a paired difference of about 6 points is detectable at 80% power; 2 points would need about 2,400 pairs. Every accuracy claim in this work is a claim of no detectable change at that resolution.</a:t>
            </a:r>
            <a:endParaRPr lang="en-US" sz="1200" dirty="0"/>
          </a:p>
        </p:txBody>
      </p:sp>
      <p:sp>
        <p:nvSpPr>
          <p:cNvPr id="14" name="Text 1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The plan, and how it ran</a:t>
            </a:r>
            <a:endParaRPr lang="en-US" sz="2800" dirty="0"/>
          </a:p>
        </p:txBody>
      </p:sp>
      <p:sp>
        <p:nvSpPr>
          <p:cNvPr id="3" name="Shape 1"/>
          <p:cNvSpPr/>
          <p:nvPr/>
        </p:nvSpPr>
        <p:spPr>
          <a:xfrm>
            <a:off x="457200" y="1097280"/>
            <a:ext cx="1965960" cy="3017520"/>
          </a:xfrm>
          <a:prstGeom prst="roundRect">
            <a:avLst>
              <a:gd name="adj" fmla="val 3721"/>
            </a:avLst>
          </a:prstGeom>
          <a:solidFill>
            <a:srgbClr val="F3F4F6"/>
          </a:solidFill>
          <a:ln w="12700">
            <a:solidFill>
              <a:srgbClr val="F3F4F6"/>
            </a:solidFill>
            <a:prstDash val="solid"/>
          </a:ln>
        </p:spPr>
      </p:sp>
      <p:sp>
        <p:nvSpPr>
          <p:cNvPr id="4" name="Text 2"/>
          <p:cNvSpPr txBox="1"/>
          <p:nvPr/>
        </p:nvSpPr>
        <p:spPr>
          <a:xfrm>
            <a:off x="594360" y="1188720"/>
            <a:ext cx="173736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Phase 0</a:t>
            </a:r>
            <a:endParaRPr lang="en-US" sz="1500" dirty="0"/>
          </a:p>
        </p:txBody>
      </p:sp>
      <p:sp>
        <p:nvSpPr>
          <p:cNvPr id="5" name="Text 3"/>
          <p:cNvSpPr txBox="1"/>
          <p:nvPr/>
        </p:nvSpPr>
        <p:spPr>
          <a:xfrm>
            <a:off x="594360" y="1508760"/>
            <a:ext cx="1737360" cy="320040"/>
          </a:xfrm>
          <a:prstGeom prst="rect">
            <a:avLst/>
          </a:prstGeom>
          <a:noFill/>
          <a:ln/>
        </p:spPr>
        <p:txBody>
          <a:bodyPr wrap="square" lIns="0" tIns="0" rIns="0" bIns="0" rtlCol="0" anchor="ctr"/>
          <a:lstStyle/>
          <a:p>
            <a:pPr indent="0" marL="0">
              <a:buNone/>
            </a:pPr>
            <a:r>
              <a:rPr lang="en-US" sz="1200" b="1" dirty="0">
                <a:solidFill>
                  <a:srgbClr val="2A78D6"/>
                </a:solidFill>
                <a:latin typeface="Calibri" pitchFamily="34" charset="0"/>
                <a:ea typeface="Calibri" pitchFamily="34" charset="-122"/>
                <a:cs typeface="Calibri" pitchFamily="34" charset="-120"/>
              </a:rPr>
              <a:t>LeWM-Flash (L40S)</a:t>
            </a:r>
            <a:endParaRPr lang="en-US" sz="1200" dirty="0"/>
          </a:p>
        </p:txBody>
      </p:sp>
      <p:sp>
        <p:nvSpPr>
          <p:cNvPr id="6" name="Text 4"/>
          <p:cNvSpPr txBox="1"/>
          <p:nvPr/>
        </p:nvSpPr>
        <p:spPr>
          <a:xfrm>
            <a:off x="594360" y="1874520"/>
            <a:ext cx="1737360" cy="219456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Paired 300-episode sweeps of PyTorch-level changes. Accepted: caching, no syncs, compile, TF32, iCEM, BF16. Rejected: warm starts (success fell to 34-42%), whole-loop compile, CEM-GD, static BF16.</a:t>
            </a:r>
            <a:endParaRPr lang="en-US" sz="1050" dirty="0"/>
          </a:p>
        </p:txBody>
      </p:sp>
      <p:sp>
        <p:nvSpPr>
          <p:cNvPr id="7" name="Shape 5"/>
          <p:cNvSpPr/>
          <p:nvPr/>
        </p:nvSpPr>
        <p:spPr>
          <a:xfrm>
            <a:off x="2560320" y="1097280"/>
            <a:ext cx="1965960" cy="3017520"/>
          </a:xfrm>
          <a:prstGeom prst="roundRect">
            <a:avLst>
              <a:gd name="adj" fmla="val 3721"/>
            </a:avLst>
          </a:prstGeom>
          <a:solidFill>
            <a:srgbClr val="F3F4F6"/>
          </a:solidFill>
          <a:ln w="12700">
            <a:solidFill>
              <a:srgbClr val="F3F4F6"/>
            </a:solidFill>
            <a:prstDash val="solid"/>
          </a:ln>
        </p:spPr>
      </p:sp>
      <p:sp>
        <p:nvSpPr>
          <p:cNvPr id="8" name="Text 6"/>
          <p:cNvSpPr txBox="1"/>
          <p:nvPr/>
        </p:nvSpPr>
        <p:spPr>
          <a:xfrm>
            <a:off x="2697480" y="1188720"/>
            <a:ext cx="173736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Phase 1</a:t>
            </a:r>
            <a:endParaRPr lang="en-US" sz="1500" dirty="0"/>
          </a:p>
        </p:txBody>
      </p:sp>
      <p:sp>
        <p:nvSpPr>
          <p:cNvPr id="9" name="Text 7"/>
          <p:cNvSpPr txBox="1"/>
          <p:nvPr/>
        </p:nvSpPr>
        <p:spPr>
          <a:xfrm>
            <a:off x="2697480" y="1508760"/>
            <a:ext cx="1737360" cy="320040"/>
          </a:xfrm>
          <a:prstGeom prst="rect">
            <a:avLst/>
          </a:prstGeom>
          <a:noFill/>
          <a:ln/>
        </p:spPr>
        <p:txBody>
          <a:bodyPr wrap="square" lIns="0" tIns="0" rIns="0" bIns="0" rtlCol="0" anchor="ctr"/>
          <a:lstStyle/>
          <a:p>
            <a:pPr indent="0" marL="0">
              <a:buNone/>
            </a:pPr>
            <a:r>
              <a:rPr lang="en-US" sz="1200" b="1" dirty="0">
                <a:solidFill>
                  <a:srgbClr val="2A78D6"/>
                </a:solidFill>
                <a:latin typeface="Calibri" pitchFamily="34" charset="0"/>
                <a:ea typeface="Calibri" pitchFamily="34" charset="-122"/>
                <a:cs typeface="Calibri" pitchFamily="34" charset="-120"/>
              </a:rPr>
              <a:t>Megakernel (H100)</a:t>
            </a:r>
            <a:endParaRPr lang="en-US" sz="1200" dirty="0"/>
          </a:p>
        </p:txBody>
      </p:sp>
      <p:sp>
        <p:nvSpPr>
          <p:cNvPr id="10" name="Text 8"/>
          <p:cNvSpPr txBox="1"/>
          <p:nvPr/>
        </p:nvSpPr>
        <p:spPr>
          <a:xfrm>
            <a:off x="2697480" y="1874520"/>
            <a:ext cx="1737360" cy="219456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Kernel built against FP32 and BF16 references; five tuning steps, 76.9 -&gt; 41.3 ms solve; 300-episode runs of the reference, LeWM-Flash and the kernel on the same GPU.</a:t>
            </a:r>
            <a:endParaRPr lang="en-US" sz="1050" dirty="0"/>
          </a:p>
        </p:txBody>
      </p:sp>
      <p:sp>
        <p:nvSpPr>
          <p:cNvPr id="11" name="Shape 9"/>
          <p:cNvSpPr/>
          <p:nvPr/>
        </p:nvSpPr>
        <p:spPr>
          <a:xfrm>
            <a:off x="4663440" y="1097280"/>
            <a:ext cx="1965960" cy="3017520"/>
          </a:xfrm>
          <a:prstGeom prst="roundRect">
            <a:avLst>
              <a:gd name="adj" fmla="val 3721"/>
            </a:avLst>
          </a:prstGeom>
          <a:solidFill>
            <a:srgbClr val="E9F1FC"/>
          </a:solidFill>
          <a:ln w="12700">
            <a:solidFill>
              <a:srgbClr val="E9F1FC"/>
            </a:solidFill>
            <a:prstDash val="solid"/>
          </a:ln>
        </p:spPr>
      </p:sp>
      <p:sp>
        <p:nvSpPr>
          <p:cNvPr id="12" name="Text 10"/>
          <p:cNvSpPr txBox="1"/>
          <p:nvPr/>
        </p:nvSpPr>
        <p:spPr>
          <a:xfrm>
            <a:off x="4800600" y="1188720"/>
            <a:ext cx="173736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Phase A</a:t>
            </a:r>
            <a:endParaRPr lang="en-US" sz="1500" dirty="0"/>
          </a:p>
        </p:txBody>
      </p:sp>
      <p:sp>
        <p:nvSpPr>
          <p:cNvPr id="13" name="Text 11"/>
          <p:cNvSpPr txBox="1"/>
          <p:nvPr/>
        </p:nvSpPr>
        <p:spPr>
          <a:xfrm>
            <a:off x="4800600" y="1508760"/>
            <a:ext cx="1737360" cy="320040"/>
          </a:xfrm>
          <a:prstGeom prst="rect">
            <a:avLst/>
          </a:prstGeom>
          <a:noFill/>
          <a:ln/>
        </p:spPr>
        <p:txBody>
          <a:bodyPr wrap="square" lIns="0" tIns="0" rIns="0" bIns="0" rtlCol="0" anchor="ctr"/>
          <a:lstStyle/>
          <a:p>
            <a:pPr indent="0" marL="0">
              <a:buNone/>
            </a:pPr>
            <a:r>
              <a:rPr lang="en-US" sz="1200" b="1" dirty="0">
                <a:solidFill>
                  <a:srgbClr val="2A78D6"/>
                </a:solidFill>
                <a:latin typeface="Calibri" pitchFamily="34" charset="0"/>
                <a:ea typeface="Calibri" pitchFamily="34" charset="-122"/>
                <a:cs typeface="Calibri" pitchFamily="34" charset="-120"/>
              </a:rPr>
              <a:t>First ladder pass</a:t>
            </a:r>
            <a:endParaRPr lang="en-US" sz="1200" dirty="0"/>
          </a:p>
        </p:txBody>
      </p:sp>
      <p:sp>
        <p:nvSpPr>
          <p:cNvPr id="14" name="Text 12"/>
          <p:cNvSpPr txBox="1"/>
          <p:nvPr/>
        </p:nvSpPr>
        <p:spPr>
          <a:xfrm>
            <a:off x="4800600" y="1874520"/>
            <a:ext cx="1737360" cy="219456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Batch-1 latency of R0-R3 and R3-CEM; quality runs of R1 and R2.</a:t>
            </a:r>
            <a:endParaRPr lang="en-US" sz="1050" dirty="0"/>
          </a:p>
        </p:txBody>
      </p:sp>
      <p:sp>
        <p:nvSpPr>
          <p:cNvPr id="15" name="Shape 13"/>
          <p:cNvSpPr/>
          <p:nvPr/>
        </p:nvSpPr>
        <p:spPr>
          <a:xfrm>
            <a:off x="6766560" y="1097280"/>
            <a:ext cx="1965960" cy="3017520"/>
          </a:xfrm>
          <a:prstGeom prst="roundRect">
            <a:avLst>
              <a:gd name="adj" fmla="val 3721"/>
            </a:avLst>
          </a:prstGeom>
          <a:solidFill>
            <a:srgbClr val="E9F1FC"/>
          </a:solidFill>
          <a:ln w="12700">
            <a:solidFill>
              <a:srgbClr val="E9F1FC"/>
            </a:solidFill>
            <a:prstDash val="solid"/>
          </a:ln>
        </p:spPr>
      </p:sp>
      <p:sp>
        <p:nvSpPr>
          <p:cNvPr id="16" name="Text 14"/>
          <p:cNvSpPr txBox="1"/>
          <p:nvPr/>
        </p:nvSpPr>
        <p:spPr>
          <a:xfrm>
            <a:off x="6903720" y="1188720"/>
            <a:ext cx="173736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Final</a:t>
            </a:r>
            <a:endParaRPr lang="en-US" sz="1500" dirty="0"/>
          </a:p>
        </p:txBody>
      </p:sp>
      <p:sp>
        <p:nvSpPr>
          <p:cNvPr id="17" name="Text 15"/>
          <p:cNvSpPr txBox="1"/>
          <p:nvPr/>
        </p:nvSpPr>
        <p:spPr>
          <a:xfrm>
            <a:off x="6903720" y="1508760"/>
            <a:ext cx="1737360" cy="320040"/>
          </a:xfrm>
          <a:prstGeom prst="rect">
            <a:avLst/>
          </a:prstGeom>
          <a:noFill/>
          <a:ln/>
        </p:spPr>
        <p:txBody>
          <a:bodyPr wrap="square" lIns="0" tIns="0" rIns="0" bIns="0" rtlCol="0" anchor="ctr"/>
          <a:lstStyle/>
          <a:p>
            <a:pPr indent="0" marL="0">
              <a:buNone/>
            </a:pPr>
            <a:r>
              <a:rPr lang="en-US" sz="1200" b="1" dirty="0">
                <a:solidFill>
                  <a:srgbClr val="2A78D6"/>
                </a:solidFill>
                <a:latin typeface="Calibri" pitchFamily="34" charset="0"/>
                <a:ea typeface="Calibri" pitchFamily="34" charset="-122"/>
                <a:cs typeface="Calibri" pitchFamily="34" charset="-120"/>
              </a:rPr>
              <a:t>Fused encoder + ladder</a:t>
            </a:r>
            <a:endParaRPr lang="en-US" sz="1200" dirty="0"/>
          </a:p>
        </p:txBody>
      </p:sp>
      <p:sp>
        <p:nvSpPr>
          <p:cNvPr id="18" name="Text 16"/>
          <p:cNvSpPr txBox="1"/>
          <p:nvPr/>
        </p:nvSpPr>
        <p:spPr>
          <a:xfrm>
            <a:off x="6903720" y="1874520"/>
            <a:ext cx="1737360" cy="219456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Encoder in the kernel, parity checked; second batch-1 pass of all seven rungs; quality runs of R3, R3-CEM and R4.</a:t>
            </a:r>
            <a:endParaRPr lang="en-US" sz="1050" dirty="0"/>
          </a:p>
        </p:txBody>
      </p:sp>
      <p:sp>
        <p:nvSpPr>
          <p:cNvPr id="19" name="Text 17"/>
          <p:cNvSpPr txBox="1"/>
          <p:nvPr/>
        </p:nvSpPr>
        <p:spPr>
          <a:xfrm>
            <a:off x="457200" y="4297680"/>
            <a:ext cx="8229600" cy="274320"/>
          </a:xfrm>
          <a:prstGeom prst="rect">
            <a:avLst/>
          </a:prstGeom>
          <a:noFill/>
          <a:ln/>
        </p:spPr>
        <p:txBody>
          <a:bodyPr wrap="square" lIns="0" tIns="0" rIns="0" bIns="0" rtlCol="0" anchor="ctr"/>
          <a:lstStyle/>
          <a:p>
            <a:pPr indent="0" marL="0">
              <a:buNone/>
            </a:pPr>
            <a:r>
              <a:rPr lang="en-US" sz="1050" i="1" dirty="0">
                <a:solidFill>
                  <a:srgbClr val="5A5A5A"/>
                </a:solidFill>
                <a:latin typeface="Calibri" pitchFamily="34" charset="0"/>
                <a:ea typeface="Calibri" pitchFamily="34" charset="-122"/>
                <a:cs typeface="Calibri" pitchFamily="34" charset="-120"/>
              </a:rPr>
              <a:t>Compute: about $31.50 of H100 time against a $35 budget (extended from $10 when the ladder was added). Each batch-1 pass cost $10-12 because the harness rebuilds the simulator and model for every seed.</a:t>
            </a:r>
            <a:endParaRPr lang="en-US" sz="105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Result 1: 622 ms to 46.5 ms on the same GPU</a:t>
            </a:r>
            <a:endParaRPr lang="en-US" sz="2800" dirty="0"/>
          </a:p>
        </p:txBody>
      </p:sp>
      <p:pic>
        <p:nvPicPr>
          <p:cNvPr id="3" name="Image 0" descr="preencoded.png">    </p:cNvPr>
          <p:cNvPicPr>
            <a:picLocks noChangeAspect="1"/>
          </p:cNvPicPr>
          <p:nvPr/>
        </p:nvPicPr>
        <p:blipFill>
          <a:blip r:embed="rId1"/>
          <a:stretch>
            <a:fillRect/>
          </a:stretch>
        </p:blipFill>
        <p:spPr>
          <a:xfrm>
            <a:off x="457200" y="1322053"/>
            <a:ext cx="5760720" cy="2385094"/>
          </a:xfrm>
          <a:prstGeom prst="rect">
            <a:avLst/>
          </a:prstGeom>
        </p:spPr>
      </p:pic>
      <p:sp>
        <p:nvSpPr>
          <p:cNvPr id="4" name="Text 1"/>
          <p:cNvSpPr txBox="1"/>
          <p:nvPr/>
        </p:nvSpPr>
        <p:spPr>
          <a:xfrm>
            <a:off x="6400800" y="1051560"/>
            <a:ext cx="2377440" cy="356616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Caching: 1.65x, exact.</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iCEM in eager PyTorch: 0.92x.</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LeWM-Flash: 3.4x over the reference.</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Megakernel: 6.9x over eager iCEM, 3.1x over LeWM-Flash.</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Fused encoder: 1.28x more; 13.4x in total, p90 47.0 ms.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Megakernel rungs are tight: R4's interquartile range is 46.1-46.8 ms.</a:t>
            </a:r>
            <a:endParaRPr lang="en-US" sz="1150" dirty="0"/>
          </a:p>
        </p:txBody>
      </p:sp>
      <p:sp>
        <p:nvSpPr>
          <p:cNvPr id="5" name="Text 2"/>
          <p:cNvSpPr txBox="1"/>
          <p:nvPr/>
        </p:nvSpPr>
        <p:spPr>
          <a:xfrm>
            <a:off x="457200" y="4160520"/>
            <a:ext cx="576072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Batch-1 end-to-end plan latency, log scale; small points are individual plans, markers are medians.</a:t>
            </a:r>
            <a:endParaRPr lang="en-US" sz="10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Result 2: iCEM pays only when execution does</a:t>
            </a:r>
            <a:endParaRPr lang="en-US" sz="2800" dirty="0"/>
          </a:p>
        </p:txBody>
      </p:sp>
      <p:pic>
        <p:nvPicPr>
          <p:cNvPr id="3" name="Image 0" descr="preencoded.png">    </p:cNvPr>
          <p:cNvPicPr>
            <a:picLocks noChangeAspect="1"/>
          </p:cNvPicPr>
          <p:nvPr/>
        </p:nvPicPr>
        <p:blipFill>
          <a:blip r:embed="rId1"/>
          <a:stretch>
            <a:fillRect/>
          </a:stretch>
        </p:blipFill>
        <p:spPr>
          <a:xfrm>
            <a:off x="633881" y="960120"/>
            <a:ext cx="5133039" cy="2377440"/>
          </a:xfrm>
          <a:prstGeom prst="rect">
            <a:avLst/>
          </a:prstGeom>
        </p:spPr>
      </p:pic>
      <p:sp>
        <p:nvSpPr>
          <p:cNvPr id="4" name="Shape 1"/>
          <p:cNvSpPr/>
          <p:nvPr/>
        </p:nvSpPr>
        <p:spPr>
          <a:xfrm>
            <a:off x="6217920" y="1051560"/>
            <a:ext cx="1234440" cy="1051560"/>
          </a:xfrm>
          <a:prstGeom prst="roundRect">
            <a:avLst>
              <a:gd name="adj" fmla="val 6957"/>
            </a:avLst>
          </a:prstGeom>
          <a:solidFill>
            <a:srgbClr val="F3F4F6"/>
          </a:solidFill>
          <a:ln w="12700">
            <a:solidFill>
              <a:srgbClr val="F3F4F6"/>
            </a:solidFill>
            <a:prstDash val="solid"/>
          </a:ln>
        </p:spPr>
      </p:sp>
      <p:sp>
        <p:nvSpPr>
          <p:cNvPr id="5" name="Text 2"/>
          <p:cNvSpPr txBox="1"/>
          <p:nvPr/>
        </p:nvSpPr>
        <p:spPr>
          <a:xfrm>
            <a:off x="6355080" y="1143000"/>
            <a:ext cx="960120" cy="578358"/>
          </a:xfrm>
          <a:prstGeom prst="rect">
            <a:avLst/>
          </a:prstGeom>
          <a:noFill/>
          <a:ln/>
        </p:spPr>
        <p:txBody>
          <a:bodyPr wrap="square" lIns="0" tIns="0" rIns="0" bIns="0" rtlCol="0" anchor="ctr"/>
          <a:lstStyle/>
          <a:p>
            <a:pPr algn="ctr" indent="0" marL="0">
              <a:buNone/>
            </a:pPr>
            <a:r>
              <a:rPr lang="en-US" sz="2400" b="1" dirty="0">
                <a:solidFill>
                  <a:srgbClr val="EB6834"/>
                </a:solidFill>
                <a:latin typeface="Cambria" pitchFamily="34" charset="0"/>
                <a:ea typeface="Cambria" pitchFamily="34" charset="-122"/>
                <a:cs typeface="Cambria" pitchFamily="34" charset="-120"/>
              </a:rPr>
              <a:t>0.92x</a:t>
            </a:r>
            <a:endParaRPr lang="en-US" sz="2400" dirty="0"/>
          </a:p>
        </p:txBody>
      </p:sp>
      <p:sp>
        <p:nvSpPr>
          <p:cNvPr id="6" name="Text 3"/>
          <p:cNvSpPr txBox="1"/>
          <p:nvPr/>
        </p:nvSpPr>
        <p:spPr>
          <a:xfrm>
            <a:off x="6355080" y="1682496"/>
            <a:ext cx="96012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iCEM vs CEM,</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eager PyTorch</a:t>
            </a:r>
            <a:endParaRPr lang="en-US" sz="1000" dirty="0"/>
          </a:p>
        </p:txBody>
      </p:sp>
      <p:sp>
        <p:nvSpPr>
          <p:cNvPr id="7" name="Shape 4"/>
          <p:cNvSpPr/>
          <p:nvPr/>
        </p:nvSpPr>
        <p:spPr>
          <a:xfrm>
            <a:off x="7543800" y="1051560"/>
            <a:ext cx="1234440" cy="1051560"/>
          </a:xfrm>
          <a:prstGeom prst="roundRect">
            <a:avLst>
              <a:gd name="adj" fmla="val 6957"/>
            </a:avLst>
          </a:prstGeom>
          <a:solidFill>
            <a:srgbClr val="F3F4F6"/>
          </a:solidFill>
          <a:ln w="12700">
            <a:solidFill>
              <a:srgbClr val="F3F4F6"/>
            </a:solidFill>
            <a:prstDash val="solid"/>
          </a:ln>
        </p:spPr>
      </p:sp>
      <p:sp>
        <p:nvSpPr>
          <p:cNvPr id="8" name="Text 5"/>
          <p:cNvSpPr txBox="1"/>
          <p:nvPr/>
        </p:nvSpPr>
        <p:spPr>
          <a:xfrm>
            <a:off x="7680960" y="1143000"/>
            <a:ext cx="960120" cy="578358"/>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1.38x</a:t>
            </a:r>
            <a:endParaRPr lang="en-US" sz="2400" dirty="0"/>
          </a:p>
        </p:txBody>
      </p:sp>
      <p:sp>
        <p:nvSpPr>
          <p:cNvPr id="9" name="Text 6"/>
          <p:cNvSpPr txBox="1"/>
          <p:nvPr/>
        </p:nvSpPr>
        <p:spPr>
          <a:xfrm>
            <a:off x="7680960" y="1682496"/>
            <a:ext cx="96012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iCEM vs CEM,</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inside the kernel</a:t>
            </a:r>
            <a:endParaRPr lang="en-US" sz="1000" dirty="0"/>
          </a:p>
        </p:txBody>
      </p:sp>
      <p:sp>
        <p:nvSpPr>
          <p:cNvPr id="10" name="Text 7"/>
          <p:cNvSpPr txBox="1"/>
          <p:nvPr/>
        </p:nvSpPr>
        <p:spPr>
          <a:xfrm>
            <a:off x="6217920" y="2286000"/>
            <a:ext cx="2560320" cy="237744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An eager cost call costs 20 ms at 60 candidates and at 300: it is a few hundred launches, not arithmetic.</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Inside the kernel the call scales with the population, so iCEM's 3.19x fewer rollouts become 1.38x (R3-CEM 82.1 -&gt; R3 59.3 ms).</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Success unchanged both ways (265 vs 263; 262 vs 261 of 300).</a:t>
            </a:r>
            <a:endParaRPr lang="en-US" sz="1100" dirty="0"/>
          </a:p>
        </p:txBody>
      </p:sp>
      <p:sp>
        <p:nvSpPr>
          <p:cNvPr id="11" name="Text 8"/>
          <p:cNvSpPr txBox="1"/>
          <p:nvPr/>
        </p:nvSpPr>
        <p:spPr>
          <a:xfrm>
            <a:off x="457200" y="3429000"/>
            <a:ext cx="548640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One cost call (5-step rollout of every candidate) against the number of candidates, H100.</a:t>
            </a:r>
            <a:endParaRPr lang="en-US" sz="1000" dirty="0"/>
          </a:p>
        </p:txBody>
      </p:sp>
      <p:sp>
        <p:nvSpPr>
          <p:cNvPr id="12" name="Text 9"/>
          <p:cNvSpPr txBox="1"/>
          <p:nvPr/>
        </p:nvSpPr>
        <p:spPr>
          <a:xfrm>
            <a:off x="457200" y="3794760"/>
            <a:ext cx="5486400" cy="822960"/>
          </a:xfrm>
          <a:prstGeom prst="rect">
            <a:avLst/>
          </a:prstGeom>
          <a:noFill/>
          <a:ln/>
        </p:spPr>
        <p:txBody>
          <a:bodyPr wrap="square" lIns="0" tIns="0" rIns="0" bIns="0" rtlCol="0" anchor="t"/>
          <a:lstStyle/>
          <a:p>
            <a:pPr indent="0" marL="0">
              <a:buNone/>
            </a:pPr>
            <a:r>
              <a:rPr lang="en-US" sz="1150" dirty="0">
                <a:solidFill>
                  <a:srgbClr val="14213D"/>
                </a:solidFill>
                <a:latin typeface="Calibri" pitchFamily="34" charset="0"/>
                <a:ea typeface="Calibri" pitchFamily="34" charset="-122"/>
                <a:cs typeface="Calibri" pitchFamily="34" charset="-120"/>
              </a:rPr>
              <a:t>A sample-efficient planner is only as fast as its smallest batch. Measured only in eager PyTorch, iCEM would have been rejected; measured only on the kernel, it would look a third as useful as its evaluation count suggests.</a:t>
            </a:r>
            <a:endParaRPr lang="en-US" sz="1150" dirty="0"/>
          </a:p>
        </p:txBody>
      </p:sp>
      <p:sp>
        <p:nvSpPr>
          <p:cNvPr id="14" name="Text 10"/>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Result 3: where the time goes, and how it fell</a:t>
            </a:r>
            <a:endParaRPr lang="en-US" sz="2800" dirty="0"/>
          </a:p>
        </p:txBody>
      </p:sp>
      <p:pic>
        <p:nvPicPr>
          <p:cNvPr id="3" name="Image 0" descr="preencoded.png">    </p:cNvPr>
          <p:cNvPicPr>
            <a:picLocks noChangeAspect="1"/>
          </p:cNvPicPr>
          <p:nvPr/>
        </p:nvPicPr>
        <p:blipFill>
          <a:blip r:embed="rId1"/>
          <a:stretch>
            <a:fillRect/>
          </a:stretch>
        </p:blipFill>
        <p:spPr>
          <a:xfrm>
            <a:off x="457200" y="1009389"/>
            <a:ext cx="4206240" cy="1638821"/>
          </a:xfrm>
          <a:prstGeom prst="rect">
            <a:avLst/>
          </a:prstGeom>
        </p:spPr>
      </p:pic>
      <p:pic>
        <p:nvPicPr>
          <p:cNvPr id="4" name="Image 1" descr="preencoded.png">    </p:cNvPr>
          <p:cNvPicPr>
            <a:picLocks noChangeAspect="1"/>
          </p:cNvPicPr>
          <p:nvPr/>
        </p:nvPicPr>
        <p:blipFill>
          <a:blip r:embed="rId2"/>
          <a:stretch>
            <a:fillRect/>
          </a:stretch>
        </p:blipFill>
        <p:spPr>
          <a:xfrm>
            <a:off x="457200" y="2815282"/>
            <a:ext cx="4206240" cy="1776077"/>
          </a:xfrm>
          <a:prstGeom prst="rect">
            <a:avLst/>
          </a:prstGeom>
        </p:spPr>
      </p:pic>
      <p:sp>
        <p:nvSpPr>
          <p:cNvPr id="5" name="Shape 1"/>
          <p:cNvSpPr/>
          <p:nvPr/>
        </p:nvSpPr>
        <p:spPr>
          <a:xfrm>
            <a:off x="4937760" y="1051560"/>
            <a:ext cx="1234440" cy="1005840"/>
          </a:xfrm>
          <a:prstGeom prst="roundRect">
            <a:avLst>
              <a:gd name="adj" fmla="val 7273"/>
            </a:avLst>
          </a:prstGeom>
          <a:solidFill>
            <a:srgbClr val="F3F4F6"/>
          </a:solidFill>
          <a:ln w="12700">
            <a:solidFill>
              <a:srgbClr val="F3F4F6"/>
            </a:solidFill>
            <a:prstDash val="solid"/>
          </a:ln>
        </p:spPr>
      </p:sp>
      <p:sp>
        <p:nvSpPr>
          <p:cNvPr id="6" name="Text 2"/>
          <p:cNvSpPr txBox="1"/>
          <p:nvPr/>
        </p:nvSpPr>
        <p:spPr>
          <a:xfrm>
            <a:off x="5074920" y="1143000"/>
            <a:ext cx="960120" cy="553212"/>
          </a:xfrm>
          <a:prstGeom prst="rect">
            <a:avLst/>
          </a:prstGeom>
          <a:noFill/>
          <a:ln/>
        </p:spPr>
        <p:txBody>
          <a:bodyPr wrap="square" lIns="0" tIns="0" rIns="0" bIns="0" rtlCol="0" anchor="ctr"/>
          <a:lstStyle/>
          <a:p>
            <a:pPr algn="ctr" indent="0" marL="0">
              <a:buNone/>
            </a:pPr>
            <a:r>
              <a:rPr lang="en-US" sz="2000" b="1" dirty="0">
                <a:solidFill>
                  <a:srgbClr val="2A78D6"/>
                </a:solidFill>
                <a:latin typeface="Cambria" pitchFamily="34" charset="0"/>
                <a:ea typeface="Cambria" pitchFamily="34" charset="-122"/>
                <a:cs typeface="Cambria" pitchFamily="34" charset="-120"/>
              </a:rPr>
              <a:t>41.3 ms</a:t>
            </a:r>
            <a:endParaRPr lang="en-US" sz="2000" dirty="0"/>
          </a:p>
        </p:txBody>
      </p:sp>
      <p:sp>
        <p:nvSpPr>
          <p:cNvPr id="7" name="Text 3"/>
          <p:cNvSpPr txBox="1"/>
          <p:nvPr/>
        </p:nvSpPr>
        <p:spPr>
          <a:xfrm>
            <a:off x="5074920" y="1655064"/>
            <a:ext cx="96012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kernel solve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(Flash: 82.3)</a:t>
            </a:r>
            <a:endParaRPr lang="en-US" sz="1000" dirty="0"/>
          </a:p>
        </p:txBody>
      </p:sp>
      <p:sp>
        <p:nvSpPr>
          <p:cNvPr id="8" name="Shape 4"/>
          <p:cNvSpPr/>
          <p:nvPr/>
        </p:nvSpPr>
        <p:spPr>
          <a:xfrm>
            <a:off x="6263640" y="1051560"/>
            <a:ext cx="1234440" cy="1005840"/>
          </a:xfrm>
          <a:prstGeom prst="roundRect">
            <a:avLst>
              <a:gd name="adj" fmla="val 7273"/>
            </a:avLst>
          </a:prstGeom>
          <a:solidFill>
            <a:srgbClr val="F3F4F6"/>
          </a:solidFill>
          <a:ln w="12700">
            <a:solidFill>
              <a:srgbClr val="F3F4F6"/>
            </a:solidFill>
            <a:prstDash val="solid"/>
          </a:ln>
        </p:spPr>
      </p:sp>
      <p:sp>
        <p:nvSpPr>
          <p:cNvPr id="9" name="Text 5"/>
          <p:cNvSpPr txBox="1"/>
          <p:nvPr/>
        </p:nvSpPr>
        <p:spPr>
          <a:xfrm>
            <a:off x="6400800" y="1143000"/>
            <a:ext cx="960120" cy="553212"/>
          </a:xfrm>
          <a:prstGeom prst="rect">
            <a:avLst/>
          </a:prstGeom>
          <a:noFill/>
          <a:ln/>
        </p:spPr>
        <p:txBody>
          <a:bodyPr wrap="square" lIns="0" tIns="0" rIns="0" bIns="0" rtlCol="0" anchor="ctr"/>
          <a:lstStyle/>
          <a:p>
            <a:pPr algn="ctr" indent="0" marL="0">
              <a:buNone/>
            </a:pPr>
            <a:r>
              <a:rPr lang="en-US" sz="2000" b="1" dirty="0">
                <a:solidFill>
                  <a:srgbClr val="2A78D6"/>
                </a:solidFill>
                <a:latin typeface="Cambria" pitchFamily="34" charset="0"/>
                <a:ea typeface="Cambria" pitchFamily="34" charset="-122"/>
                <a:cs typeface="Cambria" pitchFamily="34" charset="-120"/>
              </a:rPr>
              <a:t>1.3 ms</a:t>
            </a:r>
            <a:endParaRPr lang="en-US" sz="2000" dirty="0"/>
          </a:p>
        </p:txBody>
      </p:sp>
      <p:sp>
        <p:nvSpPr>
          <p:cNvPr id="10" name="Text 6"/>
          <p:cNvSpPr txBox="1"/>
          <p:nvPr/>
        </p:nvSpPr>
        <p:spPr>
          <a:xfrm>
            <a:off x="6400800" y="1655064"/>
            <a:ext cx="96012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fused encoder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(FP32 torch: 6.9)</a:t>
            </a:r>
            <a:endParaRPr lang="en-US" sz="1000" dirty="0"/>
          </a:p>
        </p:txBody>
      </p:sp>
      <p:sp>
        <p:nvSpPr>
          <p:cNvPr id="11" name="Shape 7"/>
          <p:cNvSpPr/>
          <p:nvPr/>
        </p:nvSpPr>
        <p:spPr>
          <a:xfrm>
            <a:off x="7589520" y="1051560"/>
            <a:ext cx="1188720" cy="1005840"/>
          </a:xfrm>
          <a:prstGeom prst="roundRect">
            <a:avLst>
              <a:gd name="adj" fmla="val 7273"/>
            </a:avLst>
          </a:prstGeom>
          <a:solidFill>
            <a:srgbClr val="F3F4F6"/>
          </a:solidFill>
          <a:ln w="12700">
            <a:solidFill>
              <a:srgbClr val="F3F4F6"/>
            </a:solidFill>
            <a:prstDash val="solid"/>
          </a:ln>
        </p:spPr>
      </p:sp>
      <p:sp>
        <p:nvSpPr>
          <p:cNvPr id="12" name="Text 8"/>
          <p:cNvSpPr txBox="1"/>
          <p:nvPr/>
        </p:nvSpPr>
        <p:spPr>
          <a:xfrm>
            <a:off x="7726680" y="1143000"/>
            <a:ext cx="914400" cy="553212"/>
          </a:xfrm>
          <a:prstGeom prst="rect">
            <a:avLst/>
          </a:prstGeom>
          <a:noFill/>
          <a:ln/>
        </p:spPr>
        <p:txBody>
          <a:bodyPr wrap="square" lIns="0" tIns="0" rIns="0" bIns="0" rtlCol="0" anchor="ctr"/>
          <a:lstStyle/>
          <a:p>
            <a:pPr algn="ctr" indent="0" marL="0">
              <a:buNone/>
            </a:pPr>
            <a:r>
              <a:rPr lang="en-US" sz="2000" b="1" dirty="0">
                <a:solidFill>
                  <a:srgbClr val="14213D"/>
                </a:solidFill>
                <a:latin typeface="Cambria" pitchFamily="34" charset="0"/>
                <a:ea typeface="Cambria" pitchFamily="34" charset="-122"/>
                <a:cs typeface="Cambria" pitchFamily="34" charset="-120"/>
              </a:rPr>
              <a:t>0.65 µs</a:t>
            </a:r>
            <a:endParaRPr lang="en-US" sz="2000" dirty="0"/>
          </a:p>
        </p:txBody>
      </p:sp>
      <p:sp>
        <p:nvSpPr>
          <p:cNvPr id="13" name="Text 9"/>
          <p:cNvSpPr txBox="1"/>
          <p:nvPr/>
        </p:nvSpPr>
        <p:spPr>
          <a:xfrm>
            <a:off x="7726680" y="1655064"/>
            <a:ext cx="9144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cluster barrier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(was 3.6 µs)</a:t>
            </a:r>
            <a:endParaRPr lang="en-US" sz="1000" dirty="0"/>
          </a:p>
        </p:txBody>
      </p:sp>
      <p:sp>
        <p:nvSpPr>
          <p:cNvPr id="14" name="Text 10"/>
          <p:cNvSpPr txBox="1"/>
          <p:nvPr/>
        </p:nvSpPr>
        <p:spPr>
          <a:xfrm>
            <a:off x="4937760" y="2286000"/>
            <a:ext cx="3840480" cy="24688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Each tuning step removed latency, not arithmetic: no calls between WGMMAs, relaxed cluster arrives, fast erf, no producer warp.</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Every attempt that raised register pressure (peeling, K/V prefetch, owner prefetch) made the kernel slower.</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What remains is a 900-layer dependent chain; going far below 40 ms needs fewer cross-SM hand-offs per layer, a redesign.</a:t>
            </a:r>
            <a:endParaRPr lang="en-US" sz="1100" dirty="0"/>
          </a:p>
        </p:txBody>
      </p:sp>
      <p:sp>
        <p:nvSpPr>
          <p:cNvPr id="16" name="Text 1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Result 4: task success does not move</a:t>
            </a:r>
            <a:endParaRPr lang="en-US" sz="2800" dirty="0"/>
          </a:p>
        </p:txBody>
      </p:sp>
      <p:pic>
        <p:nvPicPr>
          <p:cNvPr id="3" name="Image 0" descr="preencoded.png">    </p:cNvPr>
          <p:cNvPicPr>
            <a:picLocks noChangeAspect="1"/>
          </p:cNvPicPr>
          <p:nvPr/>
        </p:nvPicPr>
        <p:blipFill>
          <a:blip r:embed="rId1"/>
          <a:stretch>
            <a:fillRect/>
          </a:stretch>
        </p:blipFill>
        <p:spPr>
          <a:xfrm>
            <a:off x="457200" y="1336386"/>
            <a:ext cx="5760720" cy="1990669"/>
          </a:xfrm>
          <a:prstGeom prst="rect">
            <a:avLst/>
          </a:prstGeom>
        </p:spPr>
      </p:pic>
      <p:sp>
        <p:nvSpPr>
          <p:cNvPr id="4" name="Text 1"/>
          <p:cNvSpPr txBox="1"/>
          <p:nvPr/>
        </p:nvSpPr>
        <p:spPr>
          <a:xfrm>
            <a:off x="6400800" y="1051560"/>
            <a:ext cx="2377440" cy="365760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Every rung: 260-265 of 300; no paired test near significance (smallest p = 0.50).</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Whole ladder, R4 vs R0: 19 won / 20 lost, -0.3 points [-4.3, +3.7].</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The exact rung differs in 2 episodes; any new random stream in 32-39: the size of sampling noise.</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Kernel cost error vs FP32 matches BF16 autocast (max rel. 0.0005-0.0043); fused encoder closer to FP32 than autocast.</a:t>
            </a:r>
            <a:endParaRPr lang="en-US" sz="1100" dirty="0"/>
          </a:p>
        </p:txBody>
      </p:sp>
      <p:sp>
        <p:nvSpPr>
          <p:cNvPr id="5" name="Text 2"/>
          <p:cNvSpPr txBox="1"/>
          <p:nvPr/>
        </p:nvSpPr>
        <p:spPr>
          <a:xfrm>
            <a:off x="457200" y="3840480"/>
            <a:ext cx="576072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Grey: episodes only the reference solved; coloured: episodes only the rung solved. Annotation: paired difference, bootstrap 95% CI, exact McNemar p.</a:t>
            </a:r>
            <a:endParaRPr lang="en-US" sz="10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Conclusions, and what I cannot claim</a:t>
            </a:r>
            <a:endParaRPr lang="en-US" sz="2800" dirty="0"/>
          </a:p>
        </p:txBody>
      </p:sp>
      <p:sp>
        <p:nvSpPr>
          <p:cNvPr id="3" name="Text 1"/>
          <p:cNvSpPr txBox="1"/>
          <p:nvPr/>
        </p:nvSpPr>
        <p:spPr>
          <a:xfrm>
            <a:off x="457200" y="1051560"/>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RQ1</a:t>
            </a:r>
            <a:endParaRPr lang="en-US" sz="1400" dirty="0"/>
          </a:p>
        </p:txBody>
      </p:sp>
      <p:sp>
        <p:nvSpPr>
          <p:cNvPr id="4" name="Text 2"/>
          <p:cNvSpPr txBox="1"/>
          <p:nvPr/>
        </p:nvSpPr>
        <p:spPr>
          <a:xfrm>
            <a:off x="1143000" y="1051560"/>
            <a:ext cx="4160520" cy="713232"/>
          </a:xfrm>
          <a:prstGeom prst="rect">
            <a:avLst/>
          </a:prstGeom>
          <a:noFill/>
          <a:ln/>
        </p:spPr>
        <p:txBody>
          <a:bodyPr wrap="square" lIns="0" tIns="0" rIns="0" bIns="0" rtlCol="0" anchor="t"/>
          <a:lstStyle/>
          <a:p>
            <a:pPr indent="0" marL="0">
              <a:buNone/>
            </a:pPr>
            <a:r>
              <a:rPr lang="en-US" sz="1100" dirty="0">
                <a:solidFill>
                  <a:srgbClr val="1B1B1B"/>
                </a:solidFill>
                <a:latin typeface="Calibri" pitchFamily="34" charset="0"/>
                <a:ea typeface="Calibri" pitchFamily="34" charset="-122"/>
                <a:cs typeface="Calibri" pitchFamily="34" charset="-120"/>
              </a:rPr>
              <a:t>About 40% of the reference latency is redundant work: caching and no host syncs, 622 -&gt; 377 ms, exact.</a:t>
            </a:r>
            <a:endParaRPr lang="en-US" sz="1100" dirty="0"/>
          </a:p>
        </p:txBody>
      </p:sp>
      <p:sp>
        <p:nvSpPr>
          <p:cNvPr id="5" name="Text 3"/>
          <p:cNvSpPr txBox="1"/>
          <p:nvPr/>
        </p:nvSpPr>
        <p:spPr>
          <a:xfrm>
            <a:off x="457200" y="1801368"/>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RQ2</a:t>
            </a:r>
            <a:endParaRPr lang="en-US" sz="1400" dirty="0"/>
          </a:p>
        </p:txBody>
      </p:sp>
      <p:sp>
        <p:nvSpPr>
          <p:cNvPr id="6" name="Text 4"/>
          <p:cNvSpPr txBox="1"/>
          <p:nvPr/>
        </p:nvSpPr>
        <p:spPr>
          <a:xfrm>
            <a:off x="1143000" y="1801368"/>
            <a:ext cx="4160520" cy="713232"/>
          </a:xfrm>
          <a:prstGeom prst="rect">
            <a:avLst/>
          </a:prstGeom>
          <a:noFill/>
          <a:ln/>
        </p:spPr>
        <p:txBody>
          <a:bodyPr wrap="square" lIns="0" tIns="0" rIns="0" bIns="0" rtlCol="0" anchor="t"/>
          <a:lstStyle/>
          <a:p>
            <a:pPr indent="0" marL="0">
              <a:buNone/>
            </a:pPr>
            <a:r>
              <a:rPr lang="en-US" sz="1100" dirty="0">
                <a:solidFill>
                  <a:srgbClr val="1B1B1B"/>
                </a:solidFill>
                <a:latin typeface="Calibri" pitchFamily="34" charset="0"/>
                <a:ea typeface="Calibri" pitchFamily="34" charset="-122"/>
                <a:cs typeface="Calibri" pitchFamily="34" charset="-120"/>
              </a:rPr>
              <a:t>It depends on execution: 0.92x in eager PyTorch, 1.38x in the megakernel; success unchanged either way.</a:t>
            </a:r>
            <a:endParaRPr lang="en-US" sz="1100" dirty="0"/>
          </a:p>
        </p:txBody>
      </p:sp>
      <p:sp>
        <p:nvSpPr>
          <p:cNvPr id="7" name="Text 5"/>
          <p:cNvSpPr txBox="1"/>
          <p:nvPr/>
        </p:nvSpPr>
        <p:spPr>
          <a:xfrm>
            <a:off x="457200" y="2551176"/>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RQ3</a:t>
            </a:r>
            <a:endParaRPr lang="en-US" sz="1400" dirty="0"/>
          </a:p>
        </p:txBody>
      </p:sp>
      <p:sp>
        <p:nvSpPr>
          <p:cNvPr id="8" name="Text 6"/>
          <p:cNvSpPr txBox="1"/>
          <p:nvPr/>
        </p:nvSpPr>
        <p:spPr>
          <a:xfrm>
            <a:off x="1143000" y="2551176"/>
            <a:ext cx="4160520" cy="713232"/>
          </a:xfrm>
          <a:prstGeom prst="rect">
            <a:avLst/>
          </a:prstGeom>
          <a:noFill/>
          <a:ln/>
        </p:spPr>
        <p:txBody>
          <a:bodyPr wrap="square" lIns="0" tIns="0" rIns="0" bIns="0" rtlCol="0" anchor="t"/>
          <a:lstStyle/>
          <a:p>
            <a:pPr indent="0" marL="0">
              <a:buNone/>
            </a:pPr>
            <a:r>
              <a:rPr lang="en-US" sz="1100" dirty="0">
                <a:solidFill>
                  <a:srgbClr val="1B1B1B"/>
                </a:solidFill>
                <a:latin typeface="Calibri" pitchFamily="34" charset="0"/>
                <a:ea typeface="Calibri" pitchFamily="34" charset="-122"/>
                <a:cs typeface="Calibri" pitchFamily="34" charset="-120"/>
              </a:rPr>
              <a:t>3.1x over the best PyTorch path end to end (2.0x on the solve), 6.9x over eager iCEM, at the same numerics class.</a:t>
            </a:r>
            <a:endParaRPr lang="en-US" sz="1100" dirty="0"/>
          </a:p>
        </p:txBody>
      </p:sp>
      <p:sp>
        <p:nvSpPr>
          <p:cNvPr id="9" name="Text 7"/>
          <p:cNvSpPr txBox="1"/>
          <p:nvPr/>
        </p:nvSpPr>
        <p:spPr>
          <a:xfrm>
            <a:off x="457200" y="3300984"/>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RQ4</a:t>
            </a:r>
            <a:endParaRPr lang="en-US" sz="1400" dirty="0"/>
          </a:p>
        </p:txBody>
      </p:sp>
      <p:sp>
        <p:nvSpPr>
          <p:cNvPr id="10" name="Text 8"/>
          <p:cNvSpPr txBox="1"/>
          <p:nvPr/>
        </p:nvSpPr>
        <p:spPr>
          <a:xfrm>
            <a:off x="1143000" y="3300984"/>
            <a:ext cx="4160520" cy="713232"/>
          </a:xfrm>
          <a:prstGeom prst="rect">
            <a:avLst/>
          </a:prstGeom>
          <a:noFill/>
          <a:ln/>
        </p:spPr>
        <p:txBody>
          <a:bodyPr wrap="square" lIns="0" tIns="0" rIns="0" bIns="0" rtlCol="0" anchor="t"/>
          <a:lstStyle/>
          <a:p>
            <a:pPr indent="0" marL="0">
              <a:buNone/>
            </a:pPr>
            <a:r>
              <a:rPr lang="en-US" sz="1100" dirty="0">
                <a:solidFill>
                  <a:srgbClr val="1B1B1B"/>
                </a:solidFill>
                <a:latin typeface="Calibri" pitchFamily="34" charset="0"/>
                <a:ea typeface="Calibri" pitchFamily="34" charset="-122"/>
                <a:cs typeface="Calibri" pitchFamily="34" charset="-120"/>
              </a:rPr>
              <a:t>Yes, within resolution: cost error matches BF16 autocast; -0.3 points [-4.3, +3.7] on 300 paired episodes.</a:t>
            </a:r>
            <a:endParaRPr lang="en-US" sz="1100" dirty="0"/>
          </a:p>
        </p:txBody>
      </p:sp>
      <p:sp>
        <p:nvSpPr>
          <p:cNvPr id="11" name="Shape 9"/>
          <p:cNvSpPr/>
          <p:nvPr/>
        </p:nvSpPr>
        <p:spPr>
          <a:xfrm>
            <a:off x="5577840" y="1051560"/>
            <a:ext cx="3108960" cy="3566160"/>
          </a:xfrm>
          <a:prstGeom prst="roundRect">
            <a:avLst>
              <a:gd name="adj" fmla="val 2353"/>
            </a:avLst>
          </a:prstGeom>
          <a:solidFill>
            <a:srgbClr val="F3F4F6"/>
          </a:solidFill>
          <a:ln w="12700">
            <a:solidFill>
              <a:srgbClr val="F3F4F6"/>
            </a:solidFill>
            <a:prstDash val="solid"/>
          </a:ln>
        </p:spPr>
      </p:sp>
      <p:sp>
        <p:nvSpPr>
          <p:cNvPr id="12" name="Text 10"/>
          <p:cNvSpPr txBox="1"/>
          <p:nvPr/>
        </p:nvSpPr>
        <p:spPr>
          <a:xfrm>
            <a:off x="5760720" y="1161288"/>
            <a:ext cx="2743200" cy="36576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Issues and limits</a:t>
            </a:r>
            <a:endParaRPr lang="en-US" sz="1500" dirty="0"/>
          </a:p>
        </p:txBody>
      </p:sp>
      <p:sp>
        <p:nvSpPr>
          <p:cNvPr id="13" name="Text 11"/>
          <p:cNvSpPr txBox="1"/>
          <p:nvPr/>
        </p:nvSpPr>
        <p:spPr>
          <a:xfrm>
            <a:off x="5760720" y="1572768"/>
            <a:ext cx="2788920" cy="3017520"/>
          </a:xfrm>
          <a:prstGeom prst="rect">
            <a:avLst/>
          </a:prstGeom>
          <a:noFill/>
          <a:ln/>
        </p:spPr>
        <p:txBody>
          <a:bodyPr wrap="square" lIns="0" tIns="0" rIns="0" bIns="0" rtlCol="0" anchor="t"/>
          <a:lstStyle/>
          <a:p>
            <a:pPr marL="177800" indent="-177800">
              <a:spcAft>
                <a:spcPts val="700"/>
              </a:spcAft>
              <a:buSzPct val="100000"/>
              <a:buChar char="•"/>
            </a:pPr>
            <a:r>
              <a:rPr lang="en-US" sz="1050" dirty="0">
                <a:solidFill>
                  <a:srgbClr val="1B1B1B"/>
                </a:solidFill>
                <a:latin typeface="Calibri" pitchFamily="34" charset="0"/>
                <a:ea typeface="Calibri" pitchFamily="34" charset="-122"/>
                <a:cs typeface="Calibri" pitchFamily="34" charset="-120"/>
              </a:rPr>
              <a:t>300 pairs resolve about 6 points of success, no less.</a:t>
            </a:r>
            <a:endParaRPr lang="en-US" sz="1050" dirty="0"/>
          </a:p>
          <a:p>
            <a:pPr marL="177800" indent="-177800">
              <a:spcAft>
                <a:spcPts val="700"/>
              </a:spcAft>
              <a:buSzPct val="100000"/>
              <a:buChar char="•"/>
            </a:pPr>
            <a:r>
              <a:rPr lang="en-US" sz="1050" dirty="0">
                <a:solidFill>
                  <a:srgbClr val="1B1B1B"/>
                </a:solidFill>
                <a:latin typeface="Calibri" pitchFamily="34" charset="0"/>
                <a:ea typeface="Calibri" pitchFamily="34" charset="-122"/>
                <a:cs typeface="Calibri" pitchFamily="34" charset="-120"/>
              </a:rPr>
              <a:t>PyTorch rungs moved up to 18% between two passes; the kernel rungs under 2%.</a:t>
            </a:r>
            <a:endParaRPr lang="en-US" sz="1050" dirty="0"/>
          </a:p>
          <a:p>
            <a:pPr marL="177800" indent="-177800">
              <a:spcAft>
                <a:spcPts val="700"/>
              </a:spcAft>
              <a:buSzPct val="100000"/>
              <a:buChar char="•"/>
            </a:pPr>
            <a:r>
              <a:rPr lang="en-US" sz="1050" dirty="0">
                <a:solidFill>
                  <a:srgbClr val="1B1B1B"/>
                </a:solidFill>
                <a:latin typeface="Calibri" pitchFamily="34" charset="0"/>
                <a:ea typeface="Calibri" pitchFamily="34" charset="-122"/>
                <a:cs typeface="Calibri" pitchFamily="34" charset="-120"/>
              </a:rPr>
              <a:t>One model, one task, one GPU generation; Hopper-only kernel.</a:t>
            </a:r>
            <a:endParaRPr lang="en-US" sz="1050" dirty="0"/>
          </a:p>
          <a:p>
            <a:pPr marL="177800" indent="-177800">
              <a:spcAft>
                <a:spcPts val="700"/>
              </a:spcAft>
              <a:buSzPct val="100000"/>
              <a:buChar char="•"/>
            </a:pPr>
            <a:r>
              <a:rPr lang="en-US" sz="1050" dirty="0">
                <a:solidFill>
                  <a:srgbClr val="1B1B1B"/>
                </a:solidFill>
                <a:latin typeface="Calibri" pitchFamily="34" charset="0"/>
                <a:ea typeface="Calibri" pitchFamily="34" charset="-122"/>
                <a:cs typeface="Calibri" pitchFamily="34" charset="-120"/>
              </a:rPr>
              <a:t>Simulation only; only the planning call was optimised.</a:t>
            </a:r>
            <a:endParaRPr lang="en-US" sz="1050" dirty="0"/>
          </a:p>
          <a:p>
            <a:pPr marL="177800" indent="-177800">
              <a:spcAft>
                <a:spcPts val="700"/>
              </a:spcAft>
              <a:buSzPct val="100000"/>
              <a:buChar char="•"/>
            </a:pPr>
            <a:r>
              <a:rPr lang="en-US" sz="1050" dirty="0">
                <a:solidFill>
                  <a:srgbClr val="1B1B1B"/>
                </a:solidFill>
                <a:latin typeface="Calibri" pitchFamily="34" charset="0"/>
                <a:ea typeface="Calibri" pitchFamily="34" charset="-122"/>
                <a:cs typeface="Calibri" pitchFamily="34" charset="-120"/>
              </a:rPr>
              <a:t>R2b is bimodal and R4 has one 458 ms outlier, causes not isolated.</a:t>
            </a:r>
            <a:endParaRPr lang="en-US" sz="1050" dirty="0"/>
          </a:p>
          <a:p>
            <a:pPr marL="177800" indent="-177800">
              <a:spcAft>
                <a:spcPts val="700"/>
              </a:spcAft>
              <a:buSzPct val="100000"/>
              <a:buChar char="•"/>
            </a:pPr>
            <a:r>
              <a:rPr lang="en-US" sz="1050" dirty="0">
                <a:solidFill>
                  <a:srgbClr val="1B1B1B"/>
                </a:solidFill>
                <a:latin typeface="Calibri" pitchFamily="34" charset="0"/>
                <a:ea typeface="Calibri" pitchFamily="34" charset="-122"/>
                <a:cs typeface="Calibri" pitchFamily="34" charset="-120"/>
              </a:rPr>
              <a:t>Budget: $31.50 of $35, two latency passes, one quality run per rung.</a:t>
            </a:r>
            <a:endParaRPr lang="en-US" sz="1050" dirty="0"/>
          </a:p>
        </p:txBody>
      </p:sp>
      <p:sp>
        <p:nvSpPr>
          <p:cNvPr id="15" name="Text 1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Future work: towards a research programme</a:t>
            </a:r>
            <a:endParaRPr lang="en-US" sz="2800" dirty="0"/>
          </a:p>
        </p:txBody>
      </p:sp>
      <p:sp>
        <p:nvSpPr>
          <p:cNvPr id="3" name="Shape 1"/>
          <p:cNvSpPr/>
          <p:nvPr/>
        </p:nvSpPr>
        <p:spPr>
          <a:xfrm>
            <a:off x="457200" y="1097280"/>
            <a:ext cx="365760" cy="365760"/>
          </a:xfrm>
          <a:prstGeom prst="ellipse">
            <a:avLst/>
          </a:prstGeom>
          <a:solidFill>
            <a:srgbClr val="2A78D6"/>
          </a:solidFill>
          <a:ln w="12700">
            <a:solidFill>
              <a:srgbClr val="FFFFFF"/>
            </a:solidFill>
            <a:prstDash val="solid"/>
          </a:ln>
        </p:spPr>
      </p:sp>
      <p:sp>
        <p:nvSpPr>
          <p:cNvPr id="4" name="Text 2"/>
          <p:cNvSpPr txBox="1"/>
          <p:nvPr/>
        </p:nvSpPr>
        <p:spPr>
          <a:xfrm>
            <a:off x="457200" y="10972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960120" y="1051560"/>
            <a:ext cx="3566160" cy="1097280"/>
          </a:xfrm>
          <a:prstGeom prst="rect">
            <a:avLst/>
          </a:prstGeom>
          <a:noFill/>
          <a:ln/>
        </p:spPr>
        <p:txBody>
          <a:bodyPr wrap="square" lIns="0" tIns="0" rIns="0" bIns="0" rtlCol="0" anchor="t"/>
          <a:lstStyle/>
          <a:p>
            <a:pPr indent="0" marL="0">
              <a:spcAft>
                <a:spcPts val="200"/>
              </a:spcAft>
              <a:buNone/>
            </a:pPr>
            <a:r>
              <a:rPr lang="en-US" sz="1150" b="1" dirty="0">
                <a:solidFill>
                  <a:srgbClr val="14213D"/>
                </a:solidFill>
                <a:latin typeface="Calibri" pitchFamily="34" charset="0"/>
                <a:ea typeface="Calibri" pitchFamily="34" charset="-122"/>
                <a:cs typeface="Calibri" pitchFamily="34" charset="-120"/>
              </a:rPr>
              <a:t>Spend the saved latency on planning</a:t>
            </a:r>
            <a:endParaRPr lang="en-US" sz="1150" dirty="0"/>
          </a:p>
          <a:p>
            <a:pPr indent="0" marL="0">
              <a:spcAft>
                <a:spcPts val="200"/>
              </a:spcAft>
              <a:buNone/>
            </a:pPr>
            <a:r>
              <a:rPr lang="en-US" sz="1150" dirty="0">
                <a:solidFill>
                  <a:srgbClr val="1B1B1B"/>
                </a:solidFill>
                <a:latin typeface="Calibri" pitchFamily="34" charset="0"/>
                <a:ea typeface="Calibri" pitchFamily="34" charset="-122"/>
                <a:cs typeface="Calibri" pitchFamily="34" charset="-120"/>
              </a:rPr>
              <a:t>Sweep iterations, population and elites at a few ms per plan: map the latency-success frontier, not one point.</a:t>
            </a:r>
            <a:endParaRPr lang="en-US" sz="1150" dirty="0"/>
          </a:p>
        </p:txBody>
      </p:sp>
      <p:sp>
        <p:nvSpPr>
          <p:cNvPr id="6" name="Shape 4"/>
          <p:cNvSpPr/>
          <p:nvPr/>
        </p:nvSpPr>
        <p:spPr>
          <a:xfrm>
            <a:off x="4663440" y="1097280"/>
            <a:ext cx="365760" cy="365760"/>
          </a:xfrm>
          <a:prstGeom prst="ellipse">
            <a:avLst/>
          </a:prstGeom>
          <a:solidFill>
            <a:srgbClr val="2A78D6"/>
          </a:solidFill>
          <a:ln w="12700">
            <a:solidFill>
              <a:srgbClr val="FFFFFF"/>
            </a:solidFill>
            <a:prstDash val="solid"/>
          </a:ln>
        </p:spPr>
      </p:sp>
      <p:sp>
        <p:nvSpPr>
          <p:cNvPr id="7" name="Text 5"/>
          <p:cNvSpPr txBox="1"/>
          <p:nvPr/>
        </p:nvSpPr>
        <p:spPr>
          <a:xfrm>
            <a:off x="4663440" y="10972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8" name="Text 6"/>
          <p:cNvSpPr txBox="1"/>
          <p:nvPr/>
        </p:nvSpPr>
        <p:spPr>
          <a:xfrm>
            <a:off x="5166360" y="1051560"/>
            <a:ext cx="3566160" cy="1097280"/>
          </a:xfrm>
          <a:prstGeom prst="rect">
            <a:avLst/>
          </a:prstGeom>
          <a:noFill/>
          <a:ln/>
        </p:spPr>
        <p:txBody>
          <a:bodyPr wrap="square" lIns="0" tIns="0" rIns="0" bIns="0" rtlCol="0" anchor="t"/>
          <a:lstStyle/>
          <a:p>
            <a:pPr indent="0" marL="0">
              <a:spcAft>
                <a:spcPts val="200"/>
              </a:spcAft>
              <a:buNone/>
            </a:pPr>
            <a:r>
              <a:rPr lang="en-US" sz="1150" b="1" dirty="0">
                <a:solidFill>
                  <a:srgbClr val="14213D"/>
                </a:solidFill>
                <a:latin typeface="Calibri" pitchFamily="34" charset="0"/>
                <a:ea typeface="Calibri" pitchFamily="34" charset="-122"/>
                <a:cs typeface="Calibri" pitchFamily="34" charset="-120"/>
              </a:rPr>
              <a:t>Fewer hand-offs per layer</a:t>
            </a:r>
            <a:endParaRPr lang="en-US" sz="1150" dirty="0"/>
          </a:p>
          <a:p>
            <a:pPr indent="0" marL="0">
              <a:spcAft>
                <a:spcPts val="200"/>
              </a:spcAft>
              <a:buNone/>
            </a:pPr>
            <a:r>
              <a:rPr lang="en-US" sz="1150" dirty="0">
                <a:solidFill>
                  <a:srgbClr val="1B1B1B"/>
                </a:solidFill>
                <a:latin typeface="Calibri" pitchFamily="34" charset="0"/>
                <a:ea typeface="Calibri" pitchFamily="34" charset="-122"/>
                <a:cs typeface="Calibri" pitchFamily="34" charset="-120"/>
              </a:rPr>
              <a:t>A single-barrier all-reduce, or one layer per cluster with resident (FP8) weights.</a:t>
            </a:r>
            <a:endParaRPr lang="en-US" sz="1150" dirty="0"/>
          </a:p>
        </p:txBody>
      </p:sp>
      <p:sp>
        <p:nvSpPr>
          <p:cNvPr id="9" name="Shape 7"/>
          <p:cNvSpPr/>
          <p:nvPr/>
        </p:nvSpPr>
        <p:spPr>
          <a:xfrm>
            <a:off x="457200" y="2286000"/>
            <a:ext cx="365760" cy="365760"/>
          </a:xfrm>
          <a:prstGeom prst="ellipse">
            <a:avLst/>
          </a:prstGeom>
          <a:solidFill>
            <a:srgbClr val="2A78D6"/>
          </a:solidFill>
          <a:ln w="12700">
            <a:solidFill>
              <a:srgbClr val="FFFFFF"/>
            </a:solidFill>
            <a:prstDash val="solid"/>
          </a:ln>
        </p:spPr>
      </p:sp>
      <p:sp>
        <p:nvSpPr>
          <p:cNvPr id="10" name="Text 8"/>
          <p:cNvSpPr txBox="1"/>
          <p:nvPr/>
        </p:nvSpPr>
        <p:spPr>
          <a:xfrm>
            <a:off x="457200" y="2286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1" name="Text 9"/>
          <p:cNvSpPr txBox="1"/>
          <p:nvPr/>
        </p:nvSpPr>
        <p:spPr>
          <a:xfrm>
            <a:off x="960120" y="2240280"/>
            <a:ext cx="3566160" cy="1097280"/>
          </a:xfrm>
          <a:prstGeom prst="rect">
            <a:avLst/>
          </a:prstGeom>
          <a:noFill/>
          <a:ln/>
        </p:spPr>
        <p:txBody>
          <a:bodyPr wrap="square" lIns="0" tIns="0" rIns="0" bIns="0" rtlCol="0" anchor="t"/>
          <a:lstStyle/>
          <a:p>
            <a:pPr indent="0" marL="0">
              <a:spcAft>
                <a:spcPts val="200"/>
              </a:spcAft>
              <a:buNone/>
            </a:pPr>
            <a:r>
              <a:rPr lang="en-US" sz="1150" b="1" dirty="0">
                <a:solidFill>
                  <a:srgbClr val="14213D"/>
                </a:solidFill>
                <a:latin typeface="Calibri" pitchFamily="34" charset="0"/>
                <a:ea typeface="Calibri" pitchFamily="34" charset="-122"/>
                <a:cs typeface="Calibri" pitchFamily="34" charset="-120"/>
              </a:rPr>
              <a:t>Compose with model-level speed-ups</a:t>
            </a:r>
            <a:endParaRPr lang="en-US" sz="1150" dirty="0"/>
          </a:p>
          <a:p>
            <a:pPr indent="0" marL="0">
              <a:spcAft>
                <a:spcPts val="200"/>
              </a:spcAft>
              <a:buNone/>
            </a:pPr>
            <a:r>
              <a:rPr lang="en-US" sz="1150" dirty="0">
                <a:solidFill>
                  <a:srgbClr val="1B1B1B"/>
                </a:solidFill>
                <a:latin typeface="Calibri" pitchFamily="34" charset="0"/>
                <a:ea typeface="Calibri" pitchFamily="34" charset="-122"/>
                <a:cs typeface="Calibri" pitchFamily="34" charset="-120"/>
              </a:rPr>
              <a:t>Fast-LeWM's parallel prefix prediction would cut the chain from 5 passes per iteration to 1.</a:t>
            </a:r>
            <a:endParaRPr lang="en-US" sz="1150" dirty="0"/>
          </a:p>
        </p:txBody>
      </p:sp>
      <p:sp>
        <p:nvSpPr>
          <p:cNvPr id="12" name="Shape 10"/>
          <p:cNvSpPr/>
          <p:nvPr/>
        </p:nvSpPr>
        <p:spPr>
          <a:xfrm>
            <a:off x="4663440" y="2286000"/>
            <a:ext cx="365760" cy="365760"/>
          </a:xfrm>
          <a:prstGeom prst="ellipse">
            <a:avLst/>
          </a:prstGeom>
          <a:solidFill>
            <a:srgbClr val="2A78D6"/>
          </a:solidFill>
          <a:ln w="12700">
            <a:solidFill>
              <a:srgbClr val="FFFFFF"/>
            </a:solidFill>
            <a:prstDash val="solid"/>
          </a:ln>
        </p:spPr>
      </p:sp>
      <p:sp>
        <p:nvSpPr>
          <p:cNvPr id="13" name="Text 11"/>
          <p:cNvSpPr txBox="1"/>
          <p:nvPr/>
        </p:nvSpPr>
        <p:spPr>
          <a:xfrm>
            <a:off x="4663440" y="2286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4" name="Text 12"/>
          <p:cNvSpPr txBox="1"/>
          <p:nvPr/>
        </p:nvSpPr>
        <p:spPr>
          <a:xfrm>
            <a:off x="5166360" y="2240280"/>
            <a:ext cx="3566160" cy="1097280"/>
          </a:xfrm>
          <a:prstGeom prst="rect">
            <a:avLst/>
          </a:prstGeom>
          <a:noFill/>
          <a:ln/>
        </p:spPr>
        <p:txBody>
          <a:bodyPr wrap="square" lIns="0" tIns="0" rIns="0" bIns="0" rtlCol="0" anchor="t"/>
          <a:lstStyle/>
          <a:p>
            <a:pPr indent="0" marL="0">
              <a:spcAft>
                <a:spcPts val="200"/>
              </a:spcAft>
              <a:buNone/>
            </a:pPr>
            <a:r>
              <a:rPr lang="en-US" sz="1150" b="1" dirty="0">
                <a:solidFill>
                  <a:srgbClr val="14213D"/>
                </a:solidFill>
                <a:latin typeface="Calibri" pitchFamily="34" charset="0"/>
                <a:ea typeface="Calibri" pitchFamily="34" charset="-122"/>
                <a:cs typeface="Calibri" pitchFamily="34" charset="-120"/>
              </a:rPr>
              <a:t>Other world models, other GPUs</a:t>
            </a:r>
            <a:endParaRPr lang="en-US" sz="1150" dirty="0"/>
          </a:p>
          <a:p>
            <a:pPr indent="0" marL="0">
              <a:spcAft>
                <a:spcPts val="200"/>
              </a:spcAft>
              <a:buNone/>
            </a:pPr>
            <a:r>
              <a:rPr lang="en-US" sz="1150" dirty="0">
                <a:solidFill>
                  <a:srgbClr val="1B1B1B"/>
                </a:solidFill>
                <a:latin typeface="Calibri" pitchFamily="34" charset="0"/>
                <a:ea typeface="Calibri" pitchFamily="34" charset="-122"/>
                <a:cs typeface="Calibri" pitchFamily="34" charset="-120"/>
              </a:rPr>
              <a:t>DINO-WM and V-JEPA 2-AC push back towards throughput; Blackwell and Jetson Thor change the primitives; automate with megakernel compilers.</a:t>
            </a:r>
            <a:endParaRPr lang="en-US" sz="1150" dirty="0"/>
          </a:p>
        </p:txBody>
      </p:sp>
      <p:sp>
        <p:nvSpPr>
          <p:cNvPr id="15" name="Shape 13"/>
          <p:cNvSpPr/>
          <p:nvPr/>
        </p:nvSpPr>
        <p:spPr>
          <a:xfrm>
            <a:off x="457200" y="3474720"/>
            <a:ext cx="365760" cy="365760"/>
          </a:xfrm>
          <a:prstGeom prst="ellipse">
            <a:avLst/>
          </a:prstGeom>
          <a:solidFill>
            <a:srgbClr val="2A78D6"/>
          </a:solidFill>
          <a:ln w="12700">
            <a:solidFill>
              <a:srgbClr val="FFFFFF"/>
            </a:solidFill>
            <a:prstDash val="solid"/>
          </a:ln>
        </p:spPr>
      </p:sp>
      <p:sp>
        <p:nvSpPr>
          <p:cNvPr id="16" name="Text 14"/>
          <p:cNvSpPr txBox="1"/>
          <p:nvPr/>
        </p:nvSpPr>
        <p:spPr>
          <a:xfrm>
            <a:off x="457200" y="34747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17" name="Text 15"/>
          <p:cNvSpPr txBox="1"/>
          <p:nvPr/>
        </p:nvSpPr>
        <p:spPr>
          <a:xfrm>
            <a:off x="960120" y="3429000"/>
            <a:ext cx="3566160" cy="1097280"/>
          </a:xfrm>
          <a:prstGeom prst="rect">
            <a:avLst/>
          </a:prstGeom>
          <a:noFill/>
          <a:ln/>
        </p:spPr>
        <p:txBody>
          <a:bodyPr wrap="square" lIns="0" tIns="0" rIns="0" bIns="0" rtlCol="0" anchor="t"/>
          <a:lstStyle/>
          <a:p>
            <a:pPr indent="0" marL="0">
              <a:spcAft>
                <a:spcPts val="200"/>
              </a:spcAft>
              <a:buNone/>
            </a:pPr>
            <a:r>
              <a:rPr lang="en-US" sz="1150" b="1" dirty="0">
                <a:solidFill>
                  <a:srgbClr val="14213D"/>
                </a:solidFill>
                <a:latin typeface="Calibri" pitchFamily="34" charset="0"/>
                <a:ea typeface="Calibri" pitchFamily="34" charset="-122"/>
                <a:cs typeface="Calibri" pitchFamily="34" charset="-120"/>
              </a:rPr>
              <a:t>Evaluate at deployment resolution</a:t>
            </a:r>
            <a:endParaRPr lang="en-US" sz="1150" dirty="0"/>
          </a:p>
          <a:p>
            <a:pPr indent="0" marL="0">
              <a:spcAft>
                <a:spcPts val="200"/>
              </a:spcAft>
              <a:buNone/>
            </a:pPr>
            <a:r>
              <a:rPr lang="en-US" sz="1150" dirty="0">
                <a:solidFill>
                  <a:srgbClr val="1B1B1B"/>
                </a:solidFill>
                <a:latin typeface="Calibri" pitchFamily="34" charset="0"/>
                <a:ea typeface="Calibri" pitchFamily="34" charset="-122"/>
                <a:cs typeface="Calibri" pitchFamily="34" charset="-120"/>
              </a:rPr>
              <a:t>About 2,400 paired episodes for 2 points, now minutes of planning; then a real robot.</a:t>
            </a:r>
            <a:endParaRPr lang="en-US" sz="1150" dirty="0"/>
          </a:p>
        </p:txBody>
      </p:sp>
      <p:sp>
        <p:nvSpPr>
          <p:cNvPr id="18" name="Text 16"/>
          <p:cNvSpPr txBox="1"/>
          <p:nvPr/>
        </p:nvSpPr>
        <p:spPr>
          <a:xfrm>
            <a:off x="4663440" y="3520440"/>
            <a:ext cx="4023360" cy="1097280"/>
          </a:xfrm>
          <a:prstGeom prst="rect">
            <a:avLst/>
          </a:prstGeom>
          <a:noFill/>
          <a:ln/>
        </p:spPr>
        <p:txBody>
          <a:bodyPr wrap="square" lIns="0" tIns="0" rIns="0" bIns="0" rtlCol="0" anchor="t"/>
          <a:lstStyle/>
          <a:p>
            <a:pPr indent="0" marL="0">
              <a:buNone/>
            </a:pPr>
            <a:r>
              <a:rPr lang="en-US" sz="1200" i="1" dirty="0">
                <a:solidFill>
                  <a:srgbClr val="5A5A5A"/>
                </a:solidFill>
                <a:latin typeface="Calibri" pitchFamily="34" charset="0"/>
                <a:ea typeface="Calibri" pitchFamily="34" charset="-122"/>
                <a:cs typeface="Calibri" pitchFamily="34" charset="-120"/>
              </a:rPr>
              <a:t>Together: world-model planning treated as a systems problem, with the evaluation methodology to show that speed did not cost behaviour.</a:t>
            </a:r>
            <a:endParaRPr lang="en-US" sz="12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54864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Take-home</a:t>
            </a:r>
            <a:endParaRPr lang="en-US" sz="2800" dirty="0"/>
          </a:p>
        </p:txBody>
      </p:sp>
      <p:sp>
        <p:nvSpPr>
          <p:cNvPr id="3" name="Text 1"/>
          <p:cNvSpPr txBox="1"/>
          <p:nvPr/>
        </p:nvSpPr>
        <p:spPr>
          <a:xfrm>
            <a:off x="457200" y="1371600"/>
            <a:ext cx="8229600" cy="274320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A JEPA planner at batch 1 is bound by the latency of a long chain of tiny steps, not by FLOPs or bandwidth.</a:t>
            </a:r>
            <a:endParaRPr lang="en-US" sz="1700" dirty="0"/>
          </a:p>
          <a:p>
            <a:pPr marL="203200" indent="-2032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Sample-efficient planning (iCEM) only pays once execution stops being launch-bound: 0.92x in eager PyTorch, 1.38x in a kernel.</a:t>
            </a:r>
            <a:endParaRPr lang="en-US" sz="1700" dirty="0"/>
          </a:p>
          <a:p>
            <a:pPr marL="203200" indent="-203200">
              <a:buSzPct val="100000"/>
              <a:buChar char="•"/>
            </a:pPr>
            <a:r>
              <a:rPr lang="en-US" sz="1700" dirty="0">
                <a:solidFill>
                  <a:srgbClr val="FFFFFF"/>
                </a:solidFill>
                <a:latin typeface="Calibri" pitchFamily="34" charset="0"/>
                <a:ea typeface="Calibri" pitchFamily="34" charset="-122"/>
                <a:cs typeface="Calibri" pitchFamily="34" charset="-120"/>
              </a:rPr>
              <a:t>One persistent kernel per plan: 622 ms -&gt; 46.5 ms on the same H100, same model, same planner, same task success.</a:t>
            </a:r>
            <a:endParaRPr lang="en-US" sz="1700" dirty="0"/>
          </a:p>
        </p:txBody>
      </p:sp>
      <p:sp>
        <p:nvSpPr>
          <p:cNvPr id="4" name="Text 2"/>
          <p:cNvSpPr txBox="1"/>
          <p:nvPr/>
        </p:nvSpPr>
        <p:spPr>
          <a:xfrm>
            <a:off x="457200" y="4297680"/>
            <a:ext cx="822960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Paper, kernel, per-call latency records and per-episode outcomes: docs/paper and megakernel/ in the project repository.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Planning at the Speed of Control: Fusing a JEPA World-Model Planner into One GPU Kernel</dc:title>
  <dc:subject>PptxGenJS Presentation</dc:subject>
  <dc:creator>Antoine Nguyen</dc:creator>
  <cp:lastModifiedBy>Antoine Nguyen</cp:lastModifiedBy>
  <cp:revision>1</cp:revision>
  <dcterms:created xsi:type="dcterms:W3CDTF">2026-10-17T10:48:45Z</dcterms:created>
  <dcterms:modified xsi:type="dcterms:W3CDTF">2026-10-17T10:48:45Z</dcterms:modified>
</cp:coreProperties>
</file>