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study profiles the inference latency of a world-model planner, identifies its bottlenecks from measured data, and evaluates a fused GPU implementation that removes them without retraining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of the study: reference latency 622 ms, final latency 46.5 ms, a 13.4-fold reduction, and no detectable change in task success. The following slides present the profile, the design derived from it, and the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Closed-loop control requires planning latency below the control period. Larger world models require tens of seconds per plan; LeWM requires 622 ms on an H100, although its arithmetic content corresponds to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objectives, one per stage of the study. The object of study is an AI system; the method is an analytics pipeline over its measured behaviour: data collection and preparation, pattern discovery with a fitted latency model, and statistical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JEPA world models predict in a learned embedding space. With action conditioning, the predictor becomes a dynamics model, and a goal image defines a target in the same space. Planning latency in this literature has been reduced by changing the model, never by examining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LeWM plans by rolling candidate action sequences through its predictor in embedding space and scoring the final embedding against the goal. Each plan requires 30 iterations of this rollout for every candidate, which is the computation profiled in this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cross-entropy method is the planner used by LeWM and most JEPA world models. iCEM reduces the number of samples, but related work shows that sample count does not determine latency unless the per-iteration cost scales with it, which this study tests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models at batch size one are limited by the fixed cost of each kernel launch and CPU interaction rather than by arithmetic or memory bandwidth. Standard remedies reduce these costs per operation; megakernels remove them, but have so far been applied only to language-model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study addresses all three gaps for LeWM: it profiles execution, tests iCEM under two execution models, and fuses the complete planning loop into one persistent GPU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Methodology. Timings and outcomes are collected, prepared into tidy tables and analysed to locate the latency; the design follows from the analysis and is evaluated with the same instruments. Probes are configurations that differ from a system in one respect and isolate a single effect. Each design change was re-profiled before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Compute profile. One third of the latency recomputes image embeddings that are constant within a plan. Most of the remainder is the search, at approximately 409 microseconds per layer evaluation against approximately 3 microseconds of arithmetic.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analysis. A linear model of latency against workload shows that the eager planner's cost is almost entirely fixed, consistent with several hundred kernel launches from Python per call. This also explains the absence of a gain from iCEM under eager execution: it reduces work that is not the dominant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design element addresses one finding: single encoding removes the redundant third; iCEM reduces work once fixed overhead is removed; the persistent kernel removes launches and CPU round trips; cluster-level parallelism and weight streaming minimise the latency of each step of the dependent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Latency is reduced 13.4-fold relative to the reference and 3.9-fold relative to an optimised PyTorch implementation using compilation, CUDA Graphs and BF16. Latency variability is also reduced: the interquartile range is 0.7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detectable change in task success at the resolution of 300 paired episodes (approximately 6 percentage points at 80% power). Numerical error relative to FP32 is within the range of the accepted BF16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objectives were met. The latency reduction is large and reproducible; the task-success result is bounded by sample size; the measured values are specific to this model and GPU, while the identified mechanism is 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directions: the latency-success trade-off of the search budget, further latency reduction, generalisation to other models and hardware, and higher-resolution and physical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of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457200" y="914400"/>
            <a:ext cx="822960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Planning at the Speed of Control</a:t>
            </a:r>
            <a:endParaRPr lang="en-US" sz="3600" dirty="0"/>
          </a:p>
        </p:txBody>
      </p:sp>
      <p:sp>
        <p:nvSpPr>
          <p:cNvPr id="3" name="Text 1"/>
          <p:cNvSpPr txBox="1"/>
          <p:nvPr/>
        </p:nvSpPr>
        <p:spPr>
          <a:xfrm>
            <a:off x="457200" y="1828800"/>
            <a:ext cx="8229600" cy="73152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Profiling and fusing world-model robot planning into a single GPU kernel</a:t>
            </a:r>
            <a:endParaRPr lang="en-US" sz="1800" dirty="0"/>
          </a:p>
        </p:txBody>
      </p:sp>
      <p:sp>
        <p:nvSpPr>
          <p:cNvPr id="4" name="Text 2"/>
          <p:cNvSpPr txBox="1"/>
          <p:nvPr/>
        </p:nvSpPr>
        <p:spPr>
          <a:xfrm>
            <a:off x="457200" y="3566160"/>
            <a:ext cx="8229600" cy="914400"/>
          </a:xfrm>
          <a:prstGeom prst="rect">
            <a:avLst/>
          </a:prstGeom>
          <a:noFill/>
          <a:ln/>
        </p:spPr>
        <p:txBody>
          <a:bodyPr wrap="square" lIns="0" tIns="0" rIns="0" bIns="0" rtlCol="0" anchor="ctr"/>
          <a:lstStyle/>
          <a:p>
            <a:pPr indent="0" marL="0">
              <a:spcAft>
                <a:spcPts val="400"/>
              </a:spcAft>
              <a:buNone/>
            </a:pPr>
            <a:r>
              <a:rPr lang="en-US" sz="1300" b="1" dirty="0">
                <a:solidFill>
                  <a:srgbClr val="FFFFFF"/>
                </a:solidFill>
                <a:latin typeface="Calibri" pitchFamily="34" charset="0"/>
                <a:ea typeface="Calibri" pitchFamily="34" charset="-122"/>
                <a:cs typeface="Calibri" pitchFamily="34" charset="-120"/>
              </a:rPr>
              <a:t>Antoine Nguyen  ·  24433599</a:t>
            </a:r>
            <a:endParaRPr lang="en-US" sz="1300" dirty="0"/>
          </a:p>
          <a:p>
            <a:pPr indent="0" marL="0">
              <a:spcAft>
                <a:spcPts val="400"/>
              </a:spcAft>
              <a:buNone/>
            </a:pPr>
            <a:r>
              <a:rPr lang="en-US" sz="1300" dirty="0">
                <a:solidFill>
                  <a:srgbClr val="FFFFFF"/>
                </a:solidFill>
                <a:latin typeface="Calibri" pitchFamily="34" charset="0"/>
                <a:ea typeface="Calibri" pitchFamily="34" charset="-122"/>
                <a:cs typeface="Calibri" pitchFamily="34" charset="-120"/>
              </a:rPr>
              <a:t>Project presentation  ·  [Faculty / School], University of Technology Sydney</a:t>
            </a:r>
            <a:endParaRPr lang="en-US" sz="1300" dirty="0"/>
          </a:p>
          <a:p>
            <a:pPr indent="0" marL="0">
              <a:spcAft>
                <a:spcPts val="400"/>
              </a:spcAft>
              <a:buNone/>
            </a:pPr>
            <a:r>
              <a:rPr lang="en-US" sz="1300" dirty="0">
                <a:solidFill>
                  <a:srgbClr val="FFFFFF"/>
                </a:solidFill>
                <a:latin typeface="Calibri" pitchFamily="34" charset="0"/>
                <a:ea typeface="Calibri" pitchFamily="34" charset="-122"/>
                <a:cs typeface="Calibri" pitchFamily="34" charset="-120"/>
              </a:rPr>
              <a:t>Supervisor: [supervisor name]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Overview</a:t>
            </a:r>
            <a:endParaRPr lang="en-US" sz="2800" dirty="0"/>
          </a:p>
        </p:txBody>
      </p:sp>
      <p:sp>
        <p:nvSpPr>
          <p:cNvPr id="3" name="Text 1"/>
          <p:cNvSpPr txBox="1"/>
          <p:nvPr/>
        </p:nvSpPr>
        <p:spPr>
          <a:xfrm>
            <a:off x="457200" y="1051560"/>
            <a:ext cx="5120640" cy="35661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LeWM is a 15M-parameter world model that plans by evaluating thousands of predicted action outcomes. One plan takes 622 ms on an H100 GPU.</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Research question: where is the planning latency spent, and how much can be removed without retraining the model or reducing task success?</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Method: compute profiling of 11,942 timed calls, a fitted latency-scaling model, solution design, and paired statistical evaluation on 900 episode outcomes.</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Result: latency was dominated by execution overhead rather than computation. A single persistent GPU kernel per plan reduces latency to 46.5 ms with no detectable change in task success.</a:t>
            </a:r>
            <a:endParaRPr lang="en-US" sz="1400" dirty="0"/>
          </a:p>
        </p:txBody>
      </p:sp>
      <p:sp>
        <p:nvSpPr>
          <p:cNvPr id="4" name="Shape 2"/>
          <p:cNvSpPr/>
          <p:nvPr/>
        </p:nvSpPr>
        <p:spPr>
          <a:xfrm>
            <a:off x="5943600" y="1097280"/>
            <a:ext cx="1371600" cy="1051560"/>
          </a:xfrm>
          <a:prstGeom prst="roundRect">
            <a:avLst>
              <a:gd name="adj" fmla="val 6957"/>
            </a:avLst>
          </a:prstGeom>
          <a:solidFill>
            <a:srgbClr val="F3F4F6"/>
          </a:solidFill>
          <a:ln w="12700">
            <a:solidFill>
              <a:srgbClr val="F3F4F6"/>
            </a:solidFill>
            <a:prstDash val="solid"/>
          </a:ln>
        </p:spPr>
      </p:sp>
      <p:sp>
        <p:nvSpPr>
          <p:cNvPr id="5" name="Text 3"/>
          <p:cNvSpPr txBox="1"/>
          <p:nvPr/>
        </p:nvSpPr>
        <p:spPr>
          <a:xfrm>
            <a:off x="6080760" y="1188720"/>
            <a:ext cx="1097280" cy="578358"/>
          </a:xfrm>
          <a:prstGeom prst="rect">
            <a:avLst/>
          </a:prstGeom>
          <a:noFill/>
          <a:ln/>
        </p:spPr>
        <p:txBody>
          <a:bodyPr wrap="square" lIns="0" tIns="0" rIns="0" bIns="0" rtlCol="0" anchor="ctr"/>
          <a:lstStyle/>
          <a:p>
            <a:pPr algn="ctr" indent="0" marL="0">
              <a:buNone/>
            </a:pPr>
            <a:r>
              <a:rPr lang="en-US" sz="2400" b="1" dirty="0">
                <a:solidFill>
                  <a:srgbClr val="5A5A5A"/>
                </a:solidFill>
                <a:latin typeface="Cambria" pitchFamily="34" charset="0"/>
                <a:ea typeface="Cambria" pitchFamily="34" charset="-122"/>
                <a:cs typeface="Cambria" pitchFamily="34" charset="-120"/>
              </a:rPr>
              <a:t>622 ms</a:t>
            </a:r>
            <a:endParaRPr lang="en-US" sz="2400" dirty="0"/>
          </a:p>
        </p:txBody>
      </p:sp>
      <p:sp>
        <p:nvSpPr>
          <p:cNvPr id="6" name="Text 4"/>
          <p:cNvSpPr txBox="1"/>
          <p:nvPr/>
        </p:nvSpPr>
        <p:spPr>
          <a:xfrm>
            <a:off x="6080760" y="1728216"/>
            <a:ext cx="109728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reference planner</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(one robot, H100)</a:t>
            </a:r>
            <a:endParaRPr lang="en-US" sz="1000" dirty="0"/>
          </a:p>
        </p:txBody>
      </p:sp>
      <p:sp>
        <p:nvSpPr>
          <p:cNvPr id="7" name="Shape 5"/>
          <p:cNvSpPr/>
          <p:nvPr/>
        </p:nvSpPr>
        <p:spPr>
          <a:xfrm>
            <a:off x="7406640" y="1097280"/>
            <a:ext cx="1371600" cy="1051560"/>
          </a:xfrm>
          <a:prstGeom prst="roundRect">
            <a:avLst>
              <a:gd name="adj" fmla="val 6957"/>
            </a:avLst>
          </a:prstGeom>
          <a:solidFill>
            <a:srgbClr val="F3F4F6"/>
          </a:solidFill>
          <a:ln w="12700">
            <a:solidFill>
              <a:srgbClr val="F3F4F6"/>
            </a:solidFill>
            <a:prstDash val="solid"/>
          </a:ln>
        </p:spPr>
      </p:sp>
      <p:sp>
        <p:nvSpPr>
          <p:cNvPr id="8" name="Text 6"/>
          <p:cNvSpPr txBox="1"/>
          <p:nvPr/>
        </p:nvSpPr>
        <p:spPr>
          <a:xfrm>
            <a:off x="7543800" y="1188720"/>
            <a:ext cx="1097280" cy="578358"/>
          </a:xfrm>
          <a:prstGeom prst="rect">
            <a:avLst/>
          </a:prstGeom>
          <a:noFill/>
          <a:ln/>
        </p:spPr>
        <p:txBody>
          <a:bodyPr wrap="square" lIns="0" tIns="0" rIns="0" bIns="0" rtlCol="0" anchor="ctr"/>
          <a:lstStyle/>
          <a:p>
            <a:pPr algn="ctr" indent="0" marL="0">
              <a:buNone/>
            </a:pPr>
            <a:r>
              <a:rPr lang="en-US" sz="2400" b="1" dirty="0">
                <a:solidFill>
                  <a:srgbClr val="2A78D6"/>
                </a:solidFill>
                <a:latin typeface="Cambria" pitchFamily="34" charset="0"/>
                <a:ea typeface="Cambria" pitchFamily="34" charset="-122"/>
                <a:cs typeface="Cambria" pitchFamily="34" charset="-120"/>
              </a:rPr>
              <a:t>46.5 ms</a:t>
            </a:r>
            <a:endParaRPr lang="en-US" sz="2400" dirty="0"/>
          </a:p>
        </p:txBody>
      </p:sp>
      <p:sp>
        <p:nvSpPr>
          <p:cNvPr id="9" name="Text 7"/>
          <p:cNvSpPr txBox="1"/>
          <p:nvPr/>
        </p:nvSpPr>
        <p:spPr>
          <a:xfrm>
            <a:off x="7543800" y="1728216"/>
            <a:ext cx="109728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LeWM-MK,</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one GPU launch</a:t>
            </a:r>
            <a:endParaRPr lang="en-US" sz="1000" dirty="0"/>
          </a:p>
        </p:txBody>
      </p:sp>
      <p:sp>
        <p:nvSpPr>
          <p:cNvPr id="10" name="Shape 8"/>
          <p:cNvSpPr/>
          <p:nvPr/>
        </p:nvSpPr>
        <p:spPr>
          <a:xfrm>
            <a:off x="5943600" y="2331720"/>
            <a:ext cx="1371600" cy="1051560"/>
          </a:xfrm>
          <a:prstGeom prst="roundRect">
            <a:avLst>
              <a:gd name="adj" fmla="val 6957"/>
            </a:avLst>
          </a:prstGeom>
          <a:solidFill>
            <a:srgbClr val="F3F4F6"/>
          </a:solidFill>
          <a:ln w="12700">
            <a:solidFill>
              <a:srgbClr val="F3F4F6"/>
            </a:solidFill>
            <a:prstDash val="solid"/>
          </a:ln>
        </p:spPr>
      </p:sp>
      <p:sp>
        <p:nvSpPr>
          <p:cNvPr id="11" name="Text 9"/>
          <p:cNvSpPr txBox="1"/>
          <p:nvPr/>
        </p:nvSpPr>
        <p:spPr>
          <a:xfrm>
            <a:off x="6080760" y="2423160"/>
            <a:ext cx="1097280" cy="578358"/>
          </a:xfrm>
          <a:prstGeom prst="rect">
            <a:avLst/>
          </a:prstGeom>
          <a:noFill/>
          <a:ln/>
        </p:spPr>
        <p:txBody>
          <a:bodyPr wrap="square" lIns="0" tIns="0" rIns="0" bIns="0" rtlCol="0" anchor="ctr"/>
          <a:lstStyle/>
          <a:p>
            <a:pPr algn="ctr" indent="0" marL="0">
              <a:buNone/>
            </a:pPr>
            <a:r>
              <a:rPr lang="en-US" sz="2600" b="1" dirty="0">
                <a:solidFill>
                  <a:srgbClr val="2A78D6"/>
                </a:solidFill>
                <a:latin typeface="Cambria" pitchFamily="34" charset="0"/>
                <a:ea typeface="Cambria" pitchFamily="34" charset="-122"/>
                <a:cs typeface="Cambria" pitchFamily="34" charset="-120"/>
              </a:rPr>
              <a:t>13.4×</a:t>
            </a:r>
            <a:endParaRPr lang="en-US" sz="2600" dirty="0"/>
          </a:p>
        </p:txBody>
      </p:sp>
      <p:sp>
        <p:nvSpPr>
          <p:cNvPr id="12" name="Text 10"/>
          <p:cNvSpPr txBox="1"/>
          <p:nvPr/>
        </p:nvSpPr>
        <p:spPr>
          <a:xfrm>
            <a:off x="6080760" y="2962656"/>
            <a:ext cx="109728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faster than the</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reference</a:t>
            </a:r>
            <a:endParaRPr lang="en-US" sz="1000" dirty="0"/>
          </a:p>
        </p:txBody>
      </p:sp>
      <p:sp>
        <p:nvSpPr>
          <p:cNvPr id="13" name="Shape 11"/>
          <p:cNvSpPr/>
          <p:nvPr/>
        </p:nvSpPr>
        <p:spPr>
          <a:xfrm>
            <a:off x="7406640" y="2331720"/>
            <a:ext cx="1371600" cy="1051560"/>
          </a:xfrm>
          <a:prstGeom prst="roundRect">
            <a:avLst>
              <a:gd name="adj" fmla="val 6957"/>
            </a:avLst>
          </a:prstGeom>
          <a:solidFill>
            <a:srgbClr val="F3F4F6"/>
          </a:solidFill>
          <a:ln w="12700">
            <a:solidFill>
              <a:srgbClr val="F3F4F6"/>
            </a:solidFill>
            <a:prstDash val="solid"/>
          </a:ln>
        </p:spPr>
      </p:sp>
      <p:sp>
        <p:nvSpPr>
          <p:cNvPr id="14" name="Text 12"/>
          <p:cNvSpPr txBox="1"/>
          <p:nvPr/>
        </p:nvSpPr>
        <p:spPr>
          <a:xfrm>
            <a:off x="7543800" y="2423160"/>
            <a:ext cx="1097280" cy="578358"/>
          </a:xfrm>
          <a:prstGeom prst="rect">
            <a:avLst/>
          </a:prstGeom>
          <a:noFill/>
          <a:ln/>
        </p:spPr>
        <p:txBody>
          <a:bodyPr wrap="square" lIns="0" tIns="0" rIns="0" bIns="0" rtlCol="0" anchor="ctr"/>
          <a:lstStyle/>
          <a:p>
            <a:pPr algn="ctr" indent="0" marL="0">
              <a:buNone/>
            </a:pPr>
            <a:r>
              <a:rPr lang="en-US" sz="2200" b="1" dirty="0">
                <a:solidFill>
                  <a:srgbClr val="14213D"/>
                </a:solidFill>
                <a:latin typeface="Cambria" pitchFamily="34" charset="0"/>
                <a:ea typeface="Cambria" pitchFamily="34" charset="-122"/>
                <a:cs typeface="Cambria" pitchFamily="34" charset="-120"/>
              </a:rPr>
              <a:t>−0.3 pts</a:t>
            </a:r>
            <a:endParaRPr lang="en-US" sz="2200" dirty="0"/>
          </a:p>
        </p:txBody>
      </p:sp>
      <p:sp>
        <p:nvSpPr>
          <p:cNvPr id="15" name="Text 13"/>
          <p:cNvSpPr txBox="1"/>
          <p:nvPr/>
        </p:nvSpPr>
        <p:spPr>
          <a:xfrm>
            <a:off x="7543800" y="2962656"/>
            <a:ext cx="109728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success vs reference,</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300 paired episodes</a:t>
            </a:r>
            <a:endParaRPr lang="en-US" sz="1000" dirty="0"/>
          </a:p>
        </p:txBody>
      </p:sp>
      <p:sp>
        <p:nvSpPr>
          <p:cNvPr id="16" name="Text 14"/>
          <p:cNvSpPr txBox="1"/>
          <p:nvPr/>
        </p:nvSpPr>
        <p:spPr>
          <a:xfrm>
            <a:off x="5943600" y="3520440"/>
            <a:ext cx="2926080" cy="274320"/>
          </a:xfrm>
          <a:prstGeom prst="rect">
            <a:avLst/>
          </a:prstGeom>
          <a:noFill/>
          <a:ln/>
        </p:spPr>
        <p:txBody>
          <a:bodyPr wrap="square" lIns="0" tIns="0" rIns="0" bIns="0" rtlCol="0" anchor="ctr"/>
          <a:lstStyle/>
          <a:p>
            <a:pPr indent="0" marL="0">
              <a:buNone/>
            </a:pPr>
            <a:r>
              <a:rPr lang="en-US" sz="1000" i="1" dirty="0">
                <a:solidFill>
                  <a:srgbClr val="5A5A5A"/>
                </a:solidFill>
                <a:latin typeface="Calibri" pitchFamily="34" charset="0"/>
                <a:ea typeface="Calibri" pitchFamily="34" charset="-122"/>
                <a:cs typeface="Calibri" pitchFamily="34" charset="-120"/>
              </a:rPr>
              <a:t>Medians of end-to-end planning latency; 95% CI of the speed-up 13.0–13.5×</a:t>
            </a:r>
            <a:endParaRPr lang="en-US" sz="1000" dirty="0"/>
          </a:p>
        </p:txBody>
      </p:sp>
      <p:sp>
        <p:nvSpPr>
          <p:cNvPr id="18" name="Text 15"/>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Motivation</a:t>
            </a:r>
            <a:endParaRPr lang="en-US" sz="2800" dirty="0"/>
          </a:p>
        </p:txBody>
      </p:sp>
      <p:sp>
        <p:nvSpPr>
          <p:cNvPr id="3" name="Text 1"/>
          <p:cNvSpPr txBox="1"/>
          <p:nvPr/>
        </p:nvSpPr>
        <p:spPr>
          <a:xfrm>
            <a:off x="457200" y="1051560"/>
            <a:ext cx="4937760" cy="35661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A world model predicts future states; a planner evaluates many candidate action sequences with it and executes the best.</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A controller must finish each plan within its control period: 100 ms at 10 Hz, 50 ms at 20 Hz, for sensing, planning and acting together.</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LeWM made world-model planning cheap by shrinking the model to 15M parameters. Its released planner still takes 622 ms per plan.</a:t>
            </a:r>
            <a:endParaRPr lang="en-US" sz="1400" dirty="0"/>
          </a:p>
          <a:p>
            <a:pPr marL="177800" indent="-177800">
              <a:spcAft>
                <a:spcPts val="700"/>
              </a:spcAft>
              <a:buSzPct val="100000"/>
              <a:buChar char="•"/>
            </a:pPr>
            <a:r>
              <a:rPr lang="en-US" sz="1400" dirty="0">
                <a:solidFill>
                  <a:srgbClr val="1B1B1B"/>
                </a:solidFill>
                <a:latin typeface="Calibri" pitchFamily="34" charset="0"/>
                <a:ea typeface="Calibri" pitchFamily="34" charset="-122"/>
                <a:cs typeface="Calibri" pitchFamily="34" charset="-120"/>
              </a:rPr>
              <a:t>The arithmetic content of a plan corresponds to milliseconds of GPU time; the remaining latency is not attributable to computation.</a:t>
            </a:r>
            <a:endParaRPr lang="en-US" sz="1400" dirty="0"/>
          </a:p>
        </p:txBody>
      </p:sp>
      <p:sp>
        <p:nvSpPr>
          <p:cNvPr id="4" name="Shape 2"/>
          <p:cNvSpPr/>
          <p:nvPr/>
        </p:nvSpPr>
        <p:spPr>
          <a:xfrm>
            <a:off x="5760720" y="1097280"/>
            <a:ext cx="1417320" cy="1005840"/>
          </a:xfrm>
          <a:prstGeom prst="roundRect">
            <a:avLst>
              <a:gd name="adj" fmla="val 7273"/>
            </a:avLst>
          </a:prstGeom>
          <a:solidFill>
            <a:srgbClr val="F3F4F6"/>
          </a:solidFill>
          <a:ln w="12700">
            <a:solidFill>
              <a:srgbClr val="F3F4F6"/>
            </a:solidFill>
            <a:prstDash val="solid"/>
          </a:ln>
        </p:spPr>
      </p:sp>
      <p:sp>
        <p:nvSpPr>
          <p:cNvPr id="5" name="Text 3"/>
          <p:cNvSpPr txBox="1"/>
          <p:nvPr/>
        </p:nvSpPr>
        <p:spPr>
          <a:xfrm>
            <a:off x="5897880" y="1188720"/>
            <a:ext cx="1143000" cy="553212"/>
          </a:xfrm>
          <a:prstGeom prst="rect">
            <a:avLst/>
          </a:prstGeom>
          <a:noFill/>
          <a:ln/>
        </p:spPr>
        <p:txBody>
          <a:bodyPr wrap="square" lIns="0" tIns="0" rIns="0" bIns="0" rtlCol="0" anchor="ctr"/>
          <a:lstStyle/>
          <a:p>
            <a:pPr algn="ctr" indent="0" marL="0">
              <a:buNone/>
            </a:pPr>
            <a:r>
              <a:rPr lang="en-US" sz="3000" b="1" dirty="0">
                <a:solidFill>
                  <a:srgbClr val="14213D"/>
                </a:solidFill>
                <a:latin typeface="Cambria" pitchFamily="34" charset="0"/>
                <a:ea typeface="Cambria" pitchFamily="34" charset="-122"/>
                <a:cs typeface="Cambria" pitchFamily="34" charset="-120"/>
              </a:rPr>
              <a:t>15M</a:t>
            </a:r>
            <a:endParaRPr lang="en-US" sz="3000" dirty="0"/>
          </a:p>
        </p:txBody>
      </p:sp>
      <p:sp>
        <p:nvSpPr>
          <p:cNvPr id="6" name="Text 4"/>
          <p:cNvSpPr txBox="1"/>
          <p:nvPr/>
        </p:nvSpPr>
        <p:spPr>
          <a:xfrm>
            <a:off x="5897880" y="1700784"/>
            <a:ext cx="11430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parameters in</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the whole model</a:t>
            </a:r>
            <a:endParaRPr lang="en-US" sz="1000" dirty="0"/>
          </a:p>
        </p:txBody>
      </p:sp>
      <p:sp>
        <p:nvSpPr>
          <p:cNvPr id="7" name="Shape 5"/>
          <p:cNvSpPr/>
          <p:nvPr/>
        </p:nvSpPr>
        <p:spPr>
          <a:xfrm>
            <a:off x="7315200" y="1097280"/>
            <a:ext cx="1417320" cy="1005840"/>
          </a:xfrm>
          <a:prstGeom prst="roundRect">
            <a:avLst>
              <a:gd name="adj" fmla="val 7273"/>
            </a:avLst>
          </a:prstGeom>
          <a:solidFill>
            <a:srgbClr val="F3F4F6"/>
          </a:solidFill>
          <a:ln w="12700">
            <a:solidFill>
              <a:srgbClr val="F3F4F6"/>
            </a:solidFill>
            <a:prstDash val="solid"/>
          </a:ln>
        </p:spPr>
      </p:sp>
      <p:sp>
        <p:nvSpPr>
          <p:cNvPr id="8" name="Text 6"/>
          <p:cNvSpPr txBox="1"/>
          <p:nvPr/>
        </p:nvSpPr>
        <p:spPr>
          <a:xfrm>
            <a:off x="7452360" y="1188720"/>
            <a:ext cx="1143000" cy="553212"/>
          </a:xfrm>
          <a:prstGeom prst="rect">
            <a:avLst/>
          </a:prstGeom>
          <a:noFill/>
          <a:ln/>
        </p:spPr>
        <p:txBody>
          <a:bodyPr wrap="square" lIns="0" tIns="0" rIns="0" bIns="0" rtlCol="0" anchor="ctr"/>
          <a:lstStyle/>
          <a:p>
            <a:pPr algn="ctr" indent="0" marL="0">
              <a:buNone/>
            </a:pPr>
            <a:r>
              <a:rPr lang="en-US" sz="3000" b="1" dirty="0">
                <a:solidFill>
                  <a:srgbClr val="14213D"/>
                </a:solidFill>
                <a:latin typeface="Cambria" pitchFamily="34" charset="0"/>
                <a:ea typeface="Cambria" pitchFamily="34" charset="-122"/>
                <a:cs typeface="Cambria" pitchFamily="34" charset="-120"/>
              </a:rPr>
              <a:t>9,000</a:t>
            </a:r>
            <a:endParaRPr lang="en-US" sz="3000" dirty="0"/>
          </a:p>
        </p:txBody>
      </p:sp>
      <p:sp>
        <p:nvSpPr>
          <p:cNvPr id="9" name="Text 7"/>
          <p:cNvSpPr txBox="1"/>
          <p:nvPr/>
        </p:nvSpPr>
        <p:spPr>
          <a:xfrm>
            <a:off x="7452360" y="1700784"/>
            <a:ext cx="11430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rollouts per</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reference plan</a:t>
            </a:r>
            <a:endParaRPr lang="en-US" sz="1000" dirty="0"/>
          </a:p>
        </p:txBody>
      </p:sp>
      <p:sp>
        <p:nvSpPr>
          <p:cNvPr id="10" name="Shape 8"/>
          <p:cNvSpPr/>
          <p:nvPr/>
        </p:nvSpPr>
        <p:spPr>
          <a:xfrm>
            <a:off x="5760720" y="2286000"/>
            <a:ext cx="1417320" cy="1005840"/>
          </a:xfrm>
          <a:prstGeom prst="roundRect">
            <a:avLst>
              <a:gd name="adj" fmla="val 7273"/>
            </a:avLst>
          </a:prstGeom>
          <a:solidFill>
            <a:srgbClr val="F3F4F6"/>
          </a:solidFill>
          <a:ln w="12700">
            <a:solidFill>
              <a:srgbClr val="F3F4F6"/>
            </a:solidFill>
            <a:prstDash val="solid"/>
          </a:ln>
        </p:spPr>
      </p:sp>
      <p:sp>
        <p:nvSpPr>
          <p:cNvPr id="11" name="Text 9"/>
          <p:cNvSpPr txBox="1"/>
          <p:nvPr/>
        </p:nvSpPr>
        <p:spPr>
          <a:xfrm>
            <a:off x="5897880" y="2377440"/>
            <a:ext cx="1143000" cy="553212"/>
          </a:xfrm>
          <a:prstGeom prst="rect">
            <a:avLst/>
          </a:prstGeom>
          <a:noFill/>
          <a:ln/>
        </p:spPr>
        <p:txBody>
          <a:bodyPr wrap="square" lIns="0" tIns="0" rIns="0" bIns="0" rtlCol="0" anchor="ctr"/>
          <a:lstStyle/>
          <a:p>
            <a:pPr algn="ctr" indent="0" marL="0">
              <a:buNone/>
            </a:pPr>
            <a:r>
              <a:rPr lang="en-US" sz="3000" b="1" dirty="0">
                <a:solidFill>
                  <a:srgbClr val="14213D"/>
                </a:solidFill>
                <a:latin typeface="Cambria" pitchFamily="34" charset="0"/>
                <a:ea typeface="Cambria" pitchFamily="34" charset="-122"/>
                <a:cs typeface="Cambria" pitchFamily="34" charset="-120"/>
              </a:rPr>
              <a:t>900</a:t>
            </a:r>
            <a:endParaRPr lang="en-US" sz="3000" dirty="0"/>
          </a:p>
        </p:txBody>
      </p:sp>
      <p:sp>
        <p:nvSpPr>
          <p:cNvPr id="12" name="Text 10"/>
          <p:cNvSpPr txBox="1"/>
          <p:nvPr/>
        </p:nvSpPr>
        <p:spPr>
          <a:xfrm>
            <a:off x="5897880" y="2889504"/>
            <a:ext cx="11430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dependent layer</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evaluations per plan</a:t>
            </a:r>
            <a:endParaRPr lang="en-US" sz="1000" dirty="0"/>
          </a:p>
        </p:txBody>
      </p:sp>
      <p:sp>
        <p:nvSpPr>
          <p:cNvPr id="13" name="Shape 11"/>
          <p:cNvSpPr/>
          <p:nvPr/>
        </p:nvSpPr>
        <p:spPr>
          <a:xfrm>
            <a:off x="7315200" y="2286000"/>
            <a:ext cx="1417320" cy="1005840"/>
          </a:xfrm>
          <a:prstGeom prst="roundRect">
            <a:avLst>
              <a:gd name="adj" fmla="val 7273"/>
            </a:avLst>
          </a:prstGeom>
          <a:solidFill>
            <a:srgbClr val="F3F4F6"/>
          </a:solidFill>
          <a:ln w="12700">
            <a:solidFill>
              <a:srgbClr val="F3F4F6"/>
            </a:solidFill>
            <a:prstDash val="solid"/>
          </a:ln>
        </p:spPr>
      </p:sp>
      <p:sp>
        <p:nvSpPr>
          <p:cNvPr id="14" name="Text 12"/>
          <p:cNvSpPr txBox="1"/>
          <p:nvPr/>
        </p:nvSpPr>
        <p:spPr>
          <a:xfrm>
            <a:off x="7452360" y="2377440"/>
            <a:ext cx="1143000" cy="553212"/>
          </a:xfrm>
          <a:prstGeom prst="rect">
            <a:avLst/>
          </a:prstGeom>
          <a:noFill/>
          <a:ln/>
        </p:spPr>
        <p:txBody>
          <a:bodyPr wrap="square" lIns="0" tIns="0" rIns="0" bIns="0" rtlCol="0" anchor="ctr"/>
          <a:lstStyle/>
          <a:p>
            <a:pPr algn="ctr" indent="0" marL="0">
              <a:buNone/>
            </a:pPr>
            <a:r>
              <a:rPr lang="en-US" sz="2400" b="1" dirty="0">
                <a:solidFill>
                  <a:srgbClr val="14213D"/>
                </a:solidFill>
                <a:latin typeface="Cambria" pitchFamily="34" charset="0"/>
                <a:ea typeface="Cambria" pitchFamily="34" charset="-122"/>
                <a:cs typeface="Cambria" pitchFamily="34" charset="-120"/>
              </a:rPr>
              <a:t>16–53 s</a:t>
            </a:r>
            <a:endParaRPr lang="en-US" sz="2400" dirty="0"/>
          </a:p>
        </p:txBody>
      </p:sp>
      <p:sp>
        <p:nvSpPr>
          <p:cNvPr id="15" name="Text 13"/>
          <p:cNvSpPr txBox="1"/>
          <p:nvPr/>
        </p:nvSpPr>
        <p:spPr>
          <a:xfrm>
            <a:off x="7452360" y="2889504"/>
            <a:ext cx="11430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per plan for larger</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world models</a:t>
            </a:r>
            <a:endParaRPr lang="en-US" sz="1000" dirty="0"/>
          </a:p>
        </p:txBody>
      </p:sp>
      <p:sp>
        <p:nvSpPr>
          <p:cNvPr id="17" name="Text 14"/>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Aim and objectives</a:t>
            </a:r>
            <a:endParaRPr lang="en-US" sz="2800" dirty="0"/>
          </a:p>
        </p:txBody>
      </p:sp>
      <p:sp>
        <p:nvSpPr>
          <p:cNvPr id="3" name="Shape 1"/>
          <p:cNvSpPr/>
          <p:nvPr/>
        </p:nvSpPr>
        <p:spPr>
          <a:xfrm>
            <a:off x="457200" y="1051560"/>
            <a:ext cx="822960" cy="594360"/>
          </a:xfrm>
          <a:prstGeom prst="roundRect">
            <a:avLst>
              <a:gd name="adj" fmla="val 12308"/>
            </a:avLst>
          </a:prstGeom>
          <a:solidFill>
            <a:srgbClr val="14213D"/>
          </a:solidFill>
          <a:ln w="12700">
            <a:solidFill>
              <a:srgbClr val="14213D"/>
            </a:solidFill>
            <a:prstDash val="solid"/>
          </a:ln>
        </p:spPr>
      </p:sp>
      <p:sp>
        <p:nvSpPr>
          <p:cNvPr id="4" name="Text 2"/>
          <p:cNvSpPr txBox="1"/>
          <p:nvPr/>
        </p:nvSpPr>
        <p:spPr>
          <a:xfrm>
            <a:off x="457200" y="1051560"/>
            <a:ext cx="8229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O1</a:t>
            </a:r>
            <a:endParaRPr lang="en-US" sz="1600" dirty="0"/>
          </a:p>
        </p:txBody>
      </p:sp>
      <p:sp>
        <p:nvSpPr>
          <p:cNvPr id="5" name="Text 3"/>
          <p:cNvSpPr txBox="1"/>
          <p:nvPr/>
        </p:nvSpPr>
        <p:spPr>
          <a:xfrm>
            <a:off x="1463040" y="1051560"/>
            <a:ext cx="7223760" cy="594360"/>
          </a:xfrm>
          <a:prstGeom prst="rect">
            <a:avLst/>
          </a:prstGeom>
          <a:noFill/>
          <a:ln/>
        </p:spPr>
        <p:txBody>
          <a:bodyPr wrap="square" lIns="0" tIns="0" rIns="0" bIns="0" rtlCol="0" anchor="ctr"/>
          <a:lstStyle/>
          <a:p>
            <a:pPr indent="0" marL="0">
              <a:buNone/>
            </a:pPr>
            <a:r>
              <a:rPr lang="en-US" sz="1350" dirty="0">
                <a:solidFill>
                  <a:srgbClr val="1B1B1B"/>
                </a:solidFill>
                <a:latin typeface="Calibri" pitchFamily="34" charset="0"/>
                <a:ea typeface="Calibri" pitchFamily="34" charset="-122"/>
                <a:cs typeface="Calibri" pitchFamily="34" charset="-120"/>
              </a:rPr>
              <a:t>Profile: build a stage-by-stage compute profile of the reference planner from measured data, and identify the bottleneck.</a:t>
            </a:r>
            <a:endParaRPr lang="en-US" sz="1350" dirty="0"/>
          </a:p>
        </p:txBody>
      </p:sp>
      <p:sp>
        <p:nvSpPr>
          <p:cNvPr id="6" name="Shape 4"/>
          <p:cNvSpPr/>
          <p:nvPr/>
        </p:nvSpPr>
        <p:spPr>
          <a:xfrm>
            <a:off x="457200" y="1828800"/>
            <a:ext cx="822960" cy="594360"/>
          </a:xfrm>
          <a:prstGeom prst="roundRect">
            <a:avLst>
              <a:gd name="adj" fmla="val 12308"/>
            </a:avLst>
          </a:prstGeom>
          <a:solidFill>
            <a:srgbClr val="14213D"/>
          </a:solidFill>
          <a:ln w="12700">
            <a:solidFill>
              <a:srgbClr val="14213D"/>
            </a:solidFill>
            <a:prstDash val="solid"/>
          </a:ln>
        </p:spPr>
      </p:sp>
      <p:sp>
        <p:nvSpPr>
          <p:cNvPr id="7" name="Text 5"/>
          <p:cNvSpPr txBox="1"/>
          <p:nvPr/>
        </p:nvSpPr>
        <p:spPr>
          <a:xfrm>
            <a:off x="457200" y="1828800"/>
            <a:ext cx="8229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O2</a:t>
            </a:r>
            <a:endParaRPr lang="en-US" sz="1600" dirty="0"/>
          </a:p>
        </p:txBody>
      </p:sp>
      <p:sp>
        <p:nvSpPr>
          <p:cNvPr id="8" name="Text 6"/>
          <p:cNvSpPr txBox="1"/>
          <p:nvPr/>
        </p:nvSpPr>
        <p:spPr>
          <a:xfrm>
            <a:off x="1463040" y="1828800"/>
            <a:ext cx="7223760" cy="594360"/>
          </a:xfrm>
          <a:prstGeom prst="rect">
            <a:avLst/>
          </a:prstGeom>
          <a:noFill/>
          <a:ln/>
        </p:spPr>
        <p:txBody>
          <a:bodyPr wrap="square" lIns="0" tIns="0" rIns="0" bIns="0" rtlCol="0" anchor="ctr"/>
          <a:lstStyle/>
          <a:p>
            <a:pPr indent="0" marL="0">
              <a:buNone/>
            </a:pPr>
            <a:r>
              <a:rPr lang="en-US" sz="1350" dirty="0">
                <a:solidFill>
                  <a:srgbClr val="1B1B1B"/>
                </a:solidFill>
                <a:latin typeface="Calibri" pitchFamily="34" charset="0"/>
                <a:ea typeface="Calibri" pitchFamily="34" charset="-122"/>
                <a:cs typeface="Calibri" pitchFamily="34" charset="-120"/>
              </a:rPr>
              <a:t>Design and implement: remove the bottlenecks without retraining the model or shrinking the planner's search budget.</a:t>
            </a:r>
            <a:endParaRPr lang="en-US" sz="1350" dirty="0"/>
          </a:p>
        </p:txBody>
      </p:sp>
      <p:sp>
        <p:nvSpPr>
          <p:cNvPr id="9" name="Shape 7"/>
          <p:cNvSpPr/>
          <p:nvPr/>
        </p:nvSpPr>
        <p:spPr>
          <a:xfrm>
            <a:off x="457200" y="2606040"/>
            <a:ext cx="822960" cy="594360"/>
          </a:xfrm>
          <a:prstGeom prst="roundRect">
            <a:avLst>
              <a:gd name="adj" fmla="val 12308"/>
            </a:avLst>
          </a:prstGeom>
          <a:solidFill>
            <a:srgbClr val="14213D"/>
          </a:solidFill>
          <a:ln w="12700">
            <a:solidFill>
              <a:srgbClr val="14213D"/>
            </a:solidFill>
            <a:prstDash val="solid"/>
          </a:ln>
        </p:spPr>
      </p:sp>
      <p:sp>
        <p:nvSpPr>
          <p:cNvPr id="10" name="Text 8"/>
          <p:cNvSpPr txBox="1"/>
          <p:nvPr/>
        </p:nvSpPr>
        <p:spPr>
          <a:xfrm>
            <a:off x="457200" y="2606040"/>
            <a:ext cx="8229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O3</a:t>
            </a:r>
            <a:endParaRPr lang="en-US" sz="1600" dirty="0"/>
          </a:p>
        </p:txBody>
      </p:sp>
      <p:sp>
        <p:nvSpPr>
          <p:cNvPr id="11" name="Text 9"/>
          <p:cNvSpPr txBox="1"/>
          <p:nvPr/>
        </p:nvSpPr>
        <p:spPr>
          <a:xfrm>
            <a:off x="1463040" y="2606040"/>
            <a:ext cx="7223760" cy="594360"/>
          </a:xfrm>
          <a:prstGeom prst="rect">
            <a:avLst/>
          </a:prstGeom>
          <a:noFill/>
          <a:ln/>
        </p:spPr>
        <p:txBody>
          <a:bodyPr wrap="square" lIns="0" tIns="0" rIns="0" bIns="0" rtlCol="0" anchor="ctr"/>
          <a:lstStyle/>
          <a:p>
            <a:pPr indent="0" marL="0">
              <a:buNone/>
            </a:pPr>
            <a:r>
              <a:rPr lang="en-US" sz="1350" dirty="0">
                <a:solidFill>
                  <a:srgbClr val="1B1B1B"/>
                </a:solidFill>
                <a:latin typeface="Calibri" pitchFamily="34" charset="0"/>
                <a:ea typeface="Calibri" pitchFamily="34" charset="-122"/>
                <a:cs typeface="Calibri" pitchFamily="34" charset="-120"/>
              </a:rPr>
              <a:t>Evaluate: latency and task success against the reference and a strong optimised baseline, on the same GPU, with paired tests.</a:t>
            </a:r>
            <a:endParaRPr lang="en-US" sz="1350" dirty="0"/>
          </a:p>
        </p:txBody>
      </p:sp>
      <p:sp>
        <p:nvSpPr>
          <p:cNvPr id="12" name="Shape 10"/>
          <p:cNvSpPr/>
          <p:nvPr/>
        </p:nvSpPr>
        <p:spPr>
          <a:xfrm>
            <a:off x="457200" y="3383280"/>
            <a:ext cx="822960" cy="594360"/>
          </a:xfrm>
          <a:prstGeom prst="roundRect">
            <a:avLst>
              <a:gd name="adj" fmla="val 12308"/>
            </a:avLst>
          </a:prstGeom>
          <a:solidFill>
            <a:srgbClr val="14213D"/>
          </a:solidFill>
          <a:ln w="12700">
            <a:solidFill>
              <a:srgbClr val="14213D"/>
            </a:solidFill>
            <a:prstDash val="solid"/>
          </a:ln>
        </p:spPr>
      </p:sp>
      <p:sp>
        <p:nvSpPr>
          <p:cNvPr id="13" name="Text 11"/>
          <p:cNvSpPr txBox="1"/>
          <p:nvPr/>
        </p:nvSpPr>
        <p:spPr>
          <a:xfrm>
            <a:off x="457200" y="3383280"/>
            <a:ext cx="822960" cy="5943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O4</a:t>
            </a:r>
            <a:endParaRPr lang="en-US" sz="1600" dirty="0"/>
          </a:p>
        </p:txBody>
      </p:sp>
      <p:sp>
        <p:nvSpPr>
          <p:cNvPr id="14" name="Text 12"/>
          <p:cNvSpPr txBox="1"/>
          <p:nvPr/>
        </p:nvSpPr>
        <p:spPr>
          <a:xfrm>
            <a:off x="1463040" y="3383280"/>
            <a:ext cx="7223760" cy="594360"/>
          </a:xfrm>
          <a:prstGeom prst="rect">
            <a:avLst/>
          </a:prstGeom>
          <a:noFill/>
          <a:ln/>
        </p:spPr>
        <p:txBody>
          <a:bodyPr wrap="square" lIns="0" tIns="0" rIns="0" bIns="0" rtlCol="0" anchor="ctr"/>
          <a:lstStyle/>
          <a:p>
            <a:pPr indent="0" marL="0">
              <a:buNone/>
            </a:pPr>
            <a:r>
              <a:rPr lang="en-US" sz="1350" dirty="0">
                <a:solidFill>
                  <a:srgbClr val="1B1B1B"/>
                </a:solidFill>
                <a:latin typeface="Calibri" pitchFamily="34" charset="0"/>
                <a:ea typeface="Calibri" pitchFamily="34" charset="-122"/>
                <a:cs typeface="Calibri" pitchFamily="34" charset="-120"/>
              </a:rPr>
              <a:t>Deploy: a planner that plugs into the existing harness, and one program that regenerates every result from the data.</a:t>
            </a:r>
            <a:endParaRPr lang="en-US" sz="1350" dirty="0"/>
          </a:p>
        </p:txBody>
      </p:sp>
      <p:sp>
        <p:nvSpPr>
          <p:cNvPr id="15" name="Text 13"/>
          <p:cNvSpPr txBox="1"/>
          <p:nvPr/>
        </p:nvSpPr>
        <p:spPr>
          <a:xfrm>
            <a:off x="457200" y="4206240"/>
            <a:ext cx="8229600" cy="640080"/>
          </a:xfrm>
          <a:prstGeom prst="rect">
            <a:avLst/>
          </a:prstGeom>
          <a:noFill/>
          <a:ln/>
        </p:spPr>
        <p:txBody>
          <a:bodyPr wrap="square" lIns="0" tIns="0" rIns="0" bIns="0" rtlCol="0" anchor="t"/>
          <a:lstStyle/>
          <a:p>
            <a:pPr indent="0" marL="0">
              <a:buNone/>
            </a:pPr>
            <a:r>
              <a:rPr lang="en-US" sz="1150" b="1" dirty="0">
                <a:solidFill>
                  <a:srgbClr val="14213D"/>
                </a:solidFill>
                <a:latin typeface="Calibri" pitchFamily="34" charset="0"/>
                <a:ea typeface="Calibri" pitchFamily="34" charset="-122"/>
                <a:cs typeface="Calibri" pitchFamily="34" charset="-120"/>
              </a:rPr>
              <a:t>Data analytics and AI. </a:t>
            </a:r>
            <a:pPr indent="0" marL="0">
              <a:buNone/>
            </a:pPr>
            <a:r>
              <a:rPr lang="en-US" sz="1150" dirty="0">
                <a:solidFill>
                  <a:srgbClr val="1B1B1B"/>
                </a:solidFill>
                <a:latin typeface="Calibri" pitchFamily="34" charset="0"/>
                <a:ea typeface="Calibri" pitchFamily="34" charset="-122"/>
                <a:cs typeface="Calibri" pitchFamily="34" charset="-120"/>
              </a:rPr>
              <a:t>The object is an AI system (a self-supervised world model and its search algorithm); the method is an analytics pipeline over its measured behaviour: collection, preparation, pattern discovery with a fitted latency model, statistical evaluation and deployment.</a:t>
            </a:r>
            <a:endParaRPr lang="en-US" sz="1150" dirty="0"/>
          </a:p>
        </p:txBody>
      </p:sp>
      <p:sp>
        <p:nvSpPr>
          <p:cNvPr id="17" name="Text 14"/>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Background: JEPA world models</a:t>
            </a:r>
            <a:endParaRPr lang="en-US" sz="2800" dirty="0"/>
          </a:p>
        </p:txBody>
      </p:sp>
      <p:sp>
        <p:nvSpPr>
          <p:cNvPr id="3" name="Shape 1"/>
          <p:cNvSpPr/>
          <p:nvPr/>
        </p:nvSpPr>
        <p:spPr>
          <a:xfrm>
            <a:off x="457200" y="1005840"/>
            <a:ext cx="5120640" cy="3017520"/>
          </a:xfrm>
          <a:prstGeom prst="rect">
            <a:avLst/>
          </a:prstGeom>
          <a:solidFill>
            <a:srgbClr val="000000"/>
          </a:solidFill>
          <a:ln w="12700">
            <a:solidFill>
              <a:srgbClr val="000000"/>
            </a:solidFill>
            <a:prstDash val="solid"/>
          </a:ln>
        </p:spPr>
      </p:sp>
      <p:pic>
        <p:nvPicPr>
          <p:cNvPr id="4" name="Image 0" descr="preencoded.png">    </p:cNvPr>
          <p:cNvPicPr>
            <a:picLocks noChangeAspect="1"/>
          </p:cNvPicPr>
          <p:nvPr/>
        </p:nvPicPr>
        <p:blipFill>
          <a:blip r:embed="rId1"/>
          <a:stretch>
            <a:fillRect/>
          </a:stretch>
        </p:blipFill>
        <p:spPr>
          <a:xfrm>
            <a:off x="544515" y="1005840"/>
            <a:ext cx="4946010" cy="3017520"/>
          </a:xfrm>
          <a:prstGeom prst="rect">
            <a:avLst/>
          </a:prstGeom>
        </p:spPr>
      </p:pic>
      <p:sp>
        <p:nvSpPr>
          <p:cNvPr id="5" name="Text 2"/>
          <p:cNvSpPr txBox="1"/>
          <p:nvPr/>
        </p:nvSpPr>
        <p:spPr>
          <a:xfrm>
            <a:off x="457200" y="4096512"/>
            <a:ext cx="5120640" cy="274320"/>
          </a:xfrm>
          <a:prstGeom prst="rect">
            <a:avLst/>
          </a:prstGeom>
          <a:noFill/>
          <a:ln/>
        </p:spPr>
        <p:txBody>
          <a:bodyPr wrap="square" lIns="0" tIns="0" rIns="0" bIns="0" rtlCol="0" anchor="ctr"/>
          <a:lstStyle/>
          <a:p>
            <a:pPr indent="0" marL="0">
              <a:buNone/>
            </a:pPr>
            <a:r>
              <a:rPr lang="en-US" sz="950" i="1" dirty="0">
                <a:solidFill>
                  <a:srgbClr val="5A5A5A"/>
                </a:solidFill>
                <a:latin typeface="Calibri" pitchFamily="34" charset="0"/>
                <a:ea typeface="Calibri" pitchFamily="34" charset="-122"/>
                <a:cs typeface="Calibri" pitchFamily="34" charset="-120"/>
              </a:rPr>
              <a:t>Joint-embedding predictive architecture (V-JEPA 2-AC): the predictor is trained to predict the next frame's embedding from past frames and actions. Image source: [add attribution].</a:t>
            </a:r>
            <a:endParaRPr lang="en-US" sz="950" dirty="0"/>
          </a:p>
        </p:txBody>
      </p:sp>
      <p:sp>
        <p:nvSpPr>
          <p:cNvPr id="6" name="Text 3"/>
          <p:cNvSpPr txBox="1"/>
          <p:nvPr/>
        </p:nvSpPr>
        <p:spPr>
          <a:xfrm>
            <a:off x="5852160" y="1051560"/>
            <a:ext cx="2926080" cy="3657600"/>
          </a:xfrm>
          <a:prstGeom prst="rect">
            <a:avLst/>
          </a:prstGeom>
          <a:noFill/>
          <a:ln/>
        </p:spPr>
        <p:txBody>
          <a:bodyPr wrap="square" lIns="0" tIns="0" rIns="0" bIns="0" rtlCol="0" anchor="t"/>
          <a:lstStyle/>
          <a:p>
            <a:pPr marL="177800" indent="-177800">
              <a:spcAft>
                <a:spcPts val="700"/>
              </a:spcAft>
              <a:buSzPct val="100000"/>
              <a:buChar char="•"/>
            </a:pPr>
            <a:r>
              <a:rPr lang="en-US" sz="1200" dirty="0">
                <a:solidFill>
                  <a:srgbClr val="1B1B1B"/>
                </a:solidFill>
                <a:latin typeface="Calibri" pitchFamily="34" charset="0"/>
                <a:ea typeface="Calibri" pitchFamily="34" charset="-122"/>
                <a:cs typeface="Calibri" pitchFamily="34" charset="-120"/>
              </a:rPr>
              <a:t>A JEPA learns an encoder and a predictor; prediction error is measured in embedding space, not in pixels.</a:t>
            </a:r>
            <a:endParaRPr lang="en-US" sz="1200" dirty="0"/>
          </a:p>
          <a:p>
            <a:pPr marL="177800" indent="-177800">
              <a:spcAft>
                <a:spcPts val="700"/>
              </a:spcAft>
              <a:buSzPct val="100000"/>
              <a:buChar char="•"/>
            </a:pPr>
            <a:r>
              <a:rPr lang="en-US" sz="1200" dirty="0">
                <a:solidFill>
                  <a:srgbClr val="1B1B1B"/>
                </a:solidFill>
                <a:latin typeface="Calibri" pitchFamily="34" charset="0"/>
                <a:ea typeface="Calibri" pitchFamily="34" charset="-122"/>
                <a:cs typeface="Calibri" pitchFamily="34" charset="-120"/>
              </a:rPr>
              <a:t>Conditioning the predictor on actions yields a world model that can be used for planning.</a:t>
            </a:r>
            <a:endParaRPr lang="en-US" sz="1200" dirty="0"/>
          </a:p>
          <a:p>
            <a:pPr marL="177800" indent="-177800">
              <a:spcAft>
                <a:spcPts val="700"/>
              </a:spcAft>
              <a:buSzPct val="100000"/>
              <a:buChar char="•"/>
            </a:pPr>
            <a:r>
              <a:rPr lang="en-US" sz="1200" dirty="0">
                <a:solidFill>
                  <a:srgbClr val="1B1B1B"/>
                </a:solidFill>
                <a:latin typeface="Calibri" pitchFamily="34" charset="0"/>
                <a:ea typeface="Calibri" pitchFamily="34" charset="-122"/>
                <a:cs typeface="Calibri" pitchFamily="34" charset="-120"/>
              </a:rPr>
              <a:t>Lineage: I-JEPA, V-JEPA, DINO-WM, PLDM, V-JEPA 2-AC, LeWM.</a:t>
            </a:r>
            <a:endParaRPr lang="en-US" sz="1200" dirty="0"/>
          </a:p>
          <a:p>
            <a:pPr marL="177800" indent="-177800">
              <a:spcAft>
                <a:spcPts val="700"/>
              </a:spcAft>
              <a:buSzPct val="100000"/>
              <a:buChar char="•"/>
            </a:pPr>
            <a:r>
              <a:rPr lang="en-US" sz="1200" dirty="0">
                <a:solidFill>
                  <a:srgbClr val="1B1B1B"/>
                </a:solidFill>
                <a:latin typeface="Calibri" pitchFamily="34" charset="0"/>
                <a:ea typeface="Calibri" pitchFamily="34" charset="-122"/>
                <a:cs typeface="Calibri" pitchFamily="34" charset="-120"/>
              </a:rPr>
              <a:t>Reported planning latency: 53 s per call (DINO-WM), 16 s per action (V-JEPA 2-AC).</a:t>
            </a:r>
            <a:endParaRPr lang="en-US" sz="1200" dirty="0"/>
          </a:p>
        </p:txBody>
      </p:sp>
      <p:sp>
        <p:nvSpPr>
          <p:cNvPr id="8" name="Text 4"/>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Background: planning with LeWM</a:t>
            </a:r>
            <a:endParaRPr lang="en-US" sz="2800" dirty="0"/>
          </a:p>
        </p:txBody>
      </p:sp>
      <p:sp>
        <p:nvSpPr>
          <p:cNvPr id="3" name="Shape 1"/>
          <p:cNvSpPr/>
          <p:nvPr/>
        </p:nvSpPr>
        <p:spPr>
          <a:xfrm>
            <a:off x="457200" y="1005840"/>
            <a:ext cx="5120640" cy="3017520"/>
          </a:xfrm>
          <a:prstGeom prst="rect">
            <a:avLst/>
          </a:prstGeom>
          <a:solidFill>
            <a:srgbClr val="000000"/>
          </a:solidFill>
          <a:ln w="12700">
            <a:solidFill>
              <a:srgbClr val="000000"/>
            </a:solidFill>
            <a:prstDash val="solid"/>
          </a:ln>
        </p:spPr>
      </p:sp>
      <p:pic>
        <p:nvPicPr>
          <p:cNvPr id="4" name="Image 0" descr="preencoded.png">    </p:cNvPr>
          <p:cNvPicPr>
            <a:picLocks noChangeAspect="1"/>
          </p:cNvPicPr>
          <p:nvPr/>
        </p:nvPicPr>
        <p:blipFill>
          <a:blip r:embed="rId1"/>
          <a:stretch>
            <a:fillRect/>
          </a:stretch>
        </p:blipFill>
        <p:spPr>
          <a:xfrm>
            <a:off x="457200" y="1194755"/>
            <a:ext cx="5120640" cy="2639690"/>
          </a:xfrm>
          <a:prstGeom prst="rect">
            <a:avLst/>
          </a:prstGeom>
        </p:spPr>
      </p:pic>
      <p:sp>
        <p:nvSpPr>
          <p:cNvPr id="5" name="Text 2"/>
          <p:cNvSpPr txBox="1"/>
          <p:nvPr/>
        </p:nvSpPr>
        <p:spPr>
          <a:xfrm>
            <a:off x="457200" y="4096512"/>
            <a:ext cx="5120640" cy="274320"/>
          </a:xfrm>
          <a:prstGeom prst="rect">
            <a:avLst/>
          </a:prstGeom>
          <a:noFill/>
          <a:ln/>
        </p:spPr>
        <p:txBody>
          <a:bodyPr wrap="square" lIns="0" tIns="0" rIns="0" bIns="0" rtlCol="0" anchor="ctr"/>
          <a:lstStyle/>
          <a:p>
            <a:pPr indent="0" marL="0">
              <a:buNone/>
            </a:pPr>
            <a:r>
              <a:rPr lang="en-US" sz="950" i="1" dirty="0">
                <a:solidFill>
                  <a:srgbClr val="5A5A5A"/>
                </a:solidFill>
                <a:latin typeface="Calibri" pitchFamily="34" charset="0"/>
                <a:ea typeface="Calibri" pitchFamily="34" charset="-122"/>
                <a:cs typeface="Calibri" pitchFamily="34" charset="-120"/>
              </a:rPr>
              <a:t>Latent rollout: the encoder maps the start frame to an embedding; the predictor advances it one action at a time. The decoder is shown for visualisation only. Image source: [add attribution].</a:t>
            </a:r>
            <a:endParaRPr lang="en-US" sz="950" dirty="0"/>
          </a:p>
        </p:txBody>
      </p:sp>
      <p:sp>
        <p:nvSpPr>
          <p:cNvPr id="6" name="Text 3"/>
          <p:cNvSpPr txBox="1"/>
          <p:nvPr/>
        </p:nvSpPr>
        <p:spPr>
          <a:xfrm>
            <a:off x="5852160" y="1051560"/>
            <a:ext cx="2926080" cy="3657600"/>
          </a:xfrm>
          <a:prstGeom prst="rect">
            <a:avLst/>
          </a:prstGeom>
          <a:noFill/>
          <a:ln/>
        </p:spPr>
        <p:txBody>
          <a:bodyPr wrap="square" lIns="0" tIns="0" rIns="0" bIns="0" rtlCol="0" anchor="t"/>
          <a:lstStyle/>
          <a:p>
            <a:pPr marL="177800" indent="-177800">
              <a:spcAft>
                <a:spcPts val="700"/>
              </a:spcAft>
              <a:buSzPct val="100000"/>
              <a:buChar char="•"/>
            </a:pPr>
            <a:r>
              <a:rPr lang="en-US" sz="1200" dirty="0">
                <a:solidFill>
                  <a:srgbClr val="1B1B1B"/>
                </a:solidFill>
                <a:latin typeface="Calibri" pitchFamily="34" charset="0"/>
                <a:ea typeface="Calibri" pitchFamily="34" charset="-122"/>
                <a:cs typeface="Calibri" pitchFamily="34" charset="-120"/>
              </a:rPr>
              <a:t>LeWM: 15M parameters; ViT-tiny encoder; one 192-dimensional embedding per image.</a:t>
            </a:r>
            <a:endParaRPr lang="en-US" sz="1200" dirty="0"/>
          </a:p>
          <a:p>
            <a:pPr marL="177800" indent="-177800">
              <a:spcAft>
                <a:spcPts val="700"/>
              </a:spcAft>
              <a:buSzPct val="100000"/>
              <a:buChar char="•"/>
            </a:pPr>
            <a:r>
              <a:rPr lang="en-US" sz="1200" dirty="0">
                <a:solidFill>
                  <a:srgbClr val="1B1B1B"/>
                </a:solidFill>
                <a:latin typeface="Calibri" pitchFamily="34" charset="0"/>
                <a:ea typeface="Calibri" pitchFamily="34" charset="-122"/>
                <a:cs typeface="Calibri" pitchFamily="34" charset="-120"/>
              </a:rPr>
              <a:t>The predictor (6-layer transformer, AdaLN action conditioning) rolls a candidate forward 5 steps.</a:t>
            </a:r>
            <a:endParaRPr lang="en-US" sz="1200" dirty="0"/>
          </a:p>
          <a:p>
            <a:pPr marL="177800" indent="-177800">
              <a:spcAft>
                <a:spcPts val="700"/>
              </a:spcAft>
              <a:buSzPct val="100000"/>
              <a:buChar char="•"/>
            </a:pPr>
            <a:r>
              <a:rPr lang="en-US" sz="1200" dirty="0">
                <a:solidFill>
                  <a:srgbClr val="1B1B1B"/>
                </a:solidFill>
                <a:latin typeface="Calibri" pitchFamily="34" charset="0"/>
                <a:ea typeface="Calibri" pitchFamily="34" charset="-122"/>
                <a:cs typeface="Calibri" pitchFamily="34" charset="-120"/>
              </a:rPr>
              <a:t>Cost: distance between the final predicted embedding and the goal embedding.</a:t>
            </a:r>
            <a:endParaRPr lang="en-US" sz="1200" dirty="0"/>
          </a:p>
          <a:p>
            <a:pPr marL="177800" indent="-177800">
              <a:spcAft>
                <a:spcPts val="700"/>
              </a:spcAft>
              <a:buSzPct val="100000"/>
              <a:buChar char="•"/>
            </a:pPr>
            <a:r>
              <a:rPr lang="en-US" sz="1200" dirty="0">
                <a:solidFill>
                  <a:srgbClr val="1B1B1B"/>
                </a:solidFill>
                <a:latin typeface="Calibri" pitchFamily="34" charset="0"/>
                <a:ea typeface="Calibri" pitchFamily="34" charset="-122"/>
                <a:cs typeface="Calibri" pitchFamily="34" charset="-120"/>
              </a:rPr>
              <a:t>No decoding during planning; the search operates entirely in embedding space.</a:t>
            </a:r>
            <a:endParaRPr lang="en-US" sz="1200" dirty="0"/>
          </a:p>
        </p:txBody>
      </p:sp>
      <p:sp>
        <p:nvSpPr>
          <p:cNvPr id="8" name="Text 4"/>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Background: CEM and iCEM planning</a:t>
            </a:r>
            <a:endParaRPr lang="en-US" sz="2800" dirty="0"/>
          </a:p>
        </p:txBody>
      </p:sp>
      <p:sp>
        <p:nvSpPr>
          <p:cNvPr id="3" name="Shape 1"/>
          <p:cNvSpPr/>
          <p:nvPr/>
        </p:nvSpPr>
        <p:spPr>
          <a:xfrm>
            <a:off x="457200" y="1005840"/>
            <a:ext cx="5120640" cy="3017520"/>
          </a:xfrm>
          <a:prstGeom prst="rect">
            <a:avLst/>
          </a:prstGeom>
          <a:solidFill>
            <a:srgbClr val="000000"/>
          </a:solidFill>
          <a:ln w="12700">
            <a:solidFill>
              <a:srgbClr val="000000"/>
            </a:solidFill>
            <a:prstDash val="solid"/>
          </a:ln>
        </p:spPr>
      </p:sp>
      <p:pic>
        <p:nvPicPr>
          <p:cNvPr id="4" name="Image 0" descr="preencoded.png">    </p:cNvPr>
          <p:cNvPicPr>
            <a:picLocks noChangeAspect="1"/>
          </p:cNvPicPr>
          <p:nvPr/>
        </p:nvPicPr>
        <p:blipFill>
          <a:blip r:embed="rId1"/>
          <a:stretch>
            <a:fillRect/>
          </a:stretch>
        </p:blipFill>
        <p:spPr>
          <a:xfrm>
            <a:off x="1108535" y="1005840"/>
            <a:ext cx="3817969" cy="3017520"/>
          </a:xfrm>
          <a:prstGeom prst="rect">
            <a:avLst/>
          </a:prstGeom>
        </p:spPr>
      </p:pic>
      <p:sp>
        <p:nvSpPr>
          <p:cNvPr id="5" name="Text 2"/>
          <p:cNvSpPr txBox="1"/>
          <p:nvPr/>
        </p:nvSpPr>
        <p:spPr>
          <a:xfrm>
            <a:off x="457200" y="4096512"/>
            <a:ext cx="5120640" cy="274320"/>
          </a:xfrm>
          <a:prstGeom prst="rect">
            <a:avLst/>
          </a:prstGeom>
          <a:noFill/>
          <a:ln/>
        </p:spPr>
        <p:txBody>
          <a:bodyPr wrap="square" lIns="0" tIns="0" rIns="0" bIns="0" rtlCol="0" anchor="ctr"/>
          <a:lstStyle/>
          <a:p>
            <a:pPr indent="0" marL="0">
              <a:buNone/>
            </a:pPr>
            <a:r>
              <a:rPr lang="en-US" sz="950" i="1" dirty="0">
                <a:solidFill>
                  <a:srgbClr val="5A5A5A"/>
                </a:solidFill>
                <a:latin typeface="Calibri" pitchFamily="34" charset="0"/>
                <a:ea typeface="Calibri" pitchFamily="34" charset="-122"/>
                <a:cs typeface="Calibri" pitchFamily="34" charset="-120"/>
              </a:rPr>
              <a:t>Cross-entropy method: many candidate action trajectories are sampled from a Gaussian (magenta); the distribution is refitted to the best and resampled. Orange: the selected plan. Image source: [add attribution].</a:t>
            </a:r>
            <a:endParaRPr lang="en-US" sz="950" dirty="0"/>
          </a:p>
        </p:txBody>
      </p:sp>
      <p:sp>
        <p:nvSpPr>
          <p:cNvPr id="6" name="Text 3"/>
          <p:cNvSpPr txBox="1"/>
          <p:nvPr/>
        </p:nvSpPr>
        <p:spPr>
          <a:xfrm>
            <a:off x="5852160" y="1051560"/>
            <a:ext cx="2926080" cy="3657600"/>
          </a:xfrm>
          <a:prstGeom prst="rect">
            <a:avLst/>
          </a:prstGeom>
          <a:noFill/>
          <a:ln/>
        </p:spPr>
        <p:txBody>
          <a:bodyPr wrap="square" lIns="0" tIns="0" rIns="0" bIns="0" rtlCol="0" anchor="t"/>
          <a:lstStyle/>
          <a:p>
            <a:pPr marL="177800" indent="-177800">
              <a:spcAft>
                <a:spcPts val="700"/>
              </a:spcAft>
              <a:buSzPct val="100000"/>
              <a:buChar char="•"/>
            </a:pPr>
            <a:r>
              <a:rPr lang="en-US" sz="1200" dirty="0">
                <a:solidFill>
                  <a:srgbClr val="1B1B1B"/>
                </a:solidFill>
                <a:latin typeface="Calibri" pitchFamily="34" charset="0"/>
                <a:ea typeface="Calibri" pitchFamily="34" charset="-122"/>
                <a:cs typeface="Calibri" pitchFamily="34" charset="-120"/>
              </a:rPr>
              <a:t>CEM: sample candidates, score them, keep the top elites, refit the Gaussian, repeat.</a:t>
            </a:r>
            <a:endParaRPr lang="en-US" sz="1200" dirty="0"/>
          </a:p>
          <a:p>
            <a:pPr marL="177800" indent="-177800">
              <a:spcAft>
                <a:spcPts val="700"/>
              </a:spcAft>
              <a:buSzPct val="100000"/>
              <a:buChar char="•"/>
            </a:pPr>
            <a:r>
              <a:rPr lang="en-US" sz="1200" dirty="0">
                <a:solidFill>
                  <a:srgbClr val="1B1B1B"/>
                </a:solidFill>
                <a:latin typeface="Calibri" pitchFamily="34" charset="0"/>
                <a:ea typeface="Calibri" pitchFamily="34" charset="-122"/>
                <a:cs typeface="Calibri" pitchFamily="34" charset="-120"/>
              </a:rPr>
              <a:t>LeWM reference: 300 candidates × 30 iterations = 9,000 rollouts per plan.</a:t>
            </a:r>
            <a:endParaRPr lang="en-US" sz="1200" dirty="0"/>
          </a:p>
          <a:p>
            <a:pPr marL="177800" indent="-177800">
              <a:spcAft>
                <a:spcPts val="700"/>
              </a:spcAft>
              <a:buSzPct val="100000"/>
              <a:buChar char="•"/>
            </a:pPr>
            <a:r>
              <a:rPr lang="en-US" sz="1200" dirty="0">
                <a:solidFill>
                  <a:srgbClr val="1B1B1B"/>
                </a:solidFill>
                <a:latin typeface="Calibri" pitchFamily="34" charset="0"/>
                <a:ea typeface="Calibri" pitchFamily="34" charset="-122"/>
                <a:cs typeface="Calibri" pitchFamily="34" charset="-120"/>
              </a:rPr>
              <a:t>iCEM: shrinking population and elite reuse; 2.7–22× fewer samples (Pinneri et al., 2021).</a:t>
            </a:r>
            <a:endParaRPr lang="en-US" sz="1200" dirty="0"/>
          </a:p>
          <a:p>
            <a:pPr marL="177800" indent="-177800">
              <a:spcAft>
                <a:spcPts val="700"/>
              </a:spcAft>
              <a:buSzPct val="100000"/>
              <a:buChar char="•"/>
            </a:pPr>
            <a:r>
              <a:rPr lang="en-US" sz="1200" dirty="0">
                <a:solidFill>
                  <a:srgbClr val="1B1B1B"/>
                </a:solidFill>
                <a:latin typeface="Calibri" pitchFamily="34" charset="0"/>
                <a:ea typeface="Calibri" pitchFamily="34" charset="-122"/>
                <a:cs typeface="Calibri" pitchFamily="34" charset="-120"/>
              </a:rPr>
              <a:t>Fewer samples reduce latency only if per-iteration cost scales with sample count (Huang et al., 2021).</a:t>
            </a:r>
            <a:endParaRPr lang="en-US" sz="1200" dirty="0"/>
          </a:p>
        </p:txBody>
      </p:sp>
      <p:sp>
        <p:nvSpPr>
          <p:cNvPr id="8" name="Text 4"/>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Background: GPU inference at small batch</a:t>
            </a:r>
            <a:endParaRPr lang="en-US" sz="2800" dirty="0"/>
          </a:p>
        </p:txBody>
      </p:sp>
      <p:sp>
        <p:nvSpPr>
          <p:cNvPr id="3" name="Shape 1"/>
          <p:cNvSpPr/>
          <p:nvPr/>
        </p:nvSpPr>
        <p:spPr>
          <a:xfrm>
            <a:off x="457200" y="1051560"/>
            <a:ext cx="2651760" cy="2103120"/>
          </a:xfrm>
          <a:prstGeom prst="roundRect">
            <a:avLst>
              <a:gd name="adj" fmla="val 3478"/>
            </a:avLst>
          </a:prstGeom>
          <a:solidFill>
            <a:srgbClr val="F3F4F6"/>
          </a:solidFill>
          <a:ln w="12700">
            <a:solidFill>
              <a:srgbClr val="F3F4F6"/>
            </a:solidFill>
            <a:prstDash val="solid"/>
          </a:ln>
        </p:spPr>
      </p:sp>
      <p:sp>
        <p:nvSpPr>
          <p:cNvPr id="4" name="Text 2"/>
          <p:cNvSpPr txBox="1"/>
          <p:nvPr/>
        </p:nvSpPr>
        <p:spPr>
          <a:xfrm>
            <a:off x="621792" y="116128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Launch-bound execution</a:t>
            </a:r>
            <a:endParaRPr lang="en-US" sz="1500" dirty="0"/>
          </a:p>
        </p:txBody>
      </p:sp>
      <p:sp>
        <p:nvSpPr>
          <p:cNvPr id="5" name="Text 3"/>
          <p:cNvSpPr txBox="1"/>
          <p:nvPr/>
        </p:nvSpPr>
        <p:spPr>
          <a:xfrm>
            <a:off x="621792" y="1581912"/>
            <a:ext cx="2331720" cy="1463040"/>
          </a:xfrm>
          <a:prstGeom prst="rect">
            <a:avLst/>
          </a:prstGeom>
          <a:noFill/>
          <a:ln/>
        </p:spPr>
        <p:txBody>
          <a:bodyPr wrap="square" lIns="0" tIns="0" rIns="0" bIns="0" rtlCol="0" anchor="t"/>
          <a:lstStyle/>
          <a:p>
            <a:pPr indent="0" marL="0">
              <a:buNone/>
            </a:pPr>
            <a:r>
              <a:rPr lang="en-US" sz="1200" dirty="0">
                <a:solidFill>
                  <a:srgbClr val="1B1B1B"/>
                </a:solidFill>
                <a:latin typeface="Calibri" pitchFamily="34" charset="0"/>
                <a:ea typeface="Calibri" pitchFamily="34" charset="-122"/>
                <a:cs typeface="Calibri" pitchFamily="34" charset="-120"/>
              </a:rPr>
              <a:t>Each operation is a GPU kernel launched by the CPU. At batch 1, kernels finish in microseconds and launch overhead, Python dispatch and CPU synchronisation dominate.</a:t>
            </a:r>
            <a:endParaRPr lang="en-US" sz="1200" dirty="0"/>
          </a:p>
        </p:txBody>
      </p:sp>
      <p:sp>
        <p:nvSpPr>
          <p:cNvPr id="6" name="Shape 4"/>
          <p:cNvSpPr/>
          <p:nvPr/>
        </p:nvSpPr>
        <p:spPr>
          <a:xfrm>
            <a:off x="3291840" y="1051560"/>
            <a:ext cx="2651760" cy="2103120"/>
          </a:xfrm>
          <a:prstGeom prst="roundRect">
            <a:avLst>
              <a:gd name="adj" fmla="val 3478"/>
            </a:avLst>
          </a:prstGeom>
          <a:solidFill>
            <a:srgbClr val="F3F4F6"/>
          </a:solidFill>
          <a:ln w="12700">
            <a:solidFill>
              <a:srgbClr val="F3F4F6"/>
            </a:solidFill>
            <a:prstDash val="solid"/>
          </a:ln>
        </p:spPr>
      </p:sp>
      <p:sp>
        <p:nvSpPr>
          <p:cNvPr id="7" name="Text 5"/>
          <p:cNvSpPr txBox="1"/>
          <p:nvPr/>
        </p:nvSpPr>
        <p:spPr>
          <a:xfrm>
            <a:off x="3456432" y="116128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Standard remedies</a:t>
            </a:r>
            <a:endParaRPr lang="en-US" sz="1500" dirty="0"/>
          </a:p>
        </p:txBody>
      </p:sp>
      <p:sp>
        <p:nvSpPr>
          <p:cNvPr id="8" name="Text 6"/>
          <p:cNvSpPr txBox="1"/>
          <p:nvPr/>
        </p:nvSpPr>
        <p:spPr>
          <a:xfrm>
            <a:off x="3456432" y="1581912"/>
            <a:ext cx="2331720" cy="1463040"/>
          </a:xfrm>
          <a:prstGeom prst="rect">
            <a:avLst/>
          </a:prstGeom>
          <a:noFill/>
          <a:ln/>
        </p:spPr>
        <p:txBody>
          <a:bodyPr wrap="square" lIns="0" tIns="0" rIns="0" bIns="0" rtlCol="0" anchor="t"/>
          <a:lstStyle/>
          <a:p>
            <a:pPr indent="0" marL="0">
              <a:buNone/>
            </a:pPr>
            <a:r>
              <a:rPr lang="en-US" sz="1200" dirty="0">
                <a:solidFill>
                  <a:srgbClr val="1B1B1B"/>
                </a:solidFill>
                <a:latin typeface="Calibri" pitchFamily="34" charset="0"/>
                <a:ea typeface="Calibri" pitchFamily="34" charset="-122"/>
                <a:cs typeface="Calibri" pitchFamily="34" charset="-120"/>
              </a:rPr>
              <a:t>CUDA Graphs reduce launch cost; torch.compile fuses operators; FlashAttention fuses attention on chip. The optimiser loop remains on the CPU.</a:t>
            </a:r>
            <a:endParaRPr lang="en-US" sz="1200" dirty="0"/>
          </a:p>
        </p:txBody>
      </p:sp>
      <p:sp>
        <p:nvSpPr>
          <p:cNvPr id="9" name="Shape 7"/>
          <p:cNvSpPr/>
          <p:nvPr/>
        </p:nvSpPr>
        <p:spPr>
          <a:xfrm>
            <a:off x="6126480" y="1051560"/>
            <a:ext cx="2651760" cy="2103120"/>
          </a:xfrm>
          <a:prstGeom prst="roundRect">
            <a:avLst>
              <a:gd name="adj" fmla="val 3478"/>
            </a:avLst>
          </a:prstGeom>
          <a:solidFill>
            <a:srgbClr val="F3F4F6"/>
          </a:solidFill>
          <a:ln w="12700">
            <a:solidFill>
              <a:srgbClr val="F3F4F6"/>
            </a:solidFill>
            <a:prstDash val="solid"/>
          </a:ln>
        </p:spPr>
      </p:sp>
      <p:sp>
        <p:nvSpPr>
          <p:cNvPr id="10" name="Text 8"/>
          <p:cNvSpPr txBox="1"/>
          <p:nvPr/>
        </p:nvSpPr>
        <p:spPr>
          <a:xfrm>
            <a:off x="6291072" y="116128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Megakernels</a:t>
            </a:r>
            <a:endParaRPr lang="en-US" sz="1500" dirty="0"/>
          </a:p>
        </p:txBody>
      </p:sp>
      <p:sp>
        <p:nvSpPr>
          <p:cNvPr id="11" name="Text 9"/>
          <p:cNvSpPr txBox="1"/>
          <p:nvPr/>
        </p:nvSpPr>
        <p:spPr>
          <a:xfrm>
            <a:off x="6291072" y="1581912"/>
            <a:ext cx="2331720" cy="1463040"/>
          </a:xfrm>
          <a:prstGeom prst="rect">
            <a:avLst/>
          </a:prstGeom>
          <a:noFill/>
          <a:ln/>
        </p:spPr>
        <p:txBody>
          <a:bodyPr wrap="square" lIns="0" tIns="0" rIns="0" bIns="0" rtlCol="0" anchor="t"/>
          <a:lstStyle/>
          <a:p>
            <a:pPr indent="0" marL="0">
              <a:buNone/>
            </a:pPr>
            <a:r>
              <a:rPr lang="en-US" sz="1200" dirty="0">
                <a:solidFill>
                  <a:srgbClr val="1B1B1B"/>
                </a:solidFill>
                <a:latin typeface="Calibri" pitchFamily="34" charset="0"/>
                <a:ea typeface="Calibri" pitchFamily="34" charset="-122"/>
                <a:cs typeface="Calibri" pitchFamily="34" charset="-120"/>
              </a:rPr>
              <a:t>One persistent GPU program for an entire computation: no launches, no gaps. Demonstrated for language-model inference (Hazy Research, FlashFormer, MPK).</a:t>
            </a:r>
            <a:endParaRPr lang="en-US" sz="1200" dirty="0"/>
          </a:p>
        </p:txBody>
      </p:sp>
      <p:sp>
        <p:nvSpPr>
          <p:cNvPr id="12" name="Text 10"/>
          <p:cNvSpPr txBox="1"/>
          <p:nvPr/>
        </p:nvSpPr>
        <p:spPr>
          <a:xfrm>
            <a:off x="457200" y="3383280"/>
            <a:ext cx="8229600" cy="548640"/>
          </a:xfrm>
          <a:prstGeom prst="rect">
            <a:avLst/>
          </a:prstGeom>
          <a:noFill/>
          <a:ln/>
        </p:spPr>
        <p:txBody>
          <a:bodyPr wrap="square" lIns="0" tIns="0" rIns="0" bIns="0" rtlCol="0" anchor="ctr"/>
          <a:lstStyle/>
          <a:p>
            <a:pPr indent="0" marL="0">
              <a:buNone/>
            </a:pPr>
            <a:r>
              <a:rPr lang="en-US" sz="1150" i="1" dirty="0">
                <a:solidFill>
                  <a:srgbClr val="5A5A5A"/>
                </a:solidFill>
                <a:latin typeface="Calibri" pitchFamily="34" charset="0"/>
                <a:ea typeface="Calibri" pitchFamily="34" charset="-122"/>
                <a:cs typeface="Calibri" pitchFamily="34" charset="-120"/>
              </a:rPr>
              <a:t>Hopper (H100) features used here: tensor-core WGMMA instructions, bulk asynchronous copies, thread-block clusters with distributed shared memory (ThunderKittens).</a:t>
            </a:r>
            <a:endParaRPr lang="en-US" sz="1150" dirty="0"/>
          </a:p>
        </p:txBody>
      </p:sp>
      <p:sp>
        <p:nvSpPr>
          <p:cNvPr id="14" name="Text 1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Research gap</a:t>
            </a:r>
            <a:endParaRPr lang="en-US" sz="2800" dirty="0"/>
          </a:p>
        </p:txBody>
      </p:sp>
      <p:sp>
        <p:nvSpPr>
          <p:cNvPr id="3" name="Shape 1"/>
          <p:cNvSpPr/>
          <p:nvPr/>
        </p:nvSpPr>
        <p:spPr>
          <a:xfrm>
            <a:off x="457200" y="1143000"/>
            <a:ext cx="640080" cy="640080"/>
          </a:xfrm>
          <a:prstGeom prst="roundRect">
            <a:avLst>
              <a:gd name="adj" fmla="val 11429"/>
            </a:avLst>
          </a:prstGeom>
          <a:solidFill>
            <a:srgbClr val="14213D"/>
          </a:solidFill>
          <a:ln w="12700">
            <a:solidFill>
              <a:srgbClr val="14213D"/>
            </a:solidFill>
            <a:prstDash val="solid"/>
          </a:ln>
        </p:spPr>
      </p:sp>
      <p:sp>
        <p:nvSpPr>
          <p:cNvPr id="4" name="Text 2"/>
          <p:cNvSpPr txBox="1"/>
          <p:nvPr/>
        </p:nvSpPr>
        <p:spPr>
          <a:xfrm>
            <a:off x="457200" y="114300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5" name="Text 3"/>
          <p:cNvSpPr txBox="1"/>
          <p:nvPr/>
        </p:nvSpPr>
        <p:spPr>
          <a:xfrm>
            <a:off x="1325880" y="1143000"/>
            <a:ext cx="7360920" cy="640080"/>
          </a:xfrm>
          <a:prstGeom prst="rect">
            <a:avLst/>
          </a:prstGeom>
          <a:noFill/>
          <a:ln/>
        </p:spPr>
        <p:txBody>
          <a:bodyPr wrap="square" lIns="0" tIns="0" rIns="0" bIns="0" rtlCol="0" anchor="ctr"/>
          <a:lstStyle/>
          <a:p>
            <a:pPr indent="0" marL="0">
              <a:buNone/>
            </a:pPr>
            <a:r>
              <a:rPr lang="en-US" sz="1400" dirty="0">
                <a:solidFill>
                  <a:srgbClr val="1B1B1B"/>
                </a:solidFill>
                <a:latin typeface="Calibri" pitchFamily="34" charset="0"/>
                <a:ea typeface="Calibri" pitchFamily="34" charset="-122"/>
                <a:cs typeface="Calibri" pitchFamily="34" charset="-120"/>
              </a:rPr>
              <a:t>No prior work has profiled where a world-model planner's latency is spent during execution.</a:t>
            </a:r>
            <a:endParaRPr lang="en-US" sz="1400" dirty="0"/>
          </a:p>
        </p:txBody>
      </p:sp>
      <p:sp>
        <p:nvSpPr>
          <p:cNvPr id="6" name="Shape 4"/>
          <p:cNvSpPr/>
          <p:nvPr/>
        </p:nvSpPr>
        <p:spPr>
          <a:xfrm>
            <a:off x="457200" y="2103120"/>
            <a:ext cx="640080" cy="640080"/>
          </a:xfrm>
          <a:prstGeom prst="roundRect">
            <a:avLst>
              <a:gd name="adj" fmla="val 11429"/>
            </a:avLst>
          </a:prstGeom>
          <a:solidFill>
            <a:srgbClr val="14213D"/>
          </a:solidFill>
          <a:ln w="12700">
            <a:solidFill>
              <a:srgbClr val="14213D"/>
            </a:solidFill>
            <a:prstDash val="solid"/>
          </a:ln>
        </p:spPr>
      </p:sp>
      <p:sp>
        <p:nvSpPr>
          <p:cNvPr id="7" name="Text 5"/>
          <p:cNvSpPr txBox="1"/>
          <p:nvPr/>
        </p:nvSpPr>
        <p:spPr>
          <a:xfrm>
            <a:off x="457200" y="210312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8" name="Text 6"/>
          <p:cNvSpPr txBox="1"/>
          <p:nvPr/>
        </p:nvSpPr>
        <p:spPr>
          <a:xfrm>
            <a:off x="1325880" y="2103120"/>
            <a:ext cx="7360920" cy="640080"/>
          </a:xfrm>
          <a:prstGeom prst="rect">
            <a:avLst/>
          </a:prstGeom>
          <a:noFill/>
          <a:ln/>
        </p:spPr>
        <p:txBody>
          <a:bodyPr wrap="square" lIns="0" tIns="0" rIns="0" bIns="0" rtlCol="0" anchor="ctr"/>
          <a:lstStyle/>
          <a:p>
            <a:pPr indent="0" marL="0">
              <a:buNone/>
            </a:pPr>
            <a:r>
              <a:rPr lang="en-US" sz="1400" dirty="0">
                <a:solidFill>
                  <a:srgbClr val="1B1B1B"/>
                </a:solidFill>
                <a:latin typeface="Calibri" pitchFamily="34" charset="0"/>
                <a:ea typeface="Calibri" pitchFamily="34" charset="-122"/>
                <a:cs typeface="Calibri" pitchFamily="34" charset="-120"/>
              </a:rPr>
              <a:t>No prior work has measured whether sample-efficient search (iCEM) reduces latency in practice, or under which execution model.</a:t>
            </a:r>
            <a:endParaRPr lang="en-US" sz="1400" dirty="0"/>
          </a:p>
        </p:txBody>
      </p:sp>
      <p:sp>
        <p:nvSpPr>
          <p:cNvPr id="9" name="Shape 7"/>
          <p:cNvSpPr/>
          <p:nvPr/>
        </p:nvSpPr>
        <p:spPr>
          <a:xfrm>
            <a:off x="457200" y="3063240"/>
            <a:ext cx="640080" cy="640080"/>
          </a:xfrm>
          <a:prstGeom prst="roundRect">
            <a:avLst>
              <a:gd name="adj" fmla="val 11429"/>
            </a:avLst>
          </a:prstGeom>
          <a:solidFill>
            <a:srgbClr val="14213D"/>
          </a:solidFill>
          <a:ln w="12700">
            <a:solidFill>
              <a:srgbClr val="14213D"/>
            </a:solidFill>
            <a:prstDash val="solid"/>
          </a:ln>
        </p:spPr>
      </p:sp>
      <p:sp>
        <p:nvSpPr>
          <p:cNvPr id="10" name="Text 8"/>
          <p:cNvSpPr txBox="1"/>
          <p:nvPr/>
        </p:nvSpPr>
        <p:spPr>
          <a:xfrm>
            <a:off x="457200" y="30632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1" name="Text 9"/>
          <p:cNvSpPr txBox="1"/>
          <p:nvPr/>
        </p:nvSpPr>
        <p:spPr>
          <a:xfrm>
            <a:off x="1325880" y="3063240"/>
            <a:ext cx="7360920" cy="640080"/>
          </a:xfrm>
          <a:prstGeom prst="rect">
            <a:avLst/>
          </a:prstGeom>
          <a:noFill/>
          <a:ln/>
        </p:spPr>
        <p:txBody>
          <a:bodyPr wrap="square" lIns="0" tIns="0" rIns="0" bIns="0" rtlCol="0" anchor="ctr"/>
          <a:lstStyle/>
          <a:p>
            <a:pPr indent="0" marL="0">
              <a:buNone/>
            </a:pPr>
            <a:r>
              <a:rPr lang="en-US" sz="1400" dirty="0">
                <a:solidFill>
                  <a:srgbClr val="1B1B1B"/>
                </a:solidFill>
                <a:latin typeface="Calibri" pitchFamily="34" charset="0"/>
                <a:ea typeface="Calibri" pitchFamily="34" charset="-122"/>
                <a:cs typeface="Calibri" pitchFamily="34" charset="-120"/>
              </a:rPr>
              <a:t>No prior work has fused a complete planning loop (neural encoder, transformer rollouts, scoring, elite selection, distribution updates) into one GPU program.</a:t>
            </a:r>
            <a:endParaRPr lang="en-US" sz="1400" dirty="0"/>
          </a:p>
        </p:txBody>
      </p:sp>
      <p:sp>
        <p:nvSpPr>
          <p:cNvPr id="12" name="Text 10"/>
          <p:cNvSpPr txBox="1"/>
          <p:nvPr/>
        </p:nvSpPr>
        <p:spPr>
          <a:xfrm>
            <a:off x="457200" y="4114800"/>
            <a:ext cx="8229600" cy="457200"/>
          </a:xfrm>
          <a:prstGeom prst="rect">
            <a:avLst/>
          </a:prstGeom>
          <a:noFill/>
          <a:ln/>
        </p:spPr>
        <p:txBody>
          <a:bodyPr wrap="square" lIns="0" tIns="0" rIns="0" bIns="0" rtlCol="0" anchor="ctr"/>
          <a:lstStyle/>
          <a:p>
            <a:pPr indent="0" marL="0">
              <a:buNone/>
            </a:pPr>
            <a:r>
              <a:rPr lang="en-US" sz="1150" i="1" dirty="0">
                <a:solidFill>
                  <a:srgbClr val="5A5A5A"/>
                </a:solidFill>
                <a:latin typeface="Calibri" pitchFamily="34" charset="0"/>
                <a:ea typeface="Calibri" pitchFamily="34" charset="-122"/>
                <a:cs typeface="Calibri" pitchFamily="34" charset="-120"/>
              </a:rPr>
              <a:t>Fast GPU planning exists in robotics with hand-written dynamics (MPPI, STORM, cuRobo, MPPI-Generic), not with learned world models.</a:t>
            </a:r>
            <a:endParaRPr lang="en-US" sz="1150" dirty="0"/>
          </a:p>
        </p:txBody>
      </p:sp>
      <p:sp>
        <p:nvSpPr>
          <p:cNvPr id="14" name="Text 1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Methodology</a:t>
            </a:r>
            <a:endParaRPr lang="en-US" sz="2800" dirty="0"/>
          </a:p>
        </p:txBody>
      </p:sp>
      <p:pic>
        <p:nvPicPr>
          <p:cNvPr id="3" name="Image 0" descr="preencoded.png">    </p:cNvPr>
          <p:cNvPicPr>
            <a:picLocks noChangeAspect="1"/>
          </p:cNvPicPr>
          <p:nvPr/>
        </p:nvPicPr>
        <p:blipFill>
          <a:blip r:embed="rId1"/>
          <a:stretch>
            <a:fillRect/>
          </a:stretch>
        </p:blipFill>
        <p:spPr>
          <a:xfrm>
            <a:off x="1902372" y="960120"/>
            <a:ext cx="5339255" cy="1828800"/>
          </a:xfrm>
          <a:prstGeom prst="rect">
            <a:avLst/>
          </a:prstGeom>
        </p:spPr>
      </p:pic>
      <p:sp>
        <p:nvSpPr>
          <p:cNvPr id="4" name="Shape 1"/>
          <p:cNvSpPr/>
          <p:nvPr/>
        </p:nvSpPr>
        <p:spPr>
          <a:xfrm>
            <a:off x="457200" y="2926080"/>
            <a:ext cx="2651760" cy="1783080"/>
          </a:xfrm>
          <a:prstGeom prst="roundRect">
            <a:avLst>
              <a:gd name="adj" fmla="val 4103"/>
            </a:avLst>
          </a:prstGeom>
          <a:solidFill>
            <a:srgbClr val="E9F1FC"/>
          </a:solidFill>
          <a:ln w="12700">
            <a:solidFill>
              <a:srgbClr val="E9F1FC"/>
            </a:solidFill>
            <a:prstDash val="solid"/>
          </a:ln>
        </p:spPr>
      </p:sp>
      <p:sp>
        <p:nvSpPr>
          <p:cNvPr id="5" name="Text 2"/>
          <p:cNvSpPr txBox="1"/>
          <p:nvPr/>
        </p:nvSpPr>
        <p:spPr>
          <a:xfrm>
            <a:off x="621792" y="303580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Data</a:t>
            </a:r>
            <a:endParaRPr lang="en-US" sz="1500" dirty="0"/>
          </a:p>
        </p:txBody>
      </p:sp>
      <p:sp>
        <p:nvSpPr>
          <p:cNvPr id="6" name="Text 3"/>
          <p:cNvSpPr txBox="1"/>
          <p:nvPr/>
        </p:nvSpPr>
        <p:spPr>
          <a:xfrm>
            <a:off x="621792" y="3456432"/>
            <a:ext cx="2331720" cy="1143000"/>
          </a:xfrm>
          <a:prstGeom prst="rect">
            <a:avLst/>
          </a:prstGeom>
          <a:noFill/>
          <a:ln/>
        </p:spPr>
        <p:txBody>
          <a:bodyPr wrap="square" lIns="0" tIns="0" rIns="0" bIns="0" rtlCol="0" anchor="t"/>
          <a:lstStyle/>
          <a:p>
            <a:pPr indent="0" marL="0">
              <a:buNone/>
            </a:pPr>
            <a:r>
              <a:rPr lang="en-US" sz="1050" dirty="0">
                <a:solidFill>
                  <a:srgbClr val="1B1B1B"/>
                </a:solidFill>
                <a:latin typeface="Calibri" pitchFamily="34" charset="0"/>
                <a:ea typeface="Calibri" pitchFamily="34" charset="-122"/>
                <a:cs typeface="Calibri" pitchFamily="34" charset="-120"/>
              </a:rPr>
              <a:t>11,942 timed policy calls (61 one-robot episodes × 3 systems + 4 probes), 900 episode outcomes, telemetry, component timings.</a:t>
            </a:r>
            <a:endParaRPr lang="en-US" sz="1050" dirty="0"/>
          </a:p>
        </p:txBody>
      </p:sp>
      <p:sp>
        <p:nvSpPr>
          <p:cNvPr id="7" name="Shape 4"/>
          <p:cNvSpPr/>
          <p:nvPr/>
        </p:nvSpPr>
        <p:spPr>
          <a:xfrm>
            <a:off x="3291840" y="2926080"/>
            <a:ext cx="2651760" cy="1783080"/>
          </a:xfrm>
          <a:prstGeom prst="roundRect">
            <a:avLst>
              <a:gd name="adj" fmla="val 4103"/>
            </a:avLst>
          </a:prstGeom>
          <a:solidFill>
            <a:srgbClr val="E9F1FC"/>
          </a:solidFill>
          <a:ln w="12700">
            <a:solidFill>
              <a:srgbClr val="E9F1FC"/>
            </a:solidFill>
            <a:prstDash val="solid"/>
          </a:ln>
        </p:spPr>
      </p:sp>
      <p:sp>
        <p:nvSpPr>
          <p:cNvPr id="8" name="Text 5"/>
          <p:cNvSpPr txBox="1"/>
          <p:nvPr/>
        </p:nvSpPr>
        <p:spPr>
          <a:xfrm>
            <a:off x="3456432" y="303580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Analysis</a:t>
            </a:r>
            <a:endParaRPr lang="en-US" sz="1500" dirty="0"/>
          </a:p>
        </p:txBody>
      </p:sp>
      <p:sp>
        <p:nvSpPr>
          <p:cNvPr id="9" name="Text 6"/>
          <p:cNvSpPr txBox="1"/>
          <p:nvPr/>
        </p:nvSpPr>
        <p:spPr>
          <a:xfrm>
            <a:off x="3456432" y="3456432"/>
            <a:ext cx="2331720" cy="1143000"/>
          </a:xfrm>
          <a:prstGeom prst="rect">
            <a:avLst/>
          </a:prstGeom>
          <a:noFill/>
          <a:ln/>
        </p:spPr>
        <p:txBody>
          <a:bodyPr wrap="square" lIns="0" tIns="0" rIns="0" bIns="0" rtlCol="0" anchor="t"/>
          <a:lstStyle/>
          <a:p>
            <a:pPr indent="0" marL="0">
              <a:buNone/>
            </a:pPr>
            <a:r>
              <a:rPr lang="en-US" sz="1050" dirty="0">
                <a:solidFill>
                  <a:srgbClr val="1B1B1B"/>
                </a:solidFill>
                <a:latin typeface="Calibri" pitchFamily="34" charset="0"/>
                <a:ea typeface="Calibri" pitchFamily="34" charset="-122"/>
                <a:cs typeface="Calibri" pitchFamily="34" charset="-120"/>
              </a:rPr>
              <a:t>Warm-up removal and outlier flags; stage decomposition; a fitted model latency = a + b·N separating fixed overhead from work.</a:t>
            </a:r>
            <a:endParaRPr lang="en-US" sz="1050" dirty="0"/>
          </a:p>
        </p:txBody>
      </p:sp>
      <p:sp>
        <p:nvSpPr>
          <p:cNvPr id="10" name="Shape 7"/>
          <p:cNvSpPr/>
          <p:nvPr/>
        </p:nvSpPr>
        <p:spPr>
          <a:xfrm>
            <a:off x="6126480" y="2926080"/>
            <a:ext cx="2651760" cy="1783080"/>
          </a:xfrm>
          <a:prstGeom prst="roundRect">
            <a:avLst>
              <a:gd name="adj" fmla="val 4103"/>
            </a:avLst>
          </a:prstGeom>
          <a:solidFill>
            <a:srgbClr val="E9F1FC"/>
          </a:solidFill>
          <a:ln w="12700">
            <a:solidFill>
              <a:srgbClr val="E9F1FC"/>
            </a:solidFill>
            <a:prstDash val="solid"/>
          </a:ln>
        </p:spPr>
      </p:sp>
      <p:sp>
        <p:nvSpPr>
          <p:cNvPr id="11" name="Text 8"/>
          <p:cNvSpPr txBox="1"/>
          <p:nvPr/>
        </p:nvSpPr>
        <p:spPr>
          <a:xfrm>
            <a:off x="6291072" y="3035808"/>
            <a:ext cx="2331720" cy="384048"/>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Evaluation</a:t>
            </a:r>
            <a:endParaRPr lang="en-US" sz="1500" dirty="0"/>
          </a:p>
        </p:txBody>
      </p:sp>
      <p:sp>
        <p:nvSpPr>
          <p:cNvPr id="12" name="Text 9"/>
          <p:cNvSpPr txBox="1"/>
          <p:nvPr/>
        </p:nvSpPr>
        <p:spPr>
          <a:xfrm>
            <a:off x="6291072" y="3456432"/>
            <a:ext cx="2331720" cy="1143000"/>
          </a:xfrm>
          <a:prstGeom prst="rect">
            <a:avLst/>
          </a:prstGeom>
          <a:noFill/>
          <a:ln/>
        </p:spPr>
        <p:txBody>
          <a:bodyPr wrap="square" lIns="0" tIns="0" rIns="0" bIns="0" rtlCol="0" anchor="t"/>
          <a:lstStyle/>
          <a:p>
            <a:pPr indent="0" marL="0">
              <a:buNone/>
            </a:pPr>
            <a:r>
              <a:rPr lang="en-US" sz="1050" dirty="0">
                <a:solidFill>
                  <a:srgbClr val="1B1B1B"/>
                </a:solidFill>
                <a:latin typeface="Calibri" pitchFamily="34" charset="0"/>
                <a:ea typeface="Calibri" pitchFamily="34" charset="-122"/>
                <a:cs typeface="Calibri" pitchFamily="34" charset="-120"/>
              </a:rPr>
              <a:t>Medians with bootstrap CIs; 300 paired episodes, McNemar and paired bootstrap; numerical error against FP32.</a:t>
            </a:r>
            <a:endParaRPr lang="en-US" sz="1050" dirty="0"/>
          </a:p>
        </p:txBody>
      </p:sp>
      <p:sp>
        <p:nvSpPr>
          <p:cNvPr id="14" name="Text 10"/>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Compute profile of the reference planner</a:t>
            </a:r>
            <a:endParaRPr lang="en-US" sz="2800" dirty="0"/>
          </a:p>
        </p:txBody>
      </p:sp>
      <p:pic>
        <p:nvPicPr>
          <p:cNvPr id="3" name="Image 0" descr="preencoded.png">    </p:cNvPr>
          <p:cNvPicPr>
            <a:picLocks noChangeAspect="1"/>
          </p:cNvPicPr>
          <p:nvPr/>
        </p:nvPicPr>
        <p:blipFill>
          <a:blip r:embed="rId1"/>
          <a:stretch>
            <a:fillRect/>
          </a:stretch>
        </p:blipFill>
        <p:spPr>
          <a:xfrm>
            <a:off x="797742" y="960120"/>
            <a:ext cx="4805316" cy="2286000"/>
          </a:xfrm>
          <a:prstGeom prst="rect">
            <a:avLst/>
          </a:prstGeom>
        </p:spPr>
      </p:pic>
      <p:sp>
        <p:nvSpPr>
          <p:cNvPr id="4" name="Text 1"/>
          <p:cNvSpPr txBox="1"/>
          <p:nvPr/>
        </p:nvSpPr>
        <p:spPr>
          <a:xfrm>
            <a:off x="6126480" y="1051560"/>
            <a:ext cx="2651760" cy="3566160"/>
          </a:xfrm>
          <a:prstGeom prst="rect">
            <a:avLst/>
          </a:prstGeom>
          <a:noFill/>
          <a:ln/>
        </p:spPr>
        <p:txBody>
          <a:bodyPr wrap="square" lIns="0" tIns="0" rIns="0" bIns="0" rtlCol="0" anchor="t"/>
          <a:lstStyle/>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33%: re-encoding the same two images 60 times per plan (telemetry: 60 encoder calls, 2 distinct images).</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59%: the search, 12.3 ms per iteration, 409 µs per layer for about 3 µs of arithmetic.</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7%: CPU synchronisation between iterations.</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Under 1%: the policy code around the planner.</a:t>
            </a:r>
            <a:endParaRPr lang="en-US" sz="1150" dirty="0"/>
          </a:p>
        </p:txBody>
      </p:sp>
      <p:sp>
        <p:nvSpPr>
          <p:cNvPr id="5" name="Text 2"/>
          <p:cNvSpPr txBox="1"/>
          <p:nvPr/>
        </p:nvSpPr>
        <p:spPr>
          <a:xfrm>
            <a:off x="457200" y="3429000"/>
            <a:ext cx="5486400" cy="274320"/>
          </a:xfrm>
          <a:prstGeom prst="rect">
            <a:avLst/>
          </a:prstGeom>
          <a:noFill/>
          <a:ln/>
        </p:spPr>
        <p:txBody>
          <a:bodyPr wrap="square" lIns="0" tIns="0" rIns="0" bIns="0" rtlCol="0" anchor="ctr"/>
          <a:lstStyle/>
          <a:p>
            <a:pPr indent="0" marL="0">
              <a:buNone/>
            </a:pPr>
            <a:r>
              <a:rPr lang="en-US" sz="1000" i="1" dirty="0">
                <a:solidFill>
                  <a:srgbClr val="5A5A5A"/>
                </a:solidFill>
                <a:latin typeface="Calibri" pitchFamily="34" charset="0"/>
                <a:ea typeface="Calibri" pitchFamily="34" charset="-122"/>
                <a:cs typeface="Calibri" pitchFamily="34" charset="-120"/>
              </a:rPr>
              <a:t>Top bar: reference planner, by stage. Bottom bar: LeWM-MK (Section 6). Stages without a direct measurement attributed by difference.</a:t>
            </a:r>
            <a:endParaRPr lang="en-US" sz="10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Latency scaling analysis</a:t>
            </a:r>
            <a:endParaRPr lang="en-US" sz="2800" dirty="0"/>
          </a:p>
        </p:txBody>
      </p:sp>
      <p:pic>
        <p:nvPicPr>
          <p:cNvPr id="3" name="Image 0" descr="preencoded.png">    </p:cNvPr>
          <p:cNvPicPr>
            <a:picLocks noChangeAspect="1"/>
          </p:cNvPicPr>
          <p:nvPr/>
        </p:nvPicPr>
        <p:blipFill>
          <a:blip r:embed="rId1"/>
          <a:stretch>
            <a:fillRect/>
          </a:stretch>
        </p:blipFill>
        <p:spPr>
          <a:xfrm>
            <a:off x="606829" y="960120"/>
            <a:ext cx="5187142" cy="2377440"/>
          </a:xfrm>
          <a:prstGeom prst="rect">
            <a:avLst/>
          </a:prstGeom>
        </p:spPr>
      </p:pic>
      <p:sp>
        <p:nvSpPr>
          <p:cNvPr id="4" name="Shape 1"/>
          <p:cNvSpPr/>
          <p:nvPr/>
        </p:nvSpPr>
        <p:spPr>
          <a:xfrm>
            <a:off x="6217920" y="1051560"/>
            <a:ext cx="1234440" cy="1051560"/>
          </a:xfrm>
          <a:prstGeom prst="roundRect">
            <a:avLst>
              <a:gd name="adj" fmla="val 6957"/>
            </a:avLst>
          </a:prstGeom>
          <a:solidFill>
            <a:srgbClr val="F3F4F6"/>
          </a:solidFill>
          <a:ln w="12700">
            <a:solidFill>
              <a:srgbClr val="F3F4F6"/>
            </a:solidFill>
            <a:prstDash val="solid"/>
          </a:ln>
        </p:spPr>
      </p:sp>
      <p:sp>
        <p:nvSpPr>
          <p:cNvPr id="5" name="Text 2"/>
          <p:cNvSpPr txBox="1"/>
          <p:nvPr/>
        </p:nvSpPr>
        <p:spPr>
          <a:xfrm>
            <a:off x="6355080" y="1143000"/>
            <a:ext cx="960120" cy="578358"/>
          </a:xfrm>
          <a:prstGeom prst="rect">
            <a:avLst/>
          </a:prstGeom>
          <a:noFill/>
          <a:ln/>
        </p:spPr>
        <p:txBody>
          <a:bodyPr wrap="square" lIns="0" tIns="0" rIns="0" bIns="0" rtlCol="0" anchor="ctr"/>
          <a:lstStyle/>
          <a:p>
            <a:pPr algn="ctr" indent="0" marL="0">
              <a:buNone/>
            </a:pPr>
            <a:r>
              <a:rPr lang="en-US" sz="2600" b="1" dirty="0">
                <a:solidFill>
                  <a:srgbClr val="EB6834"/>
                </a:solidFill>
                <a:latin typeface="Cambria" pitchFamily="34" charset="0"/>
                <a:ea typeface="Cambria" pitchFamily="34" charset="-122"/>
                <a:cs typeface="Cambria" pitchFamily="34" charset="-120"/>
              </a:rPr>
              <a:t>99%</a:t>
            </a:r>
            <a:endParaRPr lang="en-US" sz="2600" dirty="0"/>
          </a:p>
        </p:txBody>
      </p:sp>
      <p:sp>
        <p:nvSpPr>
          <p:cNvPr id="6" name="Text 3"/>
          <p:cNvSpPr txBox="1"/>
          <p:nvPr/>
        </p:nvSpPr>
        <p:spPr>
          <a:xfrm>
            <a:off x="6355080" y="1682496"/>
            <a:ext cx="96012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of an eager call</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is fixed cost</a:t>
            </a:r>
            <a:endParaRPr lang="en-US" sz="1000" dirty="0"/>
          </a:p>
        </p:txBody>
      </p:sp>
      <p:sp>
        <p:nvSpPr>
          <p:cNvPr id="7" name="Shape 4"/>
          <p:cNvSpPr/>
          <p:nvPr/>
        </p:nvSpPr>
        <p:spPr>
          <a:xfrm>
            <a:off x="7543800" y="1051560"/>
            <a:ext cx="1234440" cy="1051560"/>
          </a:xfrm>
          <a:prstGeom prst="roundRect">
            <a:avLst>
              <a:gd name="adj" fmla="val 6957"/>
            </a:avLst>
          </a:prstGeom>
          <a:solidFill>
            <a:srgbClr val="F3F4F6"/>
          </a:solidFill>
          <a:ln w="12700">
            <a:solidFill>
              <a:srgbClr val="F3F4F6"/>
            </a:solidFill>
            <a:prstDash val="solid"/>
          </a:ln>
        </p:spPr>
      </p:sp>
      <p:sp>
        <p:nvSpPr>
          <p:cNvPr id="8" name="Text 5"/>
          <p:cNvSpPr txBox="1"/>
          <p:nvPr/>
        </p:nvSpPr>
        <p:spPr>
          <a:xfrm>
            <a:off x="7680960" y="1143000"/>
            <a:ext cx="960120" cy="578358"/>
          </a:xfrm>
          <a:prstGeom prst="rect">
            <a:avLst/>
          </a:prstGeom>
          <a:noFill/>
          <a:ln/>
        </p:spPr>
        <p:txBody>
          <a:bodyPr wrap="square" lIns="0" tIns="0" rIns="0" bIns="0" rtlCol="0" anchor="ctr"/>
          <a:lstStyle/>
          <a:p>
            <a:pPr algn="ctr" indent="0" marL="0">
              <a:buNone/>
            </a:pPr>
            <a:r>
              <a:rPr lang="en-US" sz="2400" b="1" dirty="0">
                <a:solidFill>
                  <a:srgbClr val="EB6834"/>
                </a:solidFill>
                <a:latin typeface="Cambria" pitchFamily="34" charset="0"/>
                <a:ea typeface="Cambria" pitchFamily="34" charset="-122"/>
                <a:cs typeface="Cambria" pitchFamily="34" charset="-120"/>
              </a:rPr>
              <a:t>1.01×</a:t>
            </a:r>
            <a:endParaRPr lang="en-US" sz="2400" dirty="0"/>
          </a:p>
        </p:txBody>
      </p:sp>
      <p:sp>
        <p:nvSpPr>
          <p:cNvPr id="9" name="Text 6"/>
          <p:cNvSpPr txBox="1"/>
          <p:nvPr/>
        </p:nvSpPr>
        <p:spPr>
          <a:xfrm>
            <a:off x="7680960" y="1682496"/>
            <a:ext cx="960120" cy="399593"/>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predicted iCEM</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gain, eager</a:t>
            </a:r>
            <a:endParaRPr lang="en-US" sz="1000" dirty="0"/>
          </a:p>
        </p:txBody>
      </p:sp>
      <p:sp>
        <p:nvSpPr>
          <p:cNvPr id="10" name="Text 7"/>
          <p:cNvSpPr txBox="1"/>
          <p:nvPr/>
        </p:nvSpPr>
        <p:spPr>
          <a:xfrm>
            <a:off x="6217920" y="2286000"/>
            <a:ext cx="2560320" cy="237744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Fitted model: 20.0 ms fixed + 0.10 ms per 100 candidates. Latency is effectively independent of workload.</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Reducing the candidate count (iCEM) therefore yields no gain: predicted 1.01×, observed 0.92×.</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A gain requires an execution model with low fixed cost per call.</a:t>
            </a:r>
            <a:endParaRPr lang="en-US" sz="1100" dirty="0"/>
          </a:p>
        </p:txBody>
      </p:sp>
      <p:sp>
        <p:nvSpPr>
          <p:cNvPr id="11" name="Text 8"/>
          <p:cNvSpPr txBox="1"/>
          <p:nvPr/>
        </p:nvSpPr>
        <p:spPr>
          <a:xfrm>
            <a:off x="457200" y="3429000"/>
            <a:ext cx="5486400" cy="274320"/>
          </a:xfrm>
          <a:prstGeom prst="rect">
            <a:avLst/>
          </a:prstGeom>
          <a:noFill/>
          <a:ln/>
        </p:spPr>
        <p:txBody>
          <a:bodyPr wrap="square" lIns="0" tIns="0" rIns="0" bIns="0" rtlCol="0" anchor="ctr"/>
          <a:lstStyle/>
          <a:p>
            <a:pPr indent="0" marL="0">
              <a:buNone/>
            </a:pPr>
            <a:r>
              <a:rPr lang="en-US" sz="1000" i="1" dirty="0">
                <a:solidFill>
                  <a:srgbClr val="5A5A5A"/>
                </a:solidFill>
                <a:latin typeface="Calibri" pitchFamily="34" charset="0"/>
                <a:ea typeface="Calibri" pitchFamily="34" charset="-122"/>
                <a:cs typeface="Calibri" pitchFamily="34" charset="-120"/>
              </a:rPr>
              <a:t>Latency of one scoring call vs number of candidates, with fitted lines a + b·N.</a:t>
            </a:r>
            <a:endParaRPr lang="en-US" sz="1000" dirty="0"/>
          </a:p>
        </p:txBody>
      </p:sp>
      <p:sp>
        <p:nvSpPr>
          <p:cNvPr id="13" name="Text 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Solution design: LeWM-MK</a:t>
            </a:r>
            <a:endParaRPr lang="en-US" sz="2800" dirty="0"/>
          </a:p>
        </p:txBody>
      </p:sp>
      <p:pic>
        <p:nvPicPr>
          <p:cNvPr id="3" name="Image 0" descr="preencoded.png">    </p:cNvPr>
          <p:cNvPicPr>
            <a:picLocks noChangeAspect="1"/>
          </p:cNvPicPr>
          <p:nvPr/>
        </p:nvPicPr>
        <p:blipFill>
          <a:blip r:embed="rId1"/>
          <a:stretch>
            <a:fillRect/>
          </a:stretch>
        </p:blipFill>
        <p:spPr>
          <a:xfrm>
            <a:off x="457200" y="1341764"/>
            <a:ext cx="5394960" cy="2802873"/>
          </a:xfrm>
          <a:prstGeom prst="rect">
            <a:avLst/>
          </a:prstGeom>
        </p:spPr>
      </p:pic>
      <p:sp>
        <p:nvSpPr>
          <p:cNvPr id="4" name="Text 1"/>
          <p:cNvSpPr txBox="1"/>
          <p:nvPr/>
        </p:nvSpPr>
        <p:spPr>
          <a:xfrm>
            <a:off x="6035040" y="1051560"/>
            <a:ext cx="2743200" cy="3657600"/>
          </a:xfrm>
          <a:prstGeom prst="rect">
            <a:avLst/>
          </a:prstGeom>
          <a:noFill/>
          <a:ln/>
        </p:spPr>
        <p:txBody>
          <a:bodyPr wrap="square" lIns="0" tIns="0" rIns="0" bIns="0" rtlCol="0" anchor="t"/>
          <a:lstStyle/>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Encode each image once; cache the goal for the episode.</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iCEM search: 2,820 instead of 9,000 imagined futures.</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Whole plan in one persistent kernel: sampling, rollouts, scoring, elite selection, encoder; the CPU waits once.</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Small model spread across a 16-processor cluster; partial results exchanged on chip; barrier 3.6 → 0.65 µs.</a:t>
            </a:r>
            <a:endParaRPr lang="en-US" sz="1150" dirty="0"/>
          </a:p>
          <a:p>
            <a:pPr marL="177800" indent="-177800">
              <a:spcAft>
                <a:spcPts val="700"/>
              </a:spcAft>
              <a:buSzPct val="100000"/>
              <a:buChar char="•"/>
            </a:pPr>
            <a:r>
              <a:rPr lang="en-US" sz="1150" dirty="0">
                <a:solidFill>
                  <a:srgbClr val="1B1B1B"/>
                </a:solidFill>
                <a:latin typeface="Calibri" pitchFamily="34" charset="0"/>
                <a:ea typeface="Calibri" pitchFamily="34" charset="-122"/>
                <a:cs typeface="Calibri" pitchFamily="34" charset="-120"/>
              </a:rPr>
              <a:t>Weights streamed ahead of use; BF16 inputs, FP32 accumulation.</a:t>
            </a:r>
            <a:endParaRPr lang="en-US" sz="1150" dirty="0"/>
          </a:p>
        </p:txBody>
      </p:sp>
      <p:sp>
        <p:nvSpPr>
          <p:cNvPr id="6" name="Text 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Results: planning latency</a:t>
            </a:r>
            <a:endParaRPr lang="en-US" sz="2800" dirty="0"/>
          </a:p>
        </p:txBody>
      </p:sp>
      <p:pic>
        <p:nvPicPr>
          <p:cNvPr id="3" name="Image 0" descr="preencoded.png">    </p:cNvPr>
          <p:cNvPicPr>
            <a:picLocks noChangeAspect="1"/>
          </p:cNvPicPr>
          <p:nvPr/>
        </p:nvPicPr>
        <p:blipFill>
          <a:blip r:embed="rId1"/>
          <a:stretch>
            <a:fillRect/>
          </a:stretch>
        </p:blipFill>
        <p:spPr>
          <a:xfrm>
            <a:off x="457200" y="1237802"/>
            <a:ext cx="5669280" cy="1547756"/>
          </a:xfrm>
          <a:prstGeom prst="rect">
            <a:avLst/>
          </a:prstGeom>
        </p:spPr>
      </p:pic>
      <p:sp>
        <p:nvSpPr>
          <p:cNvPr id="4" name="Shape 1"/>
          <p:cNvSpPr/>
          <p:nvPr/>
        </p:nvSpPr>
        <p:spPr>
          <a:xfrm>
            <a:off x="6309360" y="1051560"/>
            <a:ext cx="1188720" cy="1005840"/>
          </a:xfrm>
          <a:prstGeom prst="roundRect">
            <a:avLst>
              <a:gd name="adj" fmla="val 7273"/>
            </a:avLst>
          </a:prstGeom>
          <a:solidFill>
            <a:srgbClr val="F3F4F6"/>
          </a:solidFill>
          <a:ln w="12700">
            <a:solidFill>
              <a:srgbClr val="F3F4F6"/>
            </a:solidFill>
            <a:prstDash val="solid"/>
          </a:ln>
        </p:spPr>
      </p:sp>
      <p:sp>
        <p:nvSpPr>
          <p:cNvPr id="5" name="Text 2"/>
          <p:cNvSpPr txBox="1"/>
          <p:nvPr/>
        </p:nvSpPr>
        <p:spPr>
          <a:xfrm>
            <a:off x="6446520" y="1143000"/>
            <a:ext cx="914400" cy="553212"/>
          </a:xfrm>
          <a:prstGeom prst="rect">
            <a:avLst/>
          </a:prstGeom>
          <a:noFill/>
          <a:ln/>
        </p:spPr>
        <p:txBody>
          <a:bodyPr wrap="square" lIns="0" tIns="0" rIns="0" bIns="0" rtlCol="0" anchor="ctr"/>
          <a:lstStyle/>
          <a:p>
            <a:pPr algn="ctr" indent="0" marL="0">
              <a:buNone/>
            </a:pPr>
            <a:r>
              <a:rPr lang="en-US" sz="2400" b="1" dirty="0">
                <a:solidFill>
                  <a:srgbClr val="2A78D6"/>
                </a:solidFill>
                <a:latin typeface="Cambria" pitchFamily="34" charset="0"/>
                <a:ea typeface="Cambria" pitchFamily="34" charset="-122"/>
                <a:cs typeface="Cambria" pitchFamily="34" charset="-120"/>
              </a:rPr>
              <a:t>13.4×</a:t>
            </a:r>
            <a:endParaRPr lang="en-US" sz="2400" dirty="0"/>
          </a:p>
        </p:txBody>
      </p:sp>
      <p:sp>
        <p:nvSpPr>
          <p:cNvPr id="6" name="Text 3"/>
          <p:cNvSpPr txBox="1"/>
          <p:nvPr/>
        </p:nvSpPr>
        <p:spPr>
          <a:xfrm>
            <a:off x="6446520" y="1655064"/>
            <a:ext cx="9144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vs reference</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[13.0, 13.5]</a:t>
            </a:r>
            <a:endParaRPr lang="en-US" sz="1000" dirty="0"/>
          </a:p>
        </p:txBody>
      </p:sp>
      <p:sp>
        <p:nvSpPr>
          <p:cNvPr id="7" name="Shape 4"/>
          <p:cNvSpPr/>
          <p:nvPr/>
        </p:nvSpPr>
        <p:spPr>
          <a:xfrm>
            <a:off x="7589520" y="1051560"/>
            <a:ext cx="1188720" cy="1005840"/>
          </a:xfrm>
          <a:prstGeom prst="roundRect">
            <a:avLst>
              <a:gd name="adj" fmla="val 7273"/>
            </a:avLst>
          </a:prstGeom>
          <a:solidFill>
            <a:srgbClr val="F3F4F6"/>
          </a:solidFill>
          <a:ln w="12700">
            <a:solidFill>
              <a:srgbClr val="F3F4F6"/>
            </a:solidFill>
            <a:prstDash val="solid"/>
          </a:ln>
        </p:spPr>
      </p:sp>
      <p:sp>
        <p:nvSpPr>
          <p:cNvPr id="8" name="Text 5"/>
          <p:cNvSpPr txBox="1"/>
          <p:nvPr/>
        </p:nvSpPr>
        <p:spPr>
          <a:xfrm>
            <a:off x="7726680" y="1143000"/>
            <a:ext cx="914400" cy="553212"/>
          </a:xfrm>
          <a:prstGeom prst="rect">
            <a:avLst/>
          </a:prstGeom>
          <a:noFill/>
          <a:ln/>
        </p:spPr>
        <p:txBody>
          <a:bodyPr wrap="square" lIns="0" tIns="0" rIns="0" bIns="0" rtlCol="0" anchor="ctr"/>
          <a:lstStyle/>
          <a:p>
            <a:pPr algn="ctr" indent="0" marL="0">
              <a:buNone/>
            </a:pPr>
            <a:r>
              <a:rPr lang="en-US" sz="2400" b="1" dirty="0">
                <a:solidFill>
                  <a:srgbClr val="2A78D6"/>
                </a:solidFill>
                <a:latin typeface="Cambria" pitchFamily="34" charset="0"/>
                <a:ea typeface="Cambria" pitchFamily="34" charset="-122"/>
                <a:cs typeface="Cambria" pitchFamily="34" charset="-120"/>
              </a:rPr>
              <a:t>3.9×</a:t>
            </a:r>
            <a:endParaRPr lang="en-US" sz="2400" dirty="0"/>
          </a:p>
        </p:txBody>
      </p:sp>
      <p:sp>
        <p:nvSpPr>
          <p:cNvPr id="9" name="Text 6"/>
          <p:cNvSpPr txBox="1"/>
          <p:nvPr/>
        </p:nvSpPr>
        <p:spPr>
          <a:xfrm>
            <a:off x="7726680" y="1655064"/>
            <a:ext cx="914400" cy="382219"/>
          </a:xfrm>
          <a:prstGeom prst="rect">
            <a:avLst/>
          </a:prstGeom>
          <a:noFill/>
          <a:ln/>
        </p:spPr>
        <p:txBody>
          <a:bodyPr wrap="square" lIns="0" tIns="0" rIns="0" bIns="0" rtlCol="0" anchor="t"/>
          <a:lstStyle/>
          <a:p>
            <a:pPr algn="ctr" indent="0" marL="0">
              <a:buNone/>
            </a:pPr>
            <a:r>
              <a:rPr lang="en-US" sz="1000" dirty="0">
                <a:solidFill>
                  <a:srgbClr val="5A5A5A"/>
                </a:solidFill>
                <a:latin typeface="Calibri" pitchFamily="34" charset="0"/>
                <a:ea typeface="Calibri" pitchFamily="34" charset="-122"/>
                <a:cs typeface="Calibri" pitchFamily="34" charset="-120"/>
              </a:rPr>
              <a:t>vs optimised</a:t>
            </a:r>
            <a:endParaRPr lang="en-US" sz="1000" dirty="0"/>
          </a:p>
          <a:p>
            <a:pPr algn="ctr" indent="0" marL="0">
              <a:buNone/>
            </a:pPr>
            <a:r>
              <a:rPr lang="en-US" sz="1000" dirty="0">
                <a:solidFill>
                  <a:srgbClr val="5A5A5A"/>
                </a:solidFill>
                <a:latin typeface="Calibri" pitchFamily="34" charset="0"/>
                <a:ea typeface="Calibri" pitchFamily="34" charset="-122"/>
                <a:cs typeface="Calibri" pitchFamily="34" charset="-120"/>
              </a:rPr>
              <a:t>PyTorch</a:t>
            </a:r>
            <a:endParaRPr lang="en-US" sz="1000" dirty="0"/>
          </a:p>
        </p:txBody>
      </p:sp>
      <p:sp>
        <p:nvSpPr>
          <p:cNvPr id="10" name="Text 7"/>
          <p:cNvSpPr txBox="1"/>
          <p:nvPr/>
        </p:nvSpPr>
        <p:spPr>
          <a:xfrm>
            <a:off x="6309360" y="2240280"/>
            <a:ext cx="2468880" cy="237744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90th percentile 47.0 ms; interquartile range 0.7 ms wide.</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Fits a 20 Hz control loop at the median.</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Search now 46 µs per layer (was 409); synchronisation about 7% of it.</a:t>
            </a:r>
            <a:endParaRPr lang="en-US" sz="1100" dirty="0"/>
          </a:p>
        </p:txBody>
      </p:sp>
      <p:sp>
        <p:nvSpPr>
          <p:cNvPr id="11" name="Text 8"/>
          <p:cNvSpPr txBox="1"/>
          <p:nvPr/>
        </p:nvSpPr>
        <p:spPr>
          <a:xfrm>
            <a:off x="457200" y="3154680"/>
            <a:ext cx="5669280" cy="274320"/>
          </a:xfrm>
          <a:prstGeom prst="rect">
            <a:avLst/>
          </a:prstGeom>
          <a:noFill/>
          <a:ln/>
        </p:spPr>
        <p:txBody>
          <a:bodyPr wrap="square" lIns="0" tIns="0" rIns="0" bIns="0" rtlCol="0" anchor="ctr"/>
          <a:lstStyle/>
          <a:p>
            <a:pPr indent="0" marL="0">
              <a:buNone/>
            </a:pPr>
            <a:r>
              <a:rPr lang="en-US" sz="1000" i="1" dirty="0">
                <a:solidFill>
                  <a:srgbClr val="5A5A5A"/>
                </a:solidFill>
                <a:latin typeface="Calibri" pitchFamily="34" charset="0"/>
                <a:ea typeface="Calibri" pitchFamily="34" charset="-122"/>
                <a:cs typeface="Calibri" pitchFamily="34" charset="-120"/>
              </a:rPr>
              <a:t>End-to-end planning latency, log scale: median, interquartile box, 1.5-IQR whiskers, outlying plans. Baseline uses compile, CUDA Graphs and BF16.</a:t>
            </a:r>
            <a:endParaRPr lang="en-US" sz="1000" dirty="0"/>
          </a:p>
        </p:txBody>
      </p:sp>
      <p:sp>
        <p:nvSpPr>
          <p:cNvPr id="13" name="Text 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Results: task success and numerical fidelity</a:t>
            </a:r>
            <a:endParaRPr lang="en-US" sz="2800" dirty="0"/>
          </a:p>
        </p:txBody>
      </p:sp>
      <p:pic>
        <p:nvPicPr>
          <p:cNvPr id="3" name="Image 0" descr="preencoded.png">    </p:cNvPr>
          <p:cNvPicPr>
            <a:picLocks noChangeAspect="1"/>
          </p:cNvPicPr>
          <p:nvPr/>
        </p:nvPicPr>
        <p:blipFill>
          <a:blip r:embed="rId1"/>
          <a:stretch>
            <a:fillRect/>
          </a:stretch>
        </p:blipFill>
        <p:spPr>
          <a:xfrm>
            <a:off x="457200" y="1060164"/>
            <a:ext cx="5669280" cy="1628712"/>
          </a:xfrm>
          <a:prstGeom prst="rect">
            <a:avLst/>
          </a:prstGeom>
        </p:spPr>
      </p:pic>
      <p:sp>
        <p:nvSpPr>
          <p:cNvPr id="4" name="Text 1"/>
          <p:cNvSpPr txBox="1"/>
          <p:nvPr/>
        </p:nvSpPr>
        <p:spPr>
          <a:xfrm>
            <a:off x="6309360" y="1051560"/>
            <a:ext cx="2468880" cy="365760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261 / 261 / 260 successes of 300 for reference, optimised PyTorch and LeWM-MK.</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LeWM-MK vs reference: 19 won, 20 lost; −0.3 points [−4.3, +3.7]; McNemar p = 1.00.</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Discordant episodes reflect stochastic search; the optimised PyTorch planner is discordant on 36.</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Numerical error vs FP32: 0.06–0.32%, matching accepted BF16 (0.05–0.40%).</a:t>
            </a:r>
            <a:endParaRPr lang="en-US" sz="1100" dirty="0"/>
          </a:p>
        </p:txBody>
      </p:sp>
      <p:sp>
        <p:nvSpPr>
          <p:cNvPr id="5" name="Text 2"/>
          <p:cNvSpPr txBox="1"/>
          <p:nvPr/>
        </p:nvSpPr>
        <p:spPr>
          <a:xfrm>
            <a:off x="457200" y="2926080"/>
            <a:ext cx="5669280" cy="274320"/>
          </a:xfrm>
          <a:prstGeom prst="rect">
            <a:avLst/>
          </a:prstGeom>
          <a:noFill/>
          <a:ln/>
        </p:spPr>
        <p:txBody>
          <a:bodyPr wrap="square" lIns="0" tIns="0" rIns="0" bIns="0" rtlCol="0" anchor="ctr"/>
          <a:lstStyle/>
          <a:p>
            <a:pPr indent="0" marL="0">
              <a:buNone/>
            </a:pPr>
            <a:r>
              <a:rPr lang="en-US" sz="1000" i="1" dirty="0">
                <a:solidFill>
                  <a:srgbClr val="5A5A5A"/>
                </a:solidFill>
                <a:latin typeface="Calibri" pitchFamily="34" charset="0"/>
                <a:ea typeface="Calibri" pitchFamily="34" charset="-122"/>
                <a:cs typeface="Calibri" pitchFamily="34" charset="-120"/>
              </a:rPr>
              <a:t>Push-T success on the same 300 episodes, Wilson 95% intervals. 300 pairs detect differences of about 6 points.</a:t>
            </a:r>
            <a:endParaRPr lang="en-US" sz="10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Conclusions and limitations</a:t>
            </a:r>
            <a:endParaRPr lang="en-US" sz="2800" dirty="0"/>
          </a:p>
        </p:txBody>
      </p:sp>
      <p:sp>
        <p:nvSpPr>
          <p:cNvPr id="3" name="Text 1"/>
          <p:cNvSpPr txBox="1"/>
          <p:nvPr/>
        </p:nvSpPr>
        <p:spPr>
          <a:xfrm>
            <a:off x="457200" y="1051560"/>
            <a:ext cx="640080" cy="502920"/>
          </a:xfrm>
          <a:prstGeom prst="rect">
            <a:avLst/>
          </a:prstGeom>
          <a:noFill/>
          <a:ln/>
        </p:spPr>
        <p:txBody>
          <a:bodyPr wrap="square" lIns="0" tIns="0" rIns="0" bIns="0" rtlCol="0" anchor="t"/>
          <a:lstStyle/>
          <a:p>
            <a:pPr indent="0" marL="0">
              <a:buNone/>
            </a:pPr>
            <a:r>
              <a:rPr lang="en-US" sz="1400" b="1" dirty="0">
                <a:solidFill>
                  <a:srgbClr val="2A78D6"/>
                </a:solidFill>
                <a:latin typeface="Cambria" pitchFamily="34" charset="0"/>
                <a:ea typeface="Cambria" pitchFamily="34" charset="-122"/>
                <a:cs typeface="Cambria" pitchFamily="34" charset="-120"/>
              </a:rPr>
              <a:t>O1</a:t>
            </a:r>
            <a:endParaRPr lang="en-US" sz="1400" dirty="0"/>
          </a:p>
        </p:txBody>
      </p:sp>
      <p:sp>
        <p:nvSpPr>
          <p:cNvPr id="4" name="Text 2"/>
          <p:cNvSpPr txBox="1"/>
          <p:nvPr/>
        </p:nvSpPr>
        <p:spPr>
          <a:xfrm>
            <a:off x="1143000" y="1051560"/>
            <a:ext cx="4160520" cy="713232"/>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The reference's time was overhead: 33% redundant encoding, a search 99% fixed cost per call, 7% CPU waits.</a:t>
            </a:r>
            <a:endParaRPr lang="en-US" sz="1150" dirty="0"/>
          </a:p>
        </p:txBody>
      </p:sp>
      <p:sp>
        <p:nvSpPr>
          <p:cNvPr id="5" name="Text 3"/>
          <p:cNvSpPr txBox="1"/>
          <p:nvPr/>
        </p:nvSpPr>
        <p:spPr>
          <a:xfrm>
            <a:off x="457200" y="1801368"/>
            <a:ext cx="640080" cy="502920"/>
          </a:xfrm>
          <a:prstGeom prst="rect">
            <a:avLst/>
          </a:prstGeom>
          <a:noFill/>
          <a:ln/>
        </p:spPr>
        <p:txBody>
          <a:bodyPr wrap="square" lIns="0" tIns="0" rIns="0" bIns="0" rtlCol="0" anchor="t"/>
          <a:lstStyle/>
          <a:p>
            <a:pPr indent="0" marL="0">
              <a:buNone/>
            </a:pPr>
            <a:r>
              <a:rPr lang="en-US" sz="1400" b="1" dirty="0">
                <a:solidFill>
                  <a:srgbClr val="2A78D6"/>
                </a:solidFill>
                <a:latin typeface="Cambria" pitchFamily="34" charset="0"/>
                <a:ea typeface="Cambria" pitchFamily="34" charset="-122"/>
                <a:cs typeface="Cambria" pitchFamily="34" charset="-120"/>
              </a:rPr>
              <a:t>O2</a:t>
            </a:r>
            <a:endParaRPr lang="en-US" sz="1400" dirty="0"/>
          </a:p>
        </p:txBody>
      </p:sp>
      <p:sp>
        <p:nvSpPr>
          <p:cNvPr id="6" name="Text 4"/>
          <p:cNvSpPr txBox="1"/>
          <p:nvPr/>
        </p:nvSpPr>
        <p:spPr>
          <a:xfrm>
            <a:off x="1143000" y="1801368"/>
            <a:ext cx="4160520" cy="713232"/>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LeWM-MK removes each bottleneck with the model and search budget unchanged.</a:t>
            </a:r>
            <a:endParaRPr lang="en-US" sz="1150" dirty="0"/>
          </a:p>
        </p:txBody>
      </p:sp>
      <p:sp>
        <p:nvSpPr>
          <p:cNvPr id="7" name="Text 5"/>
          <p:cNvSpPr txBox="1"/>
          <p:nvPr/>
        </p:nvSpPr>
        <p:spPr>
          <a:xfrm>
            <a:off x="457200" y="2551176"/>
            <a:ext cx="640080" cy="502920"/>
          </a:xfrm>
          <a:prstGeom prst="rect">
            <a:avLst/>
          </a:prstGeom>
          <a:noFill/>
          <a:ln/>
        </p:spPr>
        <p:txBody>
          <a:bodyPr wrap="square" lIns="0" tIns="0" rIns="0" bIns="0" rtlCol="0" anchor="t"/>
          <a:lstStyle/>
          <a:p>
            <a:pPr indent="0" marL="0">
              <a:buNone/>
            </a:pPr>
            <a:r>
              <a:rPr lang="en-US" sz="1400" b="1" dirty="0">
                <a:solidFill>
                  <a:srgbClr val="2A78D6"/>
                </a:solidFill>
                <a:latin typeface="Cambria" pitchFamily="34" charset="0"/>
                <a:ea typeface="Cambria" pitchFamily="34" charset="-122"/>
                <a:cs typeface="Cambria" pitchFamily="34" charset="-120"/>
              </a:rPr>
              <a:t>O3</a:t>
            </a:r>
            <a:endParaRPr lang="en-US" sz="1400" dirty="0"/>
          </a:p>
        </p:txBody>
      </p:sp>
      <p:sp>
        <p:nvSpPr>
          <p:cNvPr id="8" name="Text 6"/>
          <p:cNvSpPr txBox="1"/>
          <p:nvPr/>
        </p:nvSpPr>
        <p:spPr>
          <a:xfrm>
            <a:off x="1143000" y="2551176"/>
            <a:ext cx="4160520" cy="713232"/>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46.5 ms per plan: 13.4× the reference, 3.9× optimised PyTorch; success unchanged (−0.3 pts).</a:t>
            </a:r>
            <a:endParaRPr lang="en-US" sz="1150" dirty="0"/>
          </a:p>
        </p:txBody>
      </p:sp>
      <p:sp>
        <p:nvSpPr>
          <p:cNvPr id="9" name="Text 7"/>
          <p:cNvSpPr txBox="1"/>
          <p:nvPr/>
        </p:nvSpPr>
        <p:spPr>
          <a:xfrm>
            <a:off x="457200" y="3300984"/>
            <a:ext cx="640080" cy="502920"/>
          </a:xfrm>
          <a:prstGeom prst="rect">
            <a:avLst/>
          </a:prstGeom>
          <a:noFill/>
          <a:ln/>
        </p:spPr>
        <p:txBody>
          <a:bodyPr wrap="square" lIns="0" tIns="0" rIns="0" bIns="0" rtlCol="0" anchor="t"/>
          <a:lstStyle/>
          <a:p>
            <a:pPr indent="0" marL="0">
              <a:buNone/>
            </a:pPr>
            <a:r>
              <a:rPr lang="en-US" sz="1400" b="1" dirty="0">
                <a:solidFill>
                  <a:srgbClr val="2A78D6"/>
                </a:solidFill>
                <a:latin typeface="Cambria" pitchFamily="34" charset="0"/>
                <a:ea typeface="Cambria" pitchFamily="34" charset="-122"/>
                <a:cs typeface="Cambria" pitchFamily="34" charset="-120"/>
              </a:rPr>
              <a:t>O4</a:t>
            </a:r>
            <a:endParaRPr lang="en-US" sz="1400" dirty="0"/>
          </a:p>
        </p:txBody>
      </p:sp>
      <p:sp>
        <p:nvSpPr>
          <p:cNvPr id="10" name="Text 8"/>
          <p:cNvSpPr txBox="1"/>
          <p:nvPr/>
        </p:nvSpPr>
        <p:spPr>
          <a:xfrm>
            <a:off x="1143000" y="3300984"/>
            <a:ext cx="4160520" cy="713232"/>
          </a:xfrm>
          <a:prstGeom prst="rect">
            <a:avLst/>
          </a:prstGeom>
          <a:noFill/>
          <a:ln/>
        </p:spPr>
        <p:txBody>
          <a:bodyPr wrap="square" lIns="0" tIns="0" rIns="0" bIns="0" rtlCol="0" anchor="t"/>
          <a:lstStyle/>
          <a:p>
            <a:pPr indent="0" marL="0">
              <a:buNone/>
            </a:pPr>
            <a:r>
              <a:rPr lang="en-US" sz="1150" dirty="0">
                <a:solidFill>
                  <a:srgbClr val="1B1B1B"/>
                </a:solidFill>
                <a:latin typeface="Calibri" pitchFamily="34" charset="0"/>
                <a:ea typeface="Calibri" pitchFamily="34" charset="-122"/>
                <a:cs typeface="Calibri" pitchFamily="34" charset="-120"/>
              </a:rPr>
              <a:t>Planner plug-in; one program regenerates every result from the data.</a:t>
            </a:r>
            <a:endParaRPr lang="en-US" sz="1150" dirty="0"/>
          </a:p>
        </p:txBody>
      </p:sp>
      <p:sp>
        <p:nvSpPr>
          <p:cNvPr id="11" name="Shape 9"/>
          <p:cNvSpPr/>
          <p:nvPr/>
        </p:nvSpPr>
        <p:spPr>
          <a:xfrm>
            <a:off x="5577840" y="1051560"/>
            <a:ext cx="3108960" cy="3566160"/>
          </a:xfrm>
          <a:prstGeom prst="roundRect">
            <a:avLst>
              <a:gd name="adj" fmla="val 2353"/>
            </a:avLst>
          </a:prstGeom>
          <a:solidFill>
            <a:srgbClr val="F3F4F6"/>
          </a:solidFill>
          <a:ln w="12700">
            <a:solidFill>
              <a:srgbClr val="F3F4F6"/>
            </a:solidFill>
            <a:prstDash val="solid"/>
          </a:ln>
        </p:spPr>
      </p:sp>
      <p:sp>
        <p:nvSpPr>
          <p:cNvPr id="12" name="Text 10"/>
          <p:cNvSpPr txBox="1"/>
          <p:nvPr/>
        </p:nvSpPr>
        <p:spPr>
          <a:xfrm>
            <a:off x="5760720" y="1161288"/>
            <a:ext cx="2743200" cy="365760"/>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Limitations</a:t>
            </a:r>
            <a:endParaRPr lang="en-US" sz="1500" dirty="0"/>
          </a:p>
        </p:txBody>
      </p:sp>
      <p:sp>
        <p:nvSpPr>
          <p:cNvPr id="13" name="Text 11"/>
          <p:cNvSpPr txBox="1"/>
          <p:nvPr/>
        </p:nvSpPr>
        <p:spPr>
          <a:xfrm>
            <a:off x="5760720" y="1572768"/>
            <a:ext cx="2788920" cy="301752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300 paired episodes resolve differences of about 6 percentage points.</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Some profile stages are attributed by difference.</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One model, one task, one GPU type; H100-only kernel.</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Simulation only; only the planning call was optimised.</a:t>
            </a:r>
            <a:endParaRPr lang="en-US" sz="1100" dirty="0"/>
          </a:p>
          <a:p>
            <a:pPr marL="177800" indent="-177800">
              <a:spcAft>
                <a:spcPts val="700"/>
              </a:spcAft>
              <a:buSzPct val="100000"/>
              <a:buChar char="•"/>
            </a:pPr>
            <a:r>
              <a:rPr lang="en-US" sz="1100" dirty="0">
                <a:solidFill>
                  <a:srgbClr val="1B1B1B"/>
                </a:solidFill>
                <a:latin typeface="Calibri" pitchFamily="34" charset="0"/>
                <a:ea typeface="Calibri" pitchFamily="34" charset="-122"/>
                <a:cs typeface="Calibri" pitchFamily="34" charset="-120"/>
              </a:rPr>
              <a:t>PyTorch latency varied by up to 18% between passes; kernel latency by about 2%.</a:t>
            </a:r>
            <a:endParaRPr lang="en-US" sz="1100" dirty="0"/>
          </a:p>
        </p:txBody>
      </p:sp>
      <p:sp>
        <p:nvSpPr>
          <p:cNvPr id="15" name="Text 1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800" b="1" dirty="0">
                <a:solidFill>
                  <a:srgbClr val="14213D"/>
                </a:solidFill>
                <a:latin typeface="Cambria" pitchFamily="34" charset="0"/>
                <a:ea typeface="Cambria" pitchFamily="34" charset="-122"/>
                <a:cs typeface="Cambria" pitchFamily="34" charset="-120"/>
              </a:rPr>
              <a:t>Future work</a:t>
            </a:r>
            <a:endParaRPr lang="en-US" sz="2800" dirty="0"/>
          </a:p>
        </p:txBody>
      </p:sp>
      <p:sp>
        <p:nvSpPr>
          <p:cNvPr id="3" name="Shape 1"/>
          <p:cNvSpPr/>
          <p:nvPr/>
        </p:nvSpPr>
        <p:spPr>
          <a:xfrm>
            <a:off x="457200" y="1143000"/>
            <a:ext cx="365760" cy="365760"/>
          </a:xfrm>
          <a:prstGeom prst="ellipse">
            <a:avLst/>
          </a:prstGeom>
          <a:solidFill>
            <a:srgbClr val="2A78D6"/>
          </a:solidFill>
          <a:ln w="12700">
            <a:solidFill>
              <a:srgbClr val="FFFFFF"/>
            </a:solidFill>
            <a:prstDash val="solid"/>
          </a:ln>
        </p:spPr>
      </p:sp>
      <p:sp>
        <p:nvSpPr>
          <p:cNvPr id="4" name="Text 2"/>
          <p:cNvSpPr txBox="1"/>
          <p:nvPr/>
        </p:nvSpPr>
        <p:spPr>
          <a:xfrm>
            <a:off x="457200" y="1143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5" name="Text 3"/>
          <p:cNvSpPr txBox="1"/>
          <p:nvPr/>
        </p:nvSpPr>
        <p:spPr>
          <a:xfrm>
            <a:off x="960120" y="1097280"/>
            <a:ext cx="3566160" cy="1188720"/>
          </a:xfrm>
          <a:prstGeom prst="rect">
            <a:avLst/>
          </a:prstGeom>
          <a:noFill/>
          <a:ln/>
        </p:spPr>
        <p:txBody>
          <a:bodyPr wrap="square" lIns="0" tIns="0" rIns="0" bIns="0" rtlCol="0" anchor="t"/>
          <a:lstStyle/>
          <a:p>
            <a:pPr indent="0" marL="0">
              <a:spcAft>
                <a:spcPts val="200"/>
              </a:spcAft>
              <a:buNone/>
            </a:pPr>
            <a:r>
              <a:rPr lang="en-US" sz="1250" b="1" dirty="0">
                <a:solidFill>
                  <a:srgbClr val="14213D"/>
                </a:solidFill>
                <a:latin typeface="Calibri" pitchFamily="34" charset="0"/>
                <a:ea typeface="Calibri" pitchFamily="34" charset="-122"/>
                <a:cs typeface="Calibri" pitchFamily="34" charset="-120"/>
              </a:rPr>
              <a:t>Search budget versus task success</a:t>
            </a:r>
            <a:endParaRPr lang="en-US" sz="1250" dirty="0"/>
          </a:p>
          <a:p>
            <a:pPr indent="0" marL="0">
              <a:spcAft>
                <a:spcPts val="200"/>
              </a:spcAft>
              <a:buNone/>
            </a:pPr>
            <a:r>
              <a:rPr lang="en-US" sz="1250" dirty="0">
                <a:solidFill>
                  <a:srgbClr val="1B1B1B"/>
                </a:solidFill>
                <a:latin typeface="Calibri" pitchFamily="34" charset="0"/>
                <a:ea typeface="Calibri" pitchFamily="34" charset="-122"/>
                <a:cs typeface="Calibri" pitchFamily="34" charset="-120"/>
              </a:rPr>
              <a:t>Larger iteration and candidate budgets remain within a 100 ms control period; characterise the latency-success trade-off.</a:t>
            </a:r>
            <a:endParaRPr lang="en-US" sz="1250" dirty="0"/>
          </a:p>
        </p:txBody>
      </p:sp>
      <p:sp>
        <p:nvSpPr>
          <p:cNvPr id="6" name="Shape 4"/>
          <p:cNvSpPr/>
          <p:nvPr/>
        </p:nvSpPr>
        <p:spPr>
          <a:xfrm>
            <a:off x="4663440" y="1143000"/>
            <a:ext cx="365760" cy="365760"/>
          </a:xfrm>
          <a:prstGeom prst="ellipse">
            <a:avLst/>
          </a:prstGeom>
          <a:solidFill>
            <a:srgbClr val="2A78D6"/>
          </a:solidFill>
          <a:ln w="12700">
            <a:solidFill>
              <a:srgbClr val="FFFFFF"/>
            </a:solidFill>
            <a:prstDash val="solid"/>
          </a:ln>
        </p:spPr>
      </p:sp>
      <p:sp>
        <p:nvSpPr>
          <p:cNvPr id="7" name="Text 5"/>
          <p:cNvSpPr txBox="1"/>
          <p:nvPr/>
        </p:nvSpPr>
        <p:spPr>
          <a:xfrm>
            <a:off x="4663440" y="1143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8" name="Text 6"/>
          <p:cNvSpPr txBox="1"/>
          <p:nvPr/>
        </p:nvSpPr>
        <p:spPr>
          <a:xfrm>
            <a:off x="5166360" y="1097280"/>
            <a:ext cx="3566160" cy="1188720"/>
          </a:xfrm>
          <a:prstGeom prst="rect">
            <a:avLst/>
          </a:prstGeom>
          <a:noFill/>
          <a:ln/>
        </p:spPr>
        <p:txBody>
          <a:bodyPr wrap="square" lIns="0" tIns="0" rIns="0" bIns="0" rtlCol="0" anchor="t"/>
          <a:lstStyle/>
          <a:p>
            <a:pPr indent="0" marL="0">
              <a:spcAft>
                <a:spcPts val="200"/>
              </a:spcAft>
              <a:buNone/>
            </a:pPr>
            <a:r>
              <a:rPr lang="en-US" sz="1250" b="1" dirty="0">
                <a:solidFill>
                  <a:srgbClr val="14213D"/>
                </a:solidFill>
                <a:latin typeface="Calibri" pitchFamily="34" charset="0"/>
                <a:ea typeface="Calibri" pitchFamily="34" charset="-122"/>
                <a:cs typeface="Calibri" pitchFamily="34" charset="-120"/>
              </a:rPr>
              <a:t>Reducing the dependent computation chain</a:t>
            </a:r>
            <a:endParaRPr lang="en-US" sz="1250" dirty="0"/>
          </a:p>
          <a:p>
            <a:pPr indent="0" marL="0">
              <a:spcAft>
                <a:spcPts val="200"/>
              </a:spcAft>
              <a:buNone/>
            </a:pPr>
            <a:r>
              <a:rPr lang="en-US" sz="1250" dirty="0">
                <a:solidFill>
                  <a:srgbClr val="1B1B1B"/>
                </a:solidFill>
                <a:latin typeface="Calibri" pitchFamily="34" charset="0"/>
                <a:ea typeface="Calibri" pitchFamily="34" charset="-122"/>
                <a:cs typeface="Calibri" pitchFamily="34" charset="-120"/>
              </a:rPr>
              <a:t>Combination with single-pass rollout models; layer-per-cluster pipelining.</a:t>
            </a:r>
            <a:endParaRPr lang="en-US" sz="1250" dirty="0"/>
          </a:p>
        </p:txBody>
      </p:sp>
      <p:sp>
        <p:nvSpPr>
          <p:cNvPr id="9" name="Shape 7"/>
          <p:cNvSpPr/>
          <p:nvPr/>
        </p:nvSpPr>
        <p:spPr>
          <a:xfrm>
            <a:off x="457200" y="2606040"/>
            <a:ext cx="365760" cy="365760"/>
          </a:xfrm>
          <a:prstGeom prst="ellipse">
            <a:avLst/>
          </a:prstGeom>
          <a:solidFill>
            <a:srgbClr val="2A78D6"/>
          </a:solidFill>
          <a:ln w="12700">
            <a:solidFill>
              <a:srgbClr val="FFFFFF"/>
            </a:solidFill>
            <a:prstDash val="solid"/>
          </a:ln>
        </p:spPr>
      </p:sp>
      <p:sp>
        <p:nvSpPr>
          <p:cNvPr id="10" name="Text 8"/>
          <p:cNvSpPr txBox="1"/>
          <p:nvPr/>
        </p:nvSpPr>
        <p:spPr>
          <a:xfrm>
            <a:off x="457200" y="26060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1" name="Text 9"/>
          <p:cNvSpPr txBox="1"/>
          <p:nvPr/>
        </p:nvSpPr>
        <p:spPr>
          <a:xfrm>
            <a:off x="960120" y="2560320"/>
            <a:ext cx="3566160" cy="1188720"/>
          </a:xfrm>
          <a:prstGeom prst="rect">
            <a:avLst/>
          </a:prstGeom>
          <a:noFill/>
          <a:ln/>
        </p:spPr>
        <p:txBody>
          <a:bodyPr wrap="square" lIns="0" tIns="0" rIns="0" bIns="0" rtlCol="0" anchor="t"/>
          <a:lstStyle/>
          <a:p>
            <a:pPr indent="0" marL="0">
              <a:spcAft>
                <a:spcPts val="200"/>
              </a:spcAft>
              <a:buNone/>
            </a:pPr>
            <a:r>
              <a:rPr lang="en-US" sz="1250" b="1" dirty="0">
                <a:solidFill>
                  <a:srgbClr val="14213D"/>
                </a:solidFill>
                <a:latin typeface="Calibri" pitchFamily="34" charset="0"/>
                <a:ea typeface="Calibri" pitchFamily="34" charset="-122"/>
                <a:cs typeface="Calibri" pitchFamily="34" charset="-120"/>
              </a:rPr>
              <a:t>Generalisation to other models and hardware</a:t>
            </a:r>
            <a:endParaRPr lang="en-US" sz="1250" dirty="0"/>
          </a:p>
          <a:p>
            <a:pPr indent="0" marL="0">
              <a:spcAft>
                <a:spcPts val="200"/>
              </a:spcAft>
              <a:buNone/>
            </a:pPr>
            <a:r>
              <a:rPr lang="en-US" sz="1250" dirty="0">
                <a:solidFill>
                  <a:srgbClr val="1B1B1B"/>
                </a:solidFill>
                <a:latin typeface="Calibri" pitchFamily="34" charset="0"/>
                <a:ea typeface="Calibri" pitchFamily="34" charset="-122"/>
                <a:cs typeface="Calibri" pitchFamily="34" charset="-120"/>
              </a:rPr>
              <a:t>Larger world models, embedded robot computers, automatic megakernel compilation.</a:t>
            </a:r>
            <a:endParaRPr lang="en-US" sz="1250" dirty="0"/>
          </a:p>
        </p:txBody>
      </p:sp>
      <p:sp>
        <p:nvSpPr>
          <p:cNvPr id="12" name="Shape 10"/>
          <p:cNvSpPr/>
          <p:nvPr/>
        </p:nvSpPr>
        <p:spPr>
          <a:xfrm>
            <a:off x="4663440" y="2606040"/>
            <a:ext cx="365760" cy="365760"/>
          </a:xfrm>
          <a:prstGeom prst="ellipse">
            <a:avLst/>
          </a:prstGeom>
          <a:solidFill>
            <a:srgbClr val="2A78D6"/>
          </a:solidFill>
          <a:ln w="12700">
            <a:solidFill>
              <a:srgbClr val="FFFFFF"/>
            </a:solidFill>
            <a:prstDash val="solid"/>
          </a:ln>
        </p:spPr>
      </p:sp>
      <p:sp>
        <p:nvSpPr>
          <p:cNvPr id="13" name="Text 11"/>
          <p:cNvSpPr txBox="1"/>
          <p:nvPr/>
        </p:nvSpPr>
        <p:spPr>
          <a:xfrm>
            <a:off x="4663440" y="26060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4" name="Text 12"/>
          <p:cNvSpPr txBox="1"/>
          <p:nvPr/>
        </p:nvSpPr>
        <p:spPr>
          <a:xfrm>
            <a:off x="5166360" y="2560320"/>
            <a:ext cx="3566160" cy="1188720"/>
          </a:xfrm>
          <a:prstGeom prst="rect">
            <a:avLst/>
          </a:prstGeom>
          <a:noFill/>
          <a:ln/>
        </p:spPr>
        <p:txBody>
          <a:bodyPr wrap="square" lIns="0" tIns="0" rIns="0" bIns="0" rtlCol="0" anchor="t"/>
          <a:lstStyle/>
          <a:p>
            <a:pPr indent="0" marL="0">
              <a:spcAft>
                <a:spcPts val="200"/>
              </a:spcAft>
              <a:buNone/>
            </a:pPr>
            <a:r>
              <a:rPr lang="en-US" sz="1250" b="1" dirty="0">
                <a:solidFill>
                  <a:srgbClr val="14213D"/>
                </a:solidFill>
                <a:latin typeface="Calibri" pitchFamily="34" charset="0"/>
                <a:ea typeface="Calibri" pitchFamily="34" charset="-122"/>
                <a:cs typeface="Calibri" pitchFamily="34" charset="-120"/>
              </a:rPr>
              <a:t>Higher-resolution and physical evaluation</a:t>
            </a:r>
            <a:endParaRPr lang="en-US" sz="1250" dirty="0"/>
          </a:p>
          <a:p>
            <a:pPr indent="0" marL="0">
              <a:spcAft>
                <a:spcPts val="200"/>
              </a:spcAft>
              <a:buNone/>
            </a:pPr>
            <a:r>
              <a:rPr lang="en-US" sz="1250" dirty="0">
                <a:solidFill>
                  <a:srgbClr val="1B1B1B"/>
                </a:solidFill>
                <a:latin typeface="Calibri" pitchFamily="34" charset="0"/>
                <a:ea typeface="Calibri" pitchFamily="34" charset="-122"/>
                <a:cs typeface="Calibri" pitchFamily="34" charset="-120"/>
              </a:rPr>
              <a:t>Approximately 2,500 paired episodes to resolve 2 percentage points; evaluation on a physical robot.</a:t>
            </a:r>
            <a:endParaRPr lang="en-US" sz="1250" dirty="0"/>
          </a:p>
        </p:txBody>
      </p:sp>
      <p:sp>
        <p:nvSpPr>
          <p:cNvPr id="16"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900" dirty="0">
                <a:solidFill>
                  <a:srgbClr val="5A5A5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457200" y="54864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Summary</a:t>
            </a:r>
            <a:endParaRPr lang="en-US" sz="2800" dirty="0"/>
          </a:p>
        </p:txBody>
      </p:sp>
      <p:sp>
        <p:nvSpPr>
          <p:cNvPr id="3" name="Text 1"/>
          <p:cNvSpPr txBox="1"/>
          <p:nvPr/>
        </p:nvSpPr>
        <p:spPr>
          <a:xfrm>
            <a:off x="457200" y="1371600"/>
            <a:ext cx="8229600" cy="274320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FFFFFF"/>
                </a:solidFill>
                <a:latin typeface="Calibri" pitchFamily="34" charset="0"/>
                <a:ea typeface="Calibri" pitchFamily="34" charset="-122"/>
                <a:cs typeface="Calibri" pitchFamily="34" charset="-120"/>
              </a:rPr>
              <a:t>The reference planner's latency was dominated by execution overhead, not arithmetic.</a:t>
            </a:r>
            <a:endParaRPr lang="en-US" sz="1700" dirty="0"/>
          </a:p>
          <a:p>
            <a:pPr marL="203200" indent="-203200">
              <a:spcAft>
                <a:spcPts val="1200"/>
              </a:spcAft>
              <a:buSzPct val="100000"/>
              <a:buChar char="•"/>
            </a:pPr>
            <a:r>
              <a:rPr lang="en-US" sz="1700" dirty="0">
                <a:solidFill>
                  <a:srgbClr val="FFFFFF"/>
                </a:solidFill>
                <a:latin typeface="Calibri" pitchFamily="34" charset="0"/>
                <a:ea typeface="Calibri" pitchFamily="34" charset="-122"/>
                <a:cs typeface="Calibri" pitchFamily="34" charset="-120"/>
              </a:rPr>
              <a:t>A linear latency-scaling model identified the bottleneck regime and predicted when iCEM reduces latency.</a:t>
            </a:r>
            <a:endParaRPr lang="en-US" sz="1700" dirty="0"/>
          </a:p>
          <a:p>
            <a:pPr marL="203200" indent="-203200">
              <a:buSzPct val="100000"/>
              <a:buChar char="•"/>
            </a:pPr>
            <a:r>
              <a:rPr lang="en-US" sz="1700" dirty="0">
                <a:solidFill>
                  <a:srgbClr val="FFFFFF"/>
                </a:solidFill>
                <a:latin typeface="Calibri" pitchFamily="34" charset="0"/>
                <a:ea typeface="Calibri" pitchFamily="34" charset="-122"/>
                <a:cs typeface="Calibri" pitchFamily="34" charset="-120"/>
              </a:rPr>
              <a:t>A single persistent GPU kernel per plan reduces latency from 622 ms to 46.5 ms on the same H100, with the same model and no detectable change in task success.</a:t>
            </a:r>
            <a:endParaRPr lang="en-US" sz="1700" dirty="0"/>
          </a:p>
        </p:txBody>
      </p:sp>
      <p:sp>
        <p:nvSpPr>
          <p:cNvPr id="4" name="Text 2"/>
          <p:cNvSpPr txBox="1"/>
          <p:nvPr/>
        </p:nvSpPr>
        <p:spPr>
          <a:xfrm>
            <a:off x="457200" y="4297680"/>
            <a:ext cx="8229600" cy="45720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Report, datasets and solution program: docs/paper and solution_pack/ in the project repository.</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Planning at the Speed of Control</dc:title>
  <dc:subject>PptxGenJS Presentation</dc:subject>
  <dc:creator>Antoine Nguyen</dc:creator>
  <cp:lastModifiedBy>Antoine Nguyen</cp:lastModifiedBy>
  <cp:revision>1</cp:revision>
  <dcterms:created xsi:type="dcterms:W3CDTF">2026-10-28T04:03:11Z</dcterms:created>
  <dcterms:modified xsi:type="dcterms:W3CDTF">2026-10-28T04:03:11Z</dcterms:modified>
</cp:coreProperties>
</file>